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7.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all four)" id="{3a009633-5c61-c9f8-8510-29afd47460b8}">
          <p14:sldIdLst>
            <p14:sldId id="256"/>
          </p14:sldIdLst>
        </p14:section>
        <p14:section name="Part 1 - Aamir: Introduction" id="{eaade51c-9a49-2168-33c7-506f79dad0e2}">
          <p14:sldIdLst>
            <p14:sldId id="257"/>
            <p14:sldId id="258"/>
            <p14:sldId id="259"/>
            <p14:sldId id="260"/>
          </p14:sldIdLst>
        </p14:section>
        <p14:section name="Part 2 - Arav: Research and the attack" id="{b5251b75-4446-3c27-f718-d8e53ac7be58}">
          <p14:sldIdLst>
            <p14:sldId id="261"/>
            <p14:sldId id="262"/>
            <p14:sldId id="263"/>
          </p14:sldIdLst>
        </p14:section>
        <p14:section name="Part 3 - Shivendra: Solution design" id="{33d90357-d992-3e79-802f-c2b7a1a6c6e4}">
          <p14:sldIdLst>
            <p14:sldId id="264"/>
            <p14:sldId id="265"/>
            <p14:sldId id="266"/>
            <p14:sldId id="267"/>
          </p14:sldIdLst>
        </p14:section>
        <p14:section name="Part 4 - Pranjal: Results and conclusion" id="{b957bb4a-3a02-0259-7845-0f3774110b41}">
          <p14:sldIdLst>
            <p14:sldId id="268"/>
            <p14:sldId id="269"/>
            <p14:sldId id="270"/>
            <p14:sldId id="271"/>
            <p14:sldId id="272"/>
          </p14:sldIdLst>
        </p14:section>
        <p14:section name="Closing (all four)" id="{a1c9ebcb-8482-3180-9703-789054b28052}">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Reported digital arrest incidents</a:t>
            </a:r>
          </a:p>
        </c:rich>
      </c:tx>
      <c:layout/>
      <c:overlay val="0"/>
    </c:title>
    <c:autoTitleDeleted val="0"/>
    <c:plotArea>
      <c:layout/>
      <c:barChart>
        <c:barDir val="col"/>
        <c:grouping val="clustered"/>
        <c:varyColors val="0"/>
        <c:ser>
          <c:idx val="0"/>
          <c:order val="0"/>
          <c:tx>
            <c:strRef>
              <c:f>Sheet1!$B$1</c:f>
              <c:strCache>
                <c:ptCount val="1"/>
                <c:pt idx="0">
                  <c:v>Reported incidents</c:v>
                </c:pt>
              </c:strCache>
            </c:strRef>
          </c:tx>
          <c:spPr>
            <a:solidFill>
              <a:srgbClr val="2A78D6"/>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2022</c:v>
                  </c:pt>
                  <c:pt idx="1">
                    <c:v>2023</c:v>
                  </c:pt>
                  <c:pt idx="2">
                    <c:v>2024</c:v>
                  </c:pt>
                </c:lvl>
              </c:multiLvlStrCache>
            </c:multiLvlStrRef>
          </c:cat>
          <c:val>
            <c:numRef>
              <c:f>Sheet1!$B$2:$B$4</c:f>
              <c:numCache>
                <c:formatCode>General</c:formatCode>
                <c:ptCount val="3"/>
                <c:pt idx="0">
                  <c:v>39925</c:v>
                </c:pt>
                <c:pt idx="1">
                  <c:v>60676</c:v>
                </c:pt>
                <c:pt idx="2">
                  <c:v>123672</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Amount defrauded (₹ crore)</a:t>
            </a:r>
          </a:p>
        </c:rich>
      </c:tx>
      <c:layout/>
      <c:overlay val="0"/>
    </c:title>
    <c:autoTitleDeleted val="0"/>
    <c:plotArea>
      <c:layout/>
      <c:barChart>
        <c:barDir val="col"/>
        <c:grouping val="clustered"/>
        <c:varyColors val="0"/>
        <c:ser>
          <c:idx val="0"/>
          <c:order val="0"/>
          <c:tx>
            <c:strRef>
              <c:f>Sheet1!$B$1</c:f>
              <c:strCache>
                <c:ptCount val="1"/>
                <c:pt idx="0">
                  <c:v>Amount defrauded (₹ crore)</c:v>
                </c:pt>
              </c:strCache>
            </c:strRef>
          </c:tx>
          <c:spPr>
            <a:solidFill>
              <a:srgbClr val="EB6834"/>
            </a:solidFill>
            <a:effectLst/>
          </c:spPr>
          <c:invertIfNegative val="0"/>
          <c:dLbls>
            <c:numFmt formatCode="₹#,##0&quot; cr&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2022</c:v>
                  </c:pt>
                  <c:pt idx="1">
                    <c:v>2023</c:v>
                  </c:pt>
                  <c:pt idx="2">
                    <c:v>2024</c:v>
                  </c:pt>
                </c:lvl>
              </c:multiLvlStrCache>
            </c:multiLvlStrRef>
          </c:cat>
          <c:val>
            <c:numRef>
              <c:f>Sheet1!$B$2:$B$4</c:f>
              <c:numCache>
                <c:formatCode>General</c:formatCode>
                <c:ptCount val="3"/>
                <c:pt idx="0">
                  <c:v>91.14</c:v>
                </c:pt>
                <c:pt idx="1">
                  <c:v>339.03</c:v>
                </c:pt>
                <c:pt idx="2">
                  <c:v>1935.51</c:v>
                </c:pt>
              </c:numCache>
            </c:numRef>
          </c:val>
        </c:ser>
        <c:dLbls>
          <c:numFmt formatCode="₹#,##0&quot; cr&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Points added when each signal fires (max 100)</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2A78D6"/>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Sheet1!$A$2:$A$8</c:f>
              <c:multiLvlStrCache>
                <c:ptCount val="7"/>
                <c:lvl>
                  <c:pt idx="0">
                    <c:v>Staff see customer coached on call</c:v>
                  </c:pt>
                  <c:pt idx="1">
                    <c:v>Two or more big transfers in 72 h</c:v>
                  </c:pt>
                  <c:pt idx="2">
                    <c:v>Deposit or fund broken in 48 h</c:v>
                  </c:pt>
                  <c:pt idx="3">
                    <c:v>Payee account under 180 days old</c:v>
                  </c:pt>
                  <c:pt idx="4">
                    <c:v>New payee</c:v>
                  </c:pt>
                  <c:pt idx="5">
                    <c:v>Amount 5× normal outflow</c:v>
                  </c:pt>
                  <c:pt idx="6">
                    <c:v>Customer aged 60+</c:v>
                  </c:pt>
                </c:lvl>
              </c:multiLvlStrCache>
            </c:multiLvlStrRef>
          </c:cat>
          <c:val>
            <c:numRef>
              <c:f>Sheet1!$B$2:$B$8</c:f>
              <c:numCache>
                <c:formatCode>General</c:formatCode>
                <c:ptCount val="7"/>
                <c:pt idx="0">
                  <c:v>10</c:v>
                </c:pt>
                <c:pt idx="1">
                  <c:v>15</c:v>
                </c:pt>
                <c:pt idx="2">
                  <c:v>15</c:v>
                </c:pt>
                <c:pt idx="3">
                  <c:v>15</c:v>
                </c:pt>
                <c:pt idx="4">
                  <c:v>15</c:v>
                </c:pt>
                <c:pt idx="5">
                  <c:v>20</c:v>
                </c:pt>
                <c:pt idx="6">
                  <c:v>10</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8C0CC"/>
            </a:solidFill>
            <a:prstDash val="solid"/>
            <a:round/>
          </a:ln>
        </c:spPr>
        <c:txPr>
          <a:bodyPr/>
          <a:lstStyle/>
          <a:p>
            <a:pPr>
              <a:defRPr sz="13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25"/>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Scores on message families the models never saw</a:t>
            </a:r>
          </a:p>
        </c:rich>
      </c:tx>
      <c:layout/>
      <c:overlay val="0"/>
    </c:title>
    <c:autoTitleDeleted val="0"/>
    <c:plotArea>
      <c:layout/>
      <c:barChart>
        <c:barDir val="col"/>
        <c:grouping val="clustered"/>
        <c:varyColors val="0"/>
        <c:ser>
          <c:idx val="0"/>
          <c:order val="0"/>
          <c:tx>
            <c:strRef>
              <c:f>Sheet1!$B$1</c:f>
              <c:strCache>
                <c:ptCount val="1"/>
                <c:pt idx="0">
                  <c:v>Keyword rules</c:v>
                </c:pt>
              </c:strCache>
            </c:strRef>
          </c:tx>
          <c:spPr>
            <a:solidFill>
              <a:srgbClr val="2A78D6"/>
            </a:solidFill>
            <a:effectLst/>
          </c:spPr>
          <c:invertIfNegative val="0"/>
          <c:dLbls>
            <c:numFmt formatCode="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F1-score</c:v>
                  </c:pt>
                </c:lvl>
              </c:multiLvlStrCache>
            </c:multiLvlStrRef>
          </c:cat>
          <c:val>
            <c:numRef>
              <c:f>Sheet1!$B$2:$B$4</c:f>
              <c:numCache>
                <c:formatCode>General</c:formatCode>
                <c:ptCount val="3"/>
                <c:pt idx="0">
                  <c:v>0.789</c:v>
                </c:pt>
                <c:pt idx="1">
                  <c:v>0.573</c:v>
                </c:pt>
                <c:pt idx="2">
                  <c:v>0.664</c:v>
                </c:pt>
              </c:numCache>
            </c:numRef>
          </c:val>
        </c:ser>
        <c:ser>
          <c:idx val="1"/>
          <c:order val="1"/>
          <c:tx>
            <c:strRef>
              <c:f>Sheet1!$C$1</c:f>
              <c:strCache>
                <c:ptCount val="1"/>
                <c:pt idx="0">
                  <c:v>Naive Bayes</c:v>
                </c:pt>
              </c:strCache>
            </c:strRef>
          </c:tx>
          <c:spPr>
            <a:solidFill>
              <a:srgbClr val="EB6834"/>
            </a:solidFill>
            <a:effectLst/>
          </c:spPr>
          <c:invertIfNegative val="0"/>
          <c:dLbls>
            <c:numFmt formatCode="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F1-score</c:v>
                  </c:pt>
                </c:lvl>
              </c:multiLvlStrCache>
            </c:multiLvlStrRef>
          </c:cat>
          <c:val>
            <c:numRef>
              <c:f>Sheet1!$C$2:$C$4</c:f>
              <c:numCache>
                <c:formatCode>General</c:formatCode>
                <c:ptCount val="3"/>
                <c:pt idx="0">
                  <c:v>0.715</c:v>
                </c:pt>
                <c:pt idx="1">
                  <c:v>0.998</c:v>
                </c:pt>
                <c:pt idx="2">
                  <c:v>0.833</c:v>
                </c:pt>
              </c:numCache>
            </c:numRef>
          </c:val>
        </c:ser>
        <c:ser>
          <c:idx val="2"/>
          <c:order val="2"/>
          <c:tx>
            <c:strRef>
              <c:f>Sheet1!$D$1</c:f>
              <c:strCache>
                <c:ptCount val="1"/>
                <c:pt idx="0">
                  <c:v>Logistic regression</c:v>
                </c:pt>
              </c:strCache>
            </c:strRef>
          </c:tx>
          <c:spPr>
            <a:solidFill>
              <a:srgbClr val="1BAF7A"/>
            </a:solidFill>
            <a:effectLst/>
          </c:spPr>
          <c:invertIfNegative val="0"/>
          <c:dLbls>
            <c:numFmt formatCode="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F1-score</c:v>
                  </c:pt>
                </c:lvl>
              </c:multiLvlStrCache>
            </c:multiLvlStrRef>
          </c:cat>
          <c:val>
            <c:numRef>
              <c:f>Sheet1!$D$2:$D$4</c:f>
              <c:numCache>
                <c:formatCode>General</c:formatCode>
                <c:ptCount val="3"/>
                <c:pt idx="0">
                  <c:v>0.751</c:v>
                </c:pt>
                <c:pt idx="1">
                  <c:v>0.955</c:v>
                </c:pt>
                <c:pt idx="2">
                  <c:v>0.841</c:v>
                </c:pt>
              </c:numCache>
            </c:numRef>
          </c:val>
        </c:ser>
        <c:dLbls>
          <c:numFmt formatCode="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DDE2EA"/>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A6478"/>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F1-score per test round (held-out scam + normal family)</a:t>
            </a:r>
          </a:p>
        </c:rich>
      </c:tx>
      <c:layout/>
      <c:overlay val="0"/>
    </c:title>
    <c:autoTitleDeleted val="0"/>
    <c:plotArea>
      <c:layout/>
      <c:barChart>
        <c:barDir val="bar"/>
        <c:grouping val="clustered"/>
        <c:varyColors val="0"/>
        <c:ser>
          <c:idx val="0"/>
          <c:order val="0"/>
          <c:tx>
            <c:strRef>
              <c:f>Sheet1!$B$1</c:f>
              <c:strCache>
                <c:ptCount val="1"/>
                <c:pt idx="0">
                  <c:v>Keyword rules</c:v>
                </c:pt>
              </c:strCache>
            </c:strRef>
          </c:tx>
          <c:spPr>
            <a:solidFill>
              <a:srgbClr val="2A78D6"/>
            </a:solidFill>
            <a:effectLst/>
          </c:spPr>
          <c:invertIfNegative val="0"/>
          <c:dLbls>
            <c:numFmt formatCode="0.0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cat>
            <c:multiLvlStrRef>
              <c:f>Sheet1!$A$2:$A$8</c:f>
              <c:multiLvlStrCache>
                <c:ptCount val="7"/>
                <c:lvl>
                  <c:pt idx="0">
                    <c:v>Courier + bank alerts</c:v>
                  </c:pt>
                  <c:pt idx="1">
                    <c:v>Aadhaar + family chat</c:v>
                  </c:pt>
                  <c:pt idx="2">
                    <c:v>Telecom + courier</c:v>
                  </c:pt>
                  <c:pt idx="3">
                    <c:v>Safe account + police</c:v>
                  </c:pt>
                  <c:pt idx="4">
                    <c:v>Fake court + KYC</c:v>
                  </c:pt>
                  <c:pt idx="5">
                    <c:v>Family threat + news</c:v>
                  </c:pt>
                  <c:pt idx="6">
                    <c:v>Courier + bills</c:v>
                  </c:pt>
                </c:lvl>
              </c:multiLvlStrCache>
            </c:multiLvlStrRef>
          </c:cat>
          <c:val>
            <c:numRef>
              <c:f>Sheet1!$B$2:$B$8</c:f>
              <c:numCache>
                <c:formatCode>General</c:formatCode>
                <c:ptCount val="7"/>
                <c:pt idx="0">
                  <c:v>0.986</c:v>
                </c:pt>
                <c:pt idx="1">
                  <c:v>0.852</c:v>
                </c:pt>
                <c:pt idx="2">
                  <c:v>0.772</c:v>
                </c:pt>
                <c:pt idx="3">
                  <c:v>0.349</c:v>
                </c:pt>
                <c:pt idx="4">
                  <c:v>0.526</c:v>
                </c:pt>
                <c:pt idx="5">
                  <c:v>0.035</c:v>
                </c:pt>
                <c:pt idx="6">
                  <c:v>0.986</c:v>
                </c:pt>
              </c:numCache>
            </c:numRef>
          </c:val>
        </c:ser>
        <c:ser>
          <c:idx val="1"/>
          <c:order val="1"/>
          <c:tx>
            <c:strRef>
              <c:f>Sheet1!$C$1</c:f>
              <c:strCache>
                <c:ptCount val="1"/>
                <c:pt idx="0">
                  <c:v>Logistic regression</c:v>
                </c:pt>
              </c:strCache>
            </c:strRef>
          </c:tx>
          <c:spPr>
            <a:solidFill>
              <a:srgbClr val="1BAF7A"/>
            </a:solidFill>
            <a:effectLst/>
          </c:spPr>
          <c:invertIfNegative val="0"/>
          <c:dLbls>
            <c:numFmt formatCode="0.0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cat>
            <c:multiLvlStrRef>
              <c:f>Sheet1!$A$2:$A$8</c:f>
              <c:multiLvlStrCache>
                <c:ptCount val="7"/>
                <c:lvl>
                  <c:pt idx="0">
                    <c:v>Courier + bank alerts</c:v>
                  </c:pt>
                  <c:pt idx="1">
                    <c:v>Aadhaar + family chat</c:v>
                  </c:pt>
                  <c:pt idx="2">
                    <c:v>Telecom + courier</c:v>
                  </c:pt>
                  <c:pt idx="3">
                    <c:v>Safe account + police</c:v>
                  </c:pt>
                  <c:pt idx="4">
                    <c:v>Fake court + KYC</c:v>
                  </c:pt>
                  <c:pt idx="5">
                    <c:v>Family threat + news</c:v>
                  </c:pt>
                  <c:pt idx="6">
                    <c:v>Courier + bills</c:v>
                  </c:pt>
                </c:lvl>
              </c:multiLvlStrCache>
            </c:multiLvlStrRef>
          </c:cat>
          <c:val>
            <c:numRef>
              <c:f>Sheet1!$C$2:$C$8</c:f>
              <c:numCache>
                <c:formatCode>General</c:formatCode>
                <c:ptCount val="7"/>
                <c:pt idx="0">
                  <c:v>0.963</c:v>
                </c:pt>
                <c:pt idx="1">
                  <c:v>0.903</c:v>
                </c:pt>
                <c:pt idx="2">
                  <c:v>0.978</c:v>
                </c:pt>
                <c:pt idx="3">
                  <c:v>0.663</c:v>
                </c:pt>
                <c:pt idx="4">
                  <c:v>0.821</c:v>
                </c:pt>
                <c:pt idx="5">
                  <c:v>0.731</c:v>
                </c:pt>
                <c:pt idx="6">
                  <c:v>0.947</c:v>
                </c:pt>
              </c:numCache>
            </c:numRef>
          </c:val>
        </c:ser>
        <c:dLbls>
          <c:numFmt formatCode="0.00" sourceLinked="0"/>
          <c:txPr>
            <a:bodyPr/>
            <a:lstStyle/>
            <a:p>
              <a:pPr>
                <a:defRPr b="0" i="0" strike="noStrike" sz="1100" u="none">
                  <a:solidFill>
                    <a:srgbClr val="1B1F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8C0CC"/>
            </a:solid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Where each kind of transfer landed (% of its group)</a:t>
            </a:r>
          </a:p>
        </c:rich>
      </c:tx>
      <c:layout/>
      <c:overlay val="0"/>
    </c:title>
    <c:autoTitleDeleted val="0"/>
    <c:plotArea>
      <c:layout/>
      <c:barChart>
        <c:barDir val="col"/>
        <c:grouping val="clustered"/>
        <c:varyColors val="0"/>
        <c:ser>
          <c:idx val="0"/>
          <c:order val="0"/>
          <c:tx>
            <c:strRef>
              <c:f>Sheet1!$B$1</c:f>
              <c:strCache>
                <c:ptCount val="1"/>
                <c:pt idx="0">
                  <c:v>Genuine transfers</c:v>
                </c:pt>
              </c:strCache>
            </c:strRef>
          </c:tx>
          <c:spPr>
            <a:solidFill>
              <a:srgbClr val="2A78D6"/>
            </a:solidFill>
            <a:effectLst/>
          </c:spPr>
          <c:invertIfNegative val="0"/>
          <c:dLbls>
            <c:numFmt formatCode="0.0&quot;%&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Allow (&lt;40)</c:v>
                  </c:pt>
                  <c:pt idx="1">
                    <c:v>Verify (40-59)</c:v>
                  </c:pt>
                  <c:pt idx="2">
                    <c:v>Hold (60+)</c:v>
                  </c:pt>
                </c:lvl>
              </c:multiLvlStrCache>
            </c:multiLvlStrRef>
          </c:cat>
          <c:val>
            <c:numRef>
              <c:f>Sheet1!$B$2:$B$4</c:f>
              <c:numCache>
                <c:formatCode>General</c:formatCode>
                <c:ptCount val="3"/>
                <c:pt idx="0">
                  <c:v>96.24</c:v>
                </c:pt>
                <c:pt idx="1">
                  <c:v>2.69</c:v>
                </c:pt>
                <c:pt idx="2">
                  <c:v>1.07</c:v>
                </c:pt>
              </c:numCache>
            </c:numRef>
          </c:val>
        </c:ser>
        <c:ser>
          <c:idx val="1"/>
          <c:order val="1"/>
          <c:tx>
            <c:strRef>
              <c:f>Sheet1!$C$1</c:f>
              <c:strCache>
                <c:ptCount val="1"/>
                <c:pt idx="0">
                  <c:v>Scam transfers</c:v>
                </c:pt>
              </c:strCache>
            </c:strRef>
          </c:tx>
          <c:spPr>
            <a:solidFill>
              <a:srgbClr val="EB6834"/>
            </a:solidFill>
            <a:effectLst/>
          </c:spPr>
          <c:invertIfNegative val="0"/>
          <c:dLbls>
            <c:numFmt formatCode="0.0&quot;%&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Allow (&lt;40)</c:v>
                  </c:pt>
                  <c:pt idx="1">
                    <c:v>Verify (40-59)</c:v>
                  </c:pt>
                  <c:pt idx="2">
                    <c:v>Hold (60+)</c:v>
                  </c:pt>
                </c:lvl>
              </c:multiLvlStrCache>
            </c:multiLvlStrRef>
          </c:cat>
          <c:val>
            <c:numRef>
              <c:f>Sheet1!$C$2:$C$4</c:f>
              <c:numCache>
                <c:formatCode>General</c:formatCode>
                <c:ptCount val="3"/>
                <c:pt idx="0">
                  <c:v>0.13</c:v>
                </c:pt>
                <c:pt idx="1">
                  <c:v>4.92</c:v>
                </c:pt>
                <c:pt idx="2">
                  <c:v>94.96</c:v>
                </c:pt>
              </c:numCache>
            </c:numRef>
          </c:val>
        </c:ser>
        <c:dLbls>
          <c:numFmt formatCode="0.0&quot;%&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A647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Cumulative loss without DA-Shield (₹ lakh)</a:t>
            </a:r>
          </a:p>
        </c:rich>
      </c:tx>
      <c:layout/>
      <c:overlay val="0"/>
    </c:title>
    <c:autoTitleDeleted val="0"/>
    <c:plotArea>
      <c:layout/>
      <c:lineChart>
        <c:varyColors val="0"/>
        <c:ser>
          <c:idx val="0"/>
          <c:order val="0"/>
          <c:tx>
            <c:strRef>
              <c:f>Sheet1!$B$1</c:f>
              <c:strCache>
                <c:ptCount val="1"/>
                <c:pt idx="0">
                  <c:v>Cumulative loss without DA-Shield (₹ lakh)</c:v>
                </c:pt>
              </c:strCache>
            </c:strRef>
          </c:tx>
          <c:spPr>
            <a:solidFill>
              <a:srgbClr val="EB6834"/>
            </a:solidFill>
            <a:ln w="25400" cap="flat">
              <a:solidFill>
                <a:srgbClr val="EB6834"/>
              </a:solidFill>
              <a:prstDash val="solid"/>
              <a:round/>
            </a:ln>
            <a:effectLst/>
          </c:spPr>
          <c:invertIfNegative val="0"/>
          <c:dLbls>
            <c:numFmt formatCode="₹#,##0&quot; L&quot;" sourceLinked="0"/>
            <c:txPr>
              <a:bodyPr/>
              <a:lstStyle/>
              <a:p>
                <a:pPr>
                  <a:defRPr b="0" i="0" strike="noStrike" sz="1200" u="none">
                    <a:solidFill>
                      <a:srgbClr val="1B1F2A"/>
                    </a:solidFill>
                    <a:latin typeface="+mn-lt"/>
                  </a:defRPr>
                </a:pPr>
              </a:p>
            </c:txPr>
            <c:dLblPos val="t"/>
            <c:showLegendKey val="0"/>
            <c:showVal val="1"/>
            <c:showCatName val="0"/>
            <c:showSerName val="0"/>
            <c:showPercent val="0"/>
            <c:showBubbleSize val="0"/>
            <c:showLeaderLines val="0"/>
          </c:dLbls>
          <c:marker>
            <c:symbol val="circle"/>
            <c:size val="9"/>
            <c:spPr>
              <a:solidFill>
                <a:srgbClr val="EB6834"/>
              </a:solidFill>
              <a:ln w="9525" cap="flat">
                <a:solidFill>
                  <a:srgbClr val="EB6834"/>
                </a:solidFill>
                <a:prstDash val="solid"/>
                <a:round/>
              </a:ln>
              <a:effectLst/>
            </c:spPr>
          </c:marker>
          <c:cat>
            <c:multiLvlStrRef>
              <c:f>Sheet1!$A$2:$A$7</c:f>
              <c:multiLvlStrCache>
                <c:ptCount val="6"/>
                <c:lvl>
                  <c:pt idx="0">
                    <c:v>Day 1</c:v>
                  </c:pt>
                  <c:pt idx="1">
                    <c:v>Day 2</c:v>
                  </c:pt>
                  <c:pt idx="2">
                    <c:v>Day 4</c:v>
                  </c:pt>
                  <c:pt idx="3">
                    <c:v>Day 6</c:v>
                  </c:pt>
                  <c:pt idx="4">
                    <c:v>Day 9</c:v>
                  </c:pt>
                  <c:pt idx="5">
                    <c:v>Day 12</c:v>
                  </c:pt>
                </c:lvl>
              </c:multiLvlStrCache>
            </c:multiLvlStrRef>
          </c:cat>
          <c:val>
            <c:numRef>
              <c:f>Sheet1!$B$2:$B$7</c:f>
              <c:numCache>
                <c:formatCode>General</c:formatCode>
                <c:ptCount val="6"/>
                <c:pt idx="0">
                  <c:v>25</c:v>
                </c:pt>
                <c:pt idx="1">
                  <c:v>73</c:v>
                </c:pt>
                <c:pt idx="2">
                  <c:v>145</c:v>
                </c:pt>
                <c:pt idx="3">
                  <c:v>240</c:v>
                </c:pt>
                <c:pt idx="4">
                  <c:v>352</c:v>
                </c:pt>
                <c:pt idx="5">
                  <c:v>437</c:v>
                </c:pt>
              </c:numCache>
            </c:numRef>
          </c:val>
          <c:smooth val="0"/>
        </c:ser>
        <c:dLbls>
          <c:numFmt formatCode="₹#,##0&quot; L&quot;" sourceLinked="0"/>
          <c:txPr>
            <a:bodyPr/>
            <a:lstStyle/>
            <a:p>
              <a:pPr>
                <a:defRPr b="0" i="0" strike="noStrike" sz="1200" u="none">
                  <a:solidFill>
                    <a:srgbClr val="1B1F2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500"/>
          <c:min val="0"/>
        </c:scaling>
        <c:delete val="0"/>
        <c:axPos val="l"/>
        <c:majorGridlines>
          <c:spPr>
            <a:ln w="9525" cap="flat">
              <a:solidFill>
                <a:srgbClr val="DDE2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A6478"/>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FOUR (Aamir leads)
(Aamir) Good morning. We are Group 31 of the Cyber Security course, Batch 2023-27.
(Each member says their own name and PRN, one after another.)
(Aamir) Our case study is the Pune Digital Arrest Scam of January 2025, and our solution is a framework we call DA-Shield.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Aamir Ayaan Quraishi
In January 2025, a seventy-eight-year-old woman in Pune lost four point three seven crore rupees. No one hacked her phone and no malware was installed. Fraudsters simply called her, pretended to be police and investigation officers, moved her onto WhatsApp, and told her she was under 'digital arrest'.
Let me be very clear about one thing: digital arrest does not exist in Indian law. No police officer, no CBI officer and no ED officer will ever arrest you over a video call or ask you to transfer money to clear your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Aamir Ayaan Quraishi
Yet this scam is growing very fast. According to the Ministry of Home Affairs, reported cases went from about forty thousand in 2022 to over one lakh twenty-three thousand in 2024. Losses grew from ninety-one crore to more than one thousand nine hundred and thirty-five crore rupees. Cases tripled, but losses grew twenty-one times, so each scam is now taking much more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Aamir Ayaan Quraishi
Pune Cyber Police recorded eighty-five senior-citizen digital arrest cases in 2025, with an average loss of about sixty-three lakh. Our case is about seven times that.
Detailed public records of this exact complaint were not available, so we rebuilt the attack from similar Pune cases, and our report marks what is reconstructed.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Aamir Ayaan Quraishi
Our problem statement is this: a senior citizen was persuaded, using only a phone and WhatsApp, to send away crores of rupees over several days, and nobody in the chain stopped it. Our objectives were to reconstruct the attack, find which controls failed, design a layered solution, and actually build and test two parts of it in Python.
Now Arav will take you through the research and how the attack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Arav Upadhyay
Thank you, Aamir. We reviewed over forty sources, including government data, court proceedings and research papers.
Cialdini's research shows that people obey authority and act fast under urgency, and this scam uses both. Stajano and Wilson argue that systems must protect people even when they comply. Studies on older adults by Burnes, and by James and colleagues, found that low social support increases scam risk. That is exactly why digital arrest scammers insist on secrecy.
On the technical side, research shows caller ID can be faked easily. The Department of Telecom now blocks about ninety percent of spoofed international calls, but scammers have simply moved to WhatsApp and international numbers. RBI's MuleHunter.AI finds mule accounts, but only after the money has left the victim. And in December 2025, the Supreme Court ordered a nationwide CBI probe.
The gap we found is that very little work focuses on the victim's own bank, at the moment she is sending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Arav Upadhyay
Using this research, we broke the attack into a six-stage kill chain. One: reconnaissance, using leaked data to pick an elderly target. Two: a pretext call from a fake courier or police station. Three: escalation to a fake CBI or ED officer. Four: isolation, which is the WhatsApp video 'arrest', the secrecy oath and forged court papers. Five: extraction, where she breaks her fixed deposits and sends money in instalments. And six: laundering through layers of mule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Arav Upadhyay
Two key findings came from this. Isolation in stage four is what keeps the whole scam alive. And stage five is the only point where a regulated institution, her bank, is directly in the path of the money. Shivendra will explain how we used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Shivendra Dwivedi
Thanks, Arav. Our solution, DA-Shield, has five layers: telecom, messaging, banking, fast response through the 1930 helpline, and awareness, including a simple family rule: no transfer of savings without first calling a family member.
We built and tested layers two and three in Python using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Shivendra Dwivedi
Module A is a scam-message detector. Since no Indian dataset exists, we created nine hundred and ten messages across thirteen families: six scam types and seven normal types, including 'hard negatives', which are real police warnings that use the same words as scams. We compared a keyword-rule baseline, Naive Bayes, and logistic regression with word and character TF-IDF features.
The important part is how we tested it. Instead of a random split, we used leave-family-out testing. Every test message came from a type of script the model had never seen, which is like a new scam variant 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Shivendra Dwivedi
Module B is a risk engine for bank transfers by customers above sixty. It checks seven simple signals: age, an amount far above normal spending, a new payee, a payee account less than six months old, a fixed deposit broken in the last forty-eight hours, repeated large transfers, and staff noticing the customer on a call. A score of forty means the teller asks a few verification questions. A score of sixty or above puts the transfer on a twenty-four-hour hold, and the bank calls a trusted family contact. Every decision can be explained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Shivendra Dwivedi
We tested it on twenty-two thousand six hundred simulated transactions. Pranjal will now share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Pranjal Panwar
Thank you, Shivendra. For Module A, logistic regression performed best, with an F1-score of 0.84 and a recall of 0.955, so it caught about ninety-five percent of scam messages it had never seen. The keyword baseline caught only fifty-seven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Pranjal Panwar
It missed scripts about secrecy, refunds and fake court orders because they don't use obvious words like 'arrest'. Most of our false alarms came from genuine police warnings, which shows that the real challenge is telling scams apart from real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Pranjal Panwar
For Module B, the hold threshold stopped ninety-five percent of fraudulent transfers while delaying only about one percent of normal ones. Looking at whole scams, one hundred and twenty-two out of one hundred and fifty were stopped at the very first instalment.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Pranjal Panwar
We then replayed a reconstructed version of the Pune case: six transfers over twelve days, adding up to four point three seven crore. Every single transfer scored above the hold threshold, including the first one of twenty-five lakh rupees. One phone call from the bank to her family would very likely have ended the scam. Even in the worst case, at least ninety-four percent of her money would have been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Pranjal Panwar
Our limitations: the data is synthetic, the timeline is reconstructed, and Module A reads text, not voice.
To conclude: a person controlled by a fake officer cannot be expected to spot the scam on her own. The system around her has to create a pause and bring in someone she trusts. Our recommendation is that banks adopt a cooling-off hold with a trusted-contact callback for senior citizens.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FOUR (Pranjal leads)
(Pranjal) Remember: there is no such thing as digital arrest. If you get a call like this, hang up, call your family, and report it on 1930.
(All together)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31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31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Group 31  |  Pune Digital Arrest Scam &amp; DA-Shield</a:t>
            </a:r>
            <a:endParaRPr lang="en-US" sz="10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ield icon circle"/>
          <p:cNvSpPr/>
          <p:nvPr/>
        </p:nvSpPr>
        <p:spPr>
          <a:xfrm>
            <a:off x="640080" y="640080"/>
            <a:ext cx="822960" cy="822960"/>
          </a:xfrm>
          <a:prstGeom prst="ellipse">
            <a:avLst/>
          </a:prstGeom>
          <a:solidFill>
            <a:schemeClr val="accent1"/>
          </a:solidFill>
          <a:ln w="12700">
            <a:solidFill>
              <a:schemeClr val="accent1"/>
            </a:solidFill>
            <a:prstDash val="solid"/>
          </a:ln>
        </p:spPr>
      </p:sp>
      <p:pic>
        <p:nvPicPr>
          <p:cNvPr id="3" name="shield icon" descr="shield icon">    </p:cNvPr>
          <p:cNvPicPr>
            <a:picLocks noChangeAspect="1"/>
          </p:cNvPicPr>
          <p:nvPr/>
        </p:nvPicPr>
        <p:blipFill>
          <a:blip r:embed="rId1"/>
          <a:stretch>
            <a:fillRect/>
          </a:stretch>
        </p:blipFill>
        <p:spPr>
          <a:xfrm>
            <a:off x="845820" y="845820"/>
            <a:ext cx="411480" cy="411480"/>
          </a:xfrm>
          <a:prstGeom prst="rect">
            <a:avLst/>
          </a:prstGeom>
        </p:spPr>
      </p:pic>
      <p:sp>
        <p:nvSpPr>
          <p:cNvPr id="4" name="Text 1"/>
          <p:cNvSpPr txBox="1"/>
          <p:nvPr/>
        </p:nvSpPr>
        <p:spPr>
          <a:xfrm>
            <a:off x="1691640" y="777240"/>
            <a:ext cx="7315200" cy="457200"/>
          </a:xfrm>
          <a:prstGeom prst="rect">
            <a:avLst/>
          </a:prstGeom>
          <a:noFill/>
          <a:ln/>
        </p:spPr>
        <p:txBody>
          <a:bodyPr wrap="square" lIns="0" tIns="0" rIns="0" bIns="0" rtlCol="0" anchor="ctr"/>
          <a:lstStyle/>
          <a:p>
            <a:pPr indent="0" marL="0">
              <a:buNone/>
            </a:pPr>
            <a:r>
              <a:rPr lang="en-US" sz="1600" b="1" spc="200" kern="0" dirty="0">
                <a:solidFill>
                  <a:schemeClr val="accent1"/>
                </a:solidFill>
              </a:rPr>
              <a:t>CYBER SECURITY CASE STUDY  |  GROUP 31</a:t>
            </a:r>
            <a:endParaRPr lang="en-US" sz="1600" dirty="0"/>
          </a:p>
        </p:txBody>
      </p:sp>
      <p:sp>
        <p:nvSpPr>
          <p:cNvPr id="5" name="Text 2"/>
          <p:cNvSpPr txBox="1"/>
          <p:nvPr/>
        </p:nvSpPr>
        <p:spPr>
          <a:xfrm>
            <a:off x="640080" y="1783080"/>
            <a:ext cx="10515600" cy="100584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Digital Arrest</a:t>
            </a:r>
            <a:endParaRPr lang="en-US" sz="5400" dirty="0"/>
          </a:p>
        </p:txBody>
      </p:sp>
      <p:sp>
        <p:nvSpPr>
          <p:cNvPr id="6" name="Text 3"/>
          <p:cNvSpPr txBox="1"/>
          <p:nvPr/>
        </p:nvSpPr>
        <p:spPr>
          <a:xfrm>
            <a:off x="640080" y="2743200"/>
            <a:ext cx="10515600" cy="548640"/>
          </a:xfrm>
          <a:prstGeom prst="rect">
            <a:avLst/>
          </a:prstGeom>
          <a:noFill/>
          <a:ln/>
        </p:spPr>
        <p:txBody>
          <a:bodyPr wrap="square" lIns="0" tIns="0" rIns="0" bIns="0" rtlCol="0" anchor="t"/>
          <a:lstStyle/>
          <a:p>
            <a:pPr indent="0" marL="0">
              <a:buNone/>
            </a:pPr>
            <a:r>
              <a:rPr lang="en-US" sz="2600" dirty="0">
                <a:solidFill>
                  <a:srgbClr val="CADCFC"/>
                </a:solidFill>
                <a:latin typeface="Cambria" pitchFamily="34" charset="0"/>
                <a:ea typeface="Cambria" pitchFamily="34" charset="-122"/>
                <a:cs typeface="Cambria" pitchFamily="34" charset="-120"/>
              </a:rPr>
              <a:t>The Pune Scam of January 2025 and DA-Shield, a layered defence</a:t>
            </a:r>
            <a:endParaRPr lang="en-US" sz="2600" dirty="0"/>
          </a:p>
        </p:txBody>
      </p:sp>
      <p:sp>
        <p:nvSpPr>
          <p:cNvPr id="7" name="Text 4"/>
          <p:cNvSpPr txBox="1"/>
          <p:nvPr/>
        </p:nvSpPr>
        <p:spPr>
          <a:xfrm>
            <a:off x="640080" y="3429000"/>
            <a:ext cx="10515600" cy="457200"/>
          </a:xfrm>
          <a:prstGeom prst="rect">
            <a:avLst/>
          </a:prstGeom>
          <a:noFill/>
          <a:ln/>
        </p:spPr>
        <p:txBody>
          <a:bodyPr wrap="square" lIns="0" tIns="0" rIns="0" bIns="0" rtlCol="0" anchor="t"/>
          <a:lstStyle/>
          <a:p>
            <a:pPr indent="0" marL="0">
              <a:buNone/>
            </a:pPr>
            <a:r>
              <a:rPr lang="en-US" sz="1800" i="1" dirty="0">
                <a:solidFill>
                  <a:srgbClr val="CADCFC"/>
                </a:solidFill>
              </a:rPr>
              <a:t>A 78-year-old woman lost ₹4.37 crore to fraudsters impersonating officials over phone and WhatsApp</a:t>
            </a:r>
            <a:endParaRPr lang="en-US" sz="1800" dirty="0"/>
          </a:p>
        </p:txBody>
      </p:sp>
      <p:sp>
        <p:nvSpPr>
          <p:cNvPr id="8" name="member card 1"/>
          <p:cNvSpPr/>
          <p:nvPr/>
        </p:nvSpPr>
        <p:spPr>
          <a:xfrm>
            <a:off x="640080" y="4572000"/>
            <a:ext cx="2560320" cy="960120"/>
          </a:xfrm>
          <a:prstGeom prst="roundRect">
            <a:avLst>
              <a:gd name="adj" fmla="val 11429"/>
            </a:avLst>
          </a:prstGeom>
          <a:solidFill>
            <a:srgbClr val="22325A"/>
          </a:solidFill>
          <a:ln w="12700">
            <a:solidFill>
              <a:srgbClr val="22325A"/>
            </a:solidFill>
            <a:prstDash val="solid"/>
          </a:ln>
        </p:spPr>
      </p:sp>
      <p:sp>
        <p:nvSpPr>
          <p:cNvPr id="9" name="Text 6"/>
          <p:cNvSpPr txBox="1"/>
          <p:nvPr/>
        </p:nvSpPr>
        <p:spPr>
          <a:xfrm>
            <a:off x="822960" y="4709160"/>
            <a:ext cx="2286000" cy="365760"/>
          </a:xfrm>
          <a:prstGeom prst="rect">
            <a:avLst/>
          </a:prstGeom>
          <a:noFill/>
          <a:ln/>
        </p:spPr>
        <p:txBody>
          <a:bodyPr wrap="square" lIns="0" tIns="0" rIns="0" bIns="0" rtlCol="0" anchor="t"/>
          <a:lstStyle/>
          <a:p>
            <a:pPr indent="0" marL="0">
              <a:buNone/>
            </a:pPr>
            <a:r>
              <a:rPr lang="en-US" sz="1600" b="1" dirty="0">
                <a:solidFill>
                  <a:schemeClr val="bg1"/>
                </a:solidFill>
              </a:rPr>
              <a:t>Aamir Ayaan Quraishi</a:t>
            </a:r>
            <a:endParaRPr lang="en-US" sz="1600" dirty="0"/>
          </a:p>
        </p:txBody>
      </p:sp>
      <p:sp>
        <p:nvSpPr>
          <p:cNvPr id="10" name="Text 7"/>
          <p:cNvSpPr txBox="1"/>
          <p:nvPr/>
        </p:nvSpPr>
        <p:spPr>
          <a:xfrm>
            <a:off x="822960" y="5074920"/>
            <a:ext cx="2286000" cy="320040"/>
          </a:xfrm>
          <a:prstGeom prst="rect">
            <a:avLst/>
          </a:prstGeom>
          <a:noFill/>
          <a:ln/>
        </p:spPr>
        <p:txBody>
          <a:bodyPr wrap="square" lIns="0" tIns="0" rIns="0" bIns="0" rtlCol="0" anchor="t"/>
          <a:lstStyle/>
          <a:p>
            <a:pPr indent="0" marL="0">
              <a:buNone/>
            </a:pPr>
            <a:r>
              <a:rPr lang="en-US" sz="1400" dirty="0">
                <a:solidFill>
                  <a:srgbClr val="CADCFC"/>
                </a:solidFill>
              </a:rPr>
              <a:t>PRN 23070123002</a:t>
            </a:r>
            <a:endParaRPr lang="en-US" sz="1400" dirty="0"/>
          </a:p>
        </p:txBody>
      </p:sp>
      <p:sp>
        <p:nvSpPr>
          <p:cNvPr id="11" name="member card 2"/>
          <p:cNvSpPr/>
          <p:nvPr/>
        </p:nvSpPr>
        <p:spPr>
          <a:xfrm>
            <a:off x="3383280" y="4572000"/>
            <a:ext cx="2560320" cy="960120"/>
          </a:xfrm>
          <a:prstGeom prst="roundRect">
            <a:avLst>
              <a:gd name="adj" fmla="val 11429"/>
            </a:avLst>
          </a:prstGeom>
          <a:solidFill>
            <a:srgbClr val="22325A"/>
          </a:solidFill>
          <a:ln w="12700">
            <a:solidFill>
              <a:srgbClr val="22325A"/>
            </a:solidFill>
            <a:prstDash val="solid"/>
          </a:ln>
        </p:spPr>
      </p:sp>
      <p:sp>
        <p:nvSpPr>
          <p:cNvPr id="12" name="Text 9"/>
          <p:cNvSpPr txBox="1"/>
          <p:nvPr/>
        </p:nvSpPr>
        <p:spPr>
          <a:xfrm>
            <a:off x="3566160" y="4709160"/>
            <a:ext cx="2286000" cy="365760"/>
          </a:xfrm>
          <a:prstGeom prst="rect">
            <a:avLst/>
          </a:prstGeom>
          <a:noFill/>
          <a:ln/>
        </p:spPr>
        <p:txBody>
          <a:bodyPr wrap="square" lIns="0" tIns="0" rIns="0" bIns="0" rtlCol="0" anchor="t"/>
          <a:lstStyle/>
          <a:p>
            <a:pPr indent="0" marL="0">
              <a:buNone/>
            </a:pPr>
            <a:r>
              <a:rPr lang="en-US" sz="1600" b="1" dirty="0">
                <a:solidFill>
                  <a:schemeClr val="bg1"/>
                </a:solidFill>
              </a:rPr>
              <a:t>Arav Upadhyay</a:t>
            </a:r>
            <a:endParaRPr lang="en-US" sz="1600" dirty="0"/>
          </a:p>
        </p:txBody>
      </p:sp>
      <p:sp>
        <p:nvSpPr>
          <p:cNvPr id="13" name="Text 10"/>
          <p:cNvSpPr txBox="1"/>
          <p:nvPr/>
        </p:nvSpPr>
        <p:spPr>
          <a:xfrm>
            <a:off x="3566160" y="5074920"/>
            <a:ext cx="2286000" cy="320040"/>
          </a:xfrm>
          <a:prstGeom prst="rect">
            <a:avLst/>
          </a:prstGeom>
          <a:noFill/>
          <a:ln/>
        </p:spPr>
        <p:txBody>
          <a:bodyPr wrap="square" lIns="0" tIns="0" rIns="0" bIns="0" rtlCol="0" anchor="t"/>
          <a:lstStyle/>
          <a:p>
            <a:pPr indent="0" marL="0">
              <a:buNone/>
            </a:pPr>
            <a:r>
              <a:rPr lang="en-US" sz="1400" dirty="0">
                <a:solidFill>
                  <a:srgbClr val="CADCFC"/>
                </a:solidFill>
              </a:rPr>
              <a:t>PRN 23070123026</a:t>
            </a:r>
            <a:endParaRPr lang="en-US" sz="1400" dirty="0"/>
          </a:p>
        </p:txBody>
      </p:sp>
      <p:sp>
        <p:nvSpPr>
          <p:cNvPr id="14" name="member card 3"/>
          <p:cNvSpPr/>
          <p:nvPr/>
        </p:nvSpPr>
        <p:spPr>
          <a:xfrm>
            <a:off x="6126480" y="4572000"/>
            <a:ext cx="2560320" cy="960120"/>
          </a:xfrm>
          <a:prstGeom prst="roundRect">
            <a:avLst>
              <a:gd name="adj" fmla="val 11429"/>
            </a:avLst>
          </a:prstGeom>
          <a:solidFill>
            <a:srgbClr val="22325A"/>
          </a:solidFill>
          <a:ln w="12700">
            <a:solidFill>
              <a:srgbClr val="22325A"/>
            </a:solidFill>
            <a:prstDash val="solid"/>
          </a:ln>
        </p:spPr>
      </p:sp>
      <p:sp>
        <p:nvSpPr>
          <p:cNvPr id="15" name="Text 12"/>
          <p:cNvSpPr txBox="1"/>
          <p:nvPr/>
        </p:nvSpPr>
        <p:spPr>
          <a:xfrm>
            <a:off x="6309360" y="4709160"/>
            <a:ext cx="2286000" cy="365760"/>
          </a:xfrm>
          <a:prstGeom prst="rect">
            <a:avLst/>
          </a:prstGeom>
          <a:noFill/>
          <a:ln/>
        </p:spPr>
        <p:txBody>
          <a:bodyPr wrap="square" lIns="0" tIns="0" rIns="0" bIns="0" rtlCol="0" anchor="t"/>
          <a:lstStyle/>
          <a:p>
            <a:pPr indent="0" marL="0">
              <a:buNone/>
            </a:pPr>
            <a:r>
              <a:rPr lang="en-US" sz="1600" b="1" dirty="0">
                <a:solidFill>
                  <a:schemeClr val="bg1"/>
                </a:solidFill>
              </a:rPr>
              <a:t>Shivendra Dwivedi</a:t>
            </a:r>
            <a:endParaRPr lang="en-US" sz="1600" dirty="0"/>
          </a:p>
        </p:txBody>
      </p:sp>
      <p:sp>
        <p:nvSpPr>
          <p:cNvPr id="16" name="Text 13"/>
          <p:cNvSpPr txBox="1"/>
          <p:nvPr/>
        </p:nvSpPr>
        <p:spPr>
          <a:xfrm>
            <a:off x="6309360" y="5074920"/>
            <a:ext cx="2286000" cy="320040"/>
          </a:xfrm>
          <a:prstGeom prst="rect">
            <a:avLst/>
          </a:prstGeom>
          <a:noFill/>
          <a:ln/>
        </p:spPr>
        <p:txBody>
          <a:bodyPr wrap="square" lIns="0" tIns="0" rIns="0" bIns="0" rtlCol="0" anchor="t"/>
          <a:lstStyle/>
          <a:p>
            <a:pPr indent="0" marL="0">
              <a:buNone/>
            </a:pPr>
            <a:r>
              <a:rPr lang="en-US" sz="1400" dirty="0">
                <a:solidFill>
                  <a:srgbClr val="CADCFC"/>
                </a:solidFill>
              </a:rPr>
              <a:t>PRN 23070123122</a:t>
            </a:r>
            <a:endParaRPr lang="en-US" sz="1400" dirty="0"/>
          </a:p>
        </p:txBody>
      </p:sp>
      <p:sp>
        <p:nvSpPr>
          <p:cNvPr id="17" name="member card 4"/>
          <p:cNvSpPr/>
          <p:nvPr/>
        </p:nvSpPr>
        <p:spPr>
          <a:xfrm>
            <a:off x="8869680" y="4572000"/>
            <a:ext cx="2560320" cy="960120"/>
          </a:xfrm>
          <a:prstGeom prst="roundRect">
            <a:avLst>
              <a:gd name="adj" fmla="val 11429"/>
            </a:avLst>
          </a:prstGeom>
          <a:solidFill>
            <a:srgbClr val="22325A"/>
          </a:solidFill>
          <a:ln w="12700">
            <a:solidFill>
              <a:srgbClr val="22325A"/>
            </a:solidFill>
            <a:prstDash val="solid"/>
          </a:ln>
        </p:spPr>
      </p:sp>
      <p:sp>
        <p:nvSpPr>
          <p:cNvPr id="18" name="Text 15"/>
          <p:cNvSpPr txBox="1"/>
          <p:nvPr/>
        </p:nvSpPr>
        <p:spPr>
          <a:xfrm>
            <a:off x="9052560" y="4709160"/>
            <a:ext cx="2286000" cy="365760"/>
          </a:xfrm>
          <a:prstGeom prst="rect">
            <a:avLst/>
          </a:prstGeom>
          <a:noFill/>
          <a:ln/>
        </p:spPr>
        <p:txBody>
          <a:bodyPr wrap="square" lIns="0" tIns="0" rIns="0" bIns="0" rtlCol="0" anchor="t"/>
          <a:lstStyle/>
          <a:p>
            <a:pPr indent="0" marL="0">
              <a:buNone/>
            </a:pPr>
            <a:r>
              <a:rPr lang="en-US" sz="1600" b="1" dirty="0">
                <a:solidFill>
                  <a:schemeClr val="bg1"/>
                </a:solidFill>
              </a:rPr>
              <a:t>Pranjal Panwar</a:t>
            </a:r>
            <a:endParaRPr lang="en-US" sz="1600" dirty="0"/>
          </a:p>
        </p:txBody>
      </p:sp>
      <p:sp>
        <p:nvSpPr>
          <p:cNvPr id="19" name="Text 16"/>
          <p:cNvSpPr txBox="1"/>
          <p:nvPr/>
        </p:nvSpPr>
        <p:spPr>
          <a:xfrm>
            <a:off x="9052560" y="5074920"/>
            <a:ext cx="2286000" cy="320040"/>
          </a:xfrm>
          <a:prstGeom prst="rect">
            <a:avLst/>
          </a:prstGeom>
          <a:noFill/>
          <a:ln/>
        </p:spPr>
        <p:txBody>
          <a:bodyPr wrap="square" lIns="0" tIns="0" rIns="0" bIns="0" rtlCol="0" anchor="t"/>
          <a:lstStyle/>
          <a:p>
            <a:pPr indent="0" marL="0">
              <a:buNone/>
            </a:pPr>
            <a:r>
              <a:rPr lang="en-US" sz="1400" dirty="0">
                <a:solidFill>
                  <a:srgbClr val="CADCFC"/>
                </a:solidFill>
              </a:rPr>
              <a:t>PRN 23070123164</a:t>
            </a:r>
            <a:endParaRPr lang="en-US" sz="1400" dirty="0"/>
          </a:p>
        </p:txBody>
      </p:sp>
      <p:sp>
        <p:nvSpPr>
          <p:cNvPr id="20" name="Text 17"/>
          <p:cNvSpPr txBox="1"/>
          <p:nvPr/>
        </p:nvSpPr>
        <p:spPr>
          <a:xfrm>
            <a:off x="640080" y="5989320"/>
            <a:ext cx="10515600" cy="320040"/>
          </a:xfrm>
          <a:prstGeom prst="rect">
            <a:avLst/>
          </a:prstGeom>
          <a:noFill/>
          <a:ln/>
        </p:spPr>
        <p:txBody>
          <a:bodyPr wrap="square" lIns="0" tIns="0" rIns="0" bIns="0" rtlCol="0" anchor="t"/>
          <a:lstStyle/>
          <a:p>
            <a:pPr indent="0" marL="0">
              <a:buNone/>
            </a:pPr>
            <a:r>
              <a:rPr lang="en-US" sz="1200" dirty="0">
                <a:solidFill>
                  <a:srgbClr val="9AA7BC"/>
                </a:solidFill>
              </a:rPr>
              <a:t>Department of Electronics &amp; Telecommunication Engineering  |  Faculty: Dr. Mangal Singh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₹4.37 crore lost without a single hack</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Aamir</a:t>
            </a:r>
            <a:endParaRPr lang="en-US" sz="1300" dirty="0"/>
          </a:p>
        </p:txBody>
      </p:sp>
      <p:sp>
        <p:nvSpPr>
          <p:cNvPr id="6" name="Text 3"/>
          <p:cNvSpPr txBox="1"/>
          <p:nvPr/>
        </p:nvSpPr>
        <p:spPr>
          <a:xfrm>
            <a:off x="548640" y="1508760"/>
            <a:ext cx="5669280" cy="1005840"/>
          </a:xfrm>
          <a:prstGeom prst="rect">
            <a:avLst/>
          </a:prstGeom>
          <a:noFill/>
          <a:ln/>
        </p:spPr>
        <p:txBody>
          <a:bodyPr wrap="square" lIns="0" tIns="0" rIns="0" bIns="0" rtlCol="0" anchor="t"/>
          <a:lstStyle/>
          <a:p>
            <a:pPr indent="0" marL="0">
              <a:buNone/>
            </a:pPr>
            <a:r>
              <a:rPr lang="en-US" sz="6600" b="1" dirty="0">
                <a:solidFill>
                  <a:schemeClr val="accent2"/>
                </a:solidFill>
                <a:latin typeface="Cambria" pitchFamily="34" charset="0"/>
                <a:ea typeface="Cambria" pitchFamily="34" charset="-122"/>
                <a:cs typeface="Cambria" pitchFamily="34" charset="-120"/>
              </a:rPr>
              <a:t>₹4.37 crore</a:t>
            </a:r>
            <a:endParaRPr lang="en-US" sz="6600" dirty="0"/>
          </a:p>
        </p:txBody>
      </p:sp>
      <p:sp>
        <p:nvSpPr>
          <p:cNvPr id="7" name="Text 4"/>
          <p:cNvSpPr txBox="1"/>
          <p:nvPr/>
        </p:nvSpPr>
        <p:spPr>
          <a:xfrm>
            <a:off x="548640" y="2514600"/>
            <a:ext cx="5669280" cy="365760"/>
          </a:xfrm>
          <a:prstGeom prst="rect">
            <a:avLst/>
          </a:prstGeom>
          <a:noFill/>
          <a:ln/>
        </p:spPr>
        <p:txBody>
          <a:bodyPr wrap="square" lIns="0" tIns="0" rIns="0" bIns="0" rtlCol="0" anchor="t"/>
          <a:lstStyle/>
          <a:p>
            <a:pPr indent="0" marL="0">
              <a:buNone/>
            </a:pPr>
            <a:r>
              <a:rPr lang="en-US" sz="1800" dirty="0">
                <a:solidFill>
                  <a:srgbClr val="5A6478"/>
                </a:solidFill>
              </a:rPr>
              <a:t>lost by a 78-year-old woman in Pune, January 2025</a:t>
            </a:r>
            <a:endParaRPr lang="en-US" sz="1800" dirty="0"/>
          </a:p>
        </p:txBody>
      </p:sp>
      <p:sp>
        <p:nvSpPr>
          <p:cNvPr id="8" name="case step icon 1 circle"/>
          <p:cNvSpPr/>
          <p:nvPr/>
        </p:nvSpPr>
        <p:spPr>
          <a:xfrm>
            <a:off x="548640" y="3246120"/>
            <a:ext cx="640080" cy="640080"/>
          </a:xfrm>
          <a:prstGeom prst="ellipse">
            <a:avLst/>
          </a:prstGeom>
          <a:solidFill>
            <a:schemeClr val="tx2"/>
          </a:solidFill>
          <a:ln w="12700">
            <a:solidFill>
              <a:schemeClr val="tx2"/>
            </a:solidFill>
            <a:prstDash val="solid"/>
          </a:ln>
        </p:spPr>
      </p:sp>
      <p:pic>
        <p:nvPicPr>
          <p:cNvPr id="9" name="case step icon 1" descr="case step icon 1">    </p:cNvPr>
          <p:cNvPicPr>
            <a:picLocks noChangeAspect="1"/>
          </p:cNvPicPr>
          <p:nvPr/>
        </p:nvPicPr>
        <p:blipFill>
          <a:blip r:embed="rId1"/>
          <a:stretch>
            <a:fillRect/>
          </a:stretch>
        </p:blipFill>
        <p:spPr>
          <a:xfrm>
            <a:off x="708660" y="3406140"/>
            <a:ext cx="320040" cy="320040"/>
          </a:xfrm>
          <a:prstGeom prst="rect">
            <a:avLst/>
          </a:prstGeom>
        </p:spPr>
      </p:pic>
      <p:sp>
        <p:nvSpPr>
          <p:cNvPr id="10" name="Text 6"/>
          <p:cNvSpPr txBox="1"/>
          <p:nvPr/>
        </p:nvSpPr>
        <p:spPr>
          <a:xfrm>
            <a:off x="1371600" y="3227832"/>
            <a:ext cx="4754880" cy="320040"/>
          </a:xfrm>
          <a:prstGeom prst="rect">
            <a:avLst/>
          </a:prstGeom>
          <a:noFill/>
          <a:ln/>
        </p:spPr>
        <p:txBody>
          <a:bodyPr wrap="square" lIns="0" tIns="0" rIns="0" bIns="0" rtlCol="0" anchor="t"/>
          <a:lstStyle/>
          <a:p>
            <a:pPr indent="0" marL="0">
              <a:buNone/>
            </a:pPr>
            <a:r>
              <a:rPr lang="en-US" sz="1800" b="1" dirty="0">
                <a:solidFill>
                  <a:schemeClr val="tx2"/>
                </a:solidFill>
              </a:rPr>
              <a:t>A phone call</a:t>
            </a:r>
            <a:endParaRPr lang="en-US" sz="1800" dirty="0"/>
          </a:p>
        </p:txBody>
      </p:sp>
      <p:sp>
        <p:nvSpPr>
          <p:cNvPr id="11" name="Text 7"/>
          <p:cNvSpPr txBox="1"/>
          <p:nvPr/>
        </p:nvSpPr>
        <p:spPr>
          <a:xfrm>
            <a:off x="1371600" y="3557016"/>
            <a:ext cx="4754880" cy="320040"/>
          </a:xfrm>
          <a:prstGeom prst="rect">
            <a:avLst/>
          </a:prstGeom>
          <a:noFill/>
          <a:ln/>
        </p:spPr>
        <p:txBody>
          <a:bodyPr wrap="square" lIns="0" tIns="0" rIns="0" bIns="0" rtlCol="0" anchor="t"/>
          <a:lstStyle/>
          <a:p>
            <a:pPr indent="0" marL="0">
              <a:buNone/>
            </a:pPr>
            <a:r>
              <a:rPr lang="en-US" sz="1500" dirty="0">
                <a:solidFill>
                  <a:srgbClr val="5A6478"/>
                </a:solidFill>
              </a:rPr>
              <a:t>Callers pose as police and investigation officers</a:t>
            </a:r>
            <a:endParaRPr lang="en-US" sz="1500" dirty="0"/>
          </a:p>
        </p:txBody>
      </p:sp>
      <p:sp>
        <p:nvSpPr>
          <p:cNvPr id="12" name="case step icon 2 circle"/>
          <p:cNvSpPr/>
          <p:nvPr/>
        </p:nvSpPr>
        <p:spPr>
          <a:xfrm>
            <a:off x="548640" y="4160520"/>
            <a:ext cx="640080" cy="640080"/>
          </a:xfrm>
          <a:prstGeom prst="ellipse">
            <a:avLst/>
          </a:prstGeom>
          <a:solidFill>
            <a:schemeClr val="tx2"/>
          </a:solidFill>
          <a:ln w="12700">
            <a:solidFill>
              <a:schemeClr val="tx2"/>
            </a:solidFill>
            <a:prstDash val="solid"/>
          </a:ln>
        </p:spPr>
      </p:sp>
      <p:pic>
        <p:nvPicPr>
          <p:cNvPr id="13" name="case step icon 2" descr="case step icon 2">    </p:cNvPr>
          <p:cNvPicPr>
            <a:picLocks noChangeAspect="1"/>
          </p:cNvPicPr>
          <p:nvPr/>
        </p:nvPicPr>
        <p:blipFill>
          <a:blip r:embed="rId2"/>
          <a:stretch>
            <a:fillRect/>
          </a:stretch>
        </p:blipFill>
        <p:spPr>
          <a:xfrm>
            <a:off x="708660" y="4320540"/>
            <a:ext cx="320040" cy="320040"/>
          </a:xfrm>
          <a:prstGeom prst="rect">
            <a:avLst/>
          </a:prstGeom>
        </p:spPr>
      </p:pic>
      <p:sp>
        <p:nvSpPr>
          <p:cNvPr id="14" name="Text 9"/>
          <p:cNvSpPr txBox="1"/>
          <p:nvPr/>
        </p:nvSpPr>
        <p:spPr>
          <a:xfrm>
            <a:off x="1371600" y="4142232"/>
            <a:ext cx="4754880" cy="320040"/>
          </a:xfrm>
          <a:prstGeom prst="rect">
            <a:avLst/>
          </a:prstGeom>
          <a:noFill/>
          <a:ln/>
        </p:spPr>
        <p:txBody>
          <a:bodyPr wrap="square" lIns="0" tIns="0" rIns="0" bIns="0" rtlCol="0" anchor="t"/>
          <a:lstStyle/>
          <a:p>
            <a:pPr indent="0" marL="0">
              <a:buNone/>
            </a:pPr>
            <a:r>
              <a:rPr lang="en-US" sz="1800" b="1" dirty="0">
                <a:solidFill>
                  <a:schemeClr val="tx2"/>
                </a:solidFill>
              </a:rPr>
              <a:t>Moved to WhatsApp</a:t>
            </a:r>
            <a:endParaRPr lang="en-US" sz="1800" dirty="0"/>
          </a:p>
        </p:txBody>
      </p:sp>
      <p:sp>
        <p:nvSpPr>
          <p:cNvPr id="15" name="Text 10"/>
          <p:cNvSpPr txBox="1"/>
          <p:nvPr/>
        </p:nvSpPr>
        <p:spPr>
          <a:xfrm>
            <a:off x="1371600" y="4471416"/>
            <a:ext cx="4754880" cy="320040"/>
          </a:xfrm>
          <a:prstGeom prst="rect">
            <a:avLst/>
          </a:prstGeom>
          <a:noFill/>
          <a:ln/>
        </p:spPr>
        <p:txBody>
          <a:bodyPr wrap="square" lIns="0" tIns="0" rIns="0" bIns="0" rtlCol="0" anchor="t"/>
          <a:lstStyle/>
          <a:p>
            <a:pPr indent="0" marL="0">
              <a:buNone/>
            </a:pPr>
            <a:r>
              <a:rPr lang="en-US" sz="1500" dirty="0">
                <a:solidFill>
                  <a:srgbClr val="5A6478"/>
                </a:solidFill>
              </a:rPr>
              <a:t>Told she is under 'digital arrest' and must stay on video</a:t>
            </a:r>
            <a:endParaRPr lang="en-US" sz="1500" dirty="0"/>
          </a:p>
        </p:txBody>
      </p:sp>
      <p:sp>
        <p:nvSpPr>
          <p:cNvPr id="16" name="case step icon 3 circle"/>
          <p:cNvSpPr/>
          <p:nvPr/>
        </p:nvSpPr>
        <p:spPr>
          <a:xfrm>
            <a:off x="548640" y="5074920"/>
            <a:ext cx="640080" cy="640080"/>
          </a:xfrm>
          <a:prstGeom prst="ellipse">
            <a:avLst/>
          </a:prstGeom>
          <a:solidFill>
            <a:schemeClr val="tx2"/>
          </a:solidFill>
          <a:ln w="12700">
            <a:solidFill>
              <a:schemeClr val="tx2"/>
            </a:solidFill>
            <a:prstDash val="solid"/>
          </a:ln>
        </p:spPr>
      </p:sp>
      <p:pic>
        <p:nvPicPr>
          <p:cNvPr id="17" name="case step icon 3" descr="case step icon 3">    </p:cNvPr>
          <p:cNvPicPr>
            <a:picLocks noChangeAspect="1"/>
          </p:cNvPicPr>
          <p:nvPr/>
        </p:nvPicPr>
        <p:blipFill>
          <a:blip r:embed="rId3"/>
          <a:stretch>
            <a:fillRect/>
          </a:stretch>
        </p:blipFill>
        <p:spPr>
          <a:xfrm>
            <a:off x="708660" y="5234940"/>
            <a:ext cx="320040" cy="320040"/>
          </a:xfrm>
          <a:prstGeom prst="rect">
            <a:avLst/>
          </a:prstGeom>
        </p:spPr>
      </p:pic>
      <p:sp>
        <p:nvSpPr>
          <p:cNvPr id="18" name="Text 12"/>
          <p:cNvSpPr txBox="1"/>
          <p:nvPr/>
        </p:nvSpPr>
        <p:spPr>
          <a:xfrm>
            <a:off x="1371600" y="5056632"/>
            <a:ext cx="4754880" cy="320040"/>
          </a:xfrm>
          <a:prstGeom prst="rect">
            <a:avLst/>
          </a:prstGeom>
          <a:noFill/>
          <a:ln/>
        </p:spPr>
        <p:txBody>
          <a:bodyPr wrap="square" lIns="0" tIns="0" rIns="0" bIns="0" rtlCol="0" anchor="t"/>
          <a:lstStyle/>
          <a:p>
            <a:pPr indent="0" marL="0">
              <a:buNone/>
            </a:pPr>
            <a:r>
              <a:rPr lang="en-US" sz="1800" b="1" dirty="0">
                <a:solidFill>
                  <a:schemeClr val="tx2"/>
                </a:solidFill>
              </a:rPr>
              <a:t>Savings transferred</a:t>
            </a:r>
            <a:endParaRPr lang="en-US" sz="1800" dirty="0"/>
          </a:p>
        </p:txBody>
      </p:sp>
      <p:sp>
        <p:nvSpPr>
          <p:cNvPr id="19" name="Text 13"/>
          <p:cNvSpPr txBox="1"/>
          <p:nvPr/>
        </p:nvSpPr>
        <p:spPr>
          <a:xfrm>
            <a:off x="1371600" y="5385816"/>
            <a:ext cx="4754880" cy="320040"/>
          </a:xfrm>
          <a:prstGeom prst="rect">
            <a:avLst/>
          </a:prstGeom>
          <a:noFill/>
          <a:ln/>
        </p:spPr>
        <p:txBody>
          <a:bodyPr wrap="square" lIns="0" tIns="0" rIns="0" bIns="0" rtlCol="0" anchor="t"/>
          <a:lstStyle/>
          <a:p>
            <a:pPr indent="0" marL="0">
              <a:buNone/>
            </a:pPr>
            <a:r>
              <a:rPr lang="en-US" sz="1500" dirty="0">
                <a:solidFill>
                  <a:srgbClr val="5A6478"/>
                </a:solidFill>
              </a:rPr>
              <a:t>Money sent to accounts the fraudsters control</a:t>
            </a:r>
            <a:endParaRPr lang="en-US" sz="1500" dirty="0"/>
          </a:p>
        </p:txBody>
      </p:sp>
      <p:sp>
        <p:nvSpPr>
          <p:cNvPr id="20" name="law card"/>
          <p:cNvSpPr/>
          <p:nvPr/>
        </p:nvSpPr>
        <p:spPr>
          <a:xfrm>
            <a:off x="6675120" y="1508760"/>
            <a:ext cx="4965192" cy="4480560"/>
          </a:xfrm>
          <a:prstGeom prst="roundRect">
            <a:avLst>
              <a:gd name="adj" fmla="val 2449"/>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1" name="law icon circle"/>
          <p:cNvSpPr/>
          <p:nvPr/>
        </p:nvSpPr>
        <p:spPr>
          <a:xfrm>
            <a:off x="7086600" y="1874520"/>
            <a:ext cx="731520" cy="731520"/>
          </a:xfrm>
          <a:prstGeom prst="ellipse">
            <a:avLst/>
          </a:prstGeom>
          <a:solidFill>
            <a:schemeClr val="accent1"/>
          </a:solidFill>
          <a:ln w="12700">
            <a:solidFill>
              <a:schemeClr val="accent1"/>
            </a:solidFill>
            <a:prstDash val="solid"/>
          </a:ln>
        </p:spPr>
      </p:sp>
      <p:pic>
        <p:nvPicPr>
          <p:cNvPr id="22" name="law icon" descr="law icon">    </p:cNvPr>
          <p:cNvPicPr>
            <a:picLocks noChangeAspect="1"/>
          </p:cNvPicPr>
          <p:nvPr/>
        </p:nvPicPr>
        <p:blipFill>
          <a:blip r:embed="rId4"/>
          <a:stretch>
            <a:fillRect/>
          </a:stretch>
        </p:blipFill>
        <p:spPr>
          <a:xfrm>
            <a:off x="7269480" y="2057400"/>
            <a:ext cx="365760" cy="365760"/>
          </a:xfrm>
          <a:prstGeom prst="rect">
            <a:avLst/>
          </a:prstGeom>
        </p:spPr>
      </p:pic>
      <p:sp>
        <p:nvSpPr>
          <p:cNvPr id="23" name="Text 16"/>
          <p:cNvSpPr txBox="1"/>
          <p:nvPr/>
        </p:nvSpPr>
        <p:spPr>
          <a:xfrm>
            <a:off x="7086600" y="2788920"/>
            <a:ext cx="4206240" cy="9144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There is no 'digital arrest' in Indian law</a:t>
            </a:r>
            <a:endParaRPr lang="en-US" sz="2400" dirty="0"/>
          </a:p>
        </p:txBody>
      </p:sp>
      <p:sp>
        <p:nvSpPr>
          <p:cNvPr id="24" name="Text 17"/>
          <p:cNvSpPr txBox="1"/>
          <p:nvPr/>
        </p:nvSpPr>
        <p:spPr>
          <a:xfrm>
            <a:off x="7086600" y="3794760"/>
            <a:ext cx="42062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DCE3F0"/>
                </a:solidFill>
              </a:rPr>
              <a:t>Police, CBI and ED never arrest anyone over a phone or video call</a:t>
            </a:r>
            <a:endParaRPr lang="en-US" sz="1600" dirty="0"/>
          </a:p>
          <a:p>
            <a:pPr marL="342900" indent="-342900">
              <a:spcAft>
                <a:spcPts val="800"/>
              </a:spcAft>
              <a:buSzPct val="100000"/>
              <a:buChar char="•"/>
            </a:pPr>
            <a:r>
              <a:rPr lang="en-US" sz="1600" dirty="0">
                <a:solidFill>
                  <a:srgbClr val="DCE3F0"/>
                </a:solidFill>
              </a:rPr>
              <a:t>No agency asks you to transfer money to 'clear your name'</a:t>
            </a:r>
            <a:endParaRPr lang="en-US" sz="1600" dirty="0"/>
          </a:p>
          <a:p>
            <a:pPr marL="342900" indent="-342900">
              <a:spcAft>
                <a:spcPts val="800"/>
              </a:spcAft>
              <a:buSzPct val="100000"/>
              <a:buChar char="•"/>
            </a:pPr>
            <a:r>
              <a:rPr lang="en-US" sz="1600" dirty="0">
                <a:solidFill>
                  <a:srgbClr val="DCE3F0"/>
                </a:solidFill>
              </a:rPr>
              <a:t>No malware, no hacking: the only weapon was fear</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Cases tripled. Losses grew 21 times.</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Aamir</a:t>
            </a:r>
            <a:endParaRPr lang="en-US" sz="1300" dirty="0"/>
          </a:p>
        </p:txBody>
      </p:sp>
      <p:graphicFrame>
        <p:nvGraphicFramePr>
          <p:cNvPr id="6" name="incidents chart" descr=""/>
          <p:cNvGraphicFramePr/>
          <p:nvPr/>
        </p:nvGraphicFramePr>
        <p:xfrm>
          <a:off x="548640" y="1463040"/>
          <a:ext cx="53949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losses chart" descr=""/>
          <p:cNvGraphicFramePr/>
          <p:nvPr/>
        </p:nvGraphicFramePr>
        <p:xfrm>
          <a:off x="6245352" y="146304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8" name="Text 3"/>
          <p:cNvSpPr txBox="1"/>
          <p:nvPr/>
        </p:nvSpPr>
        <p:spPr>
          <a:xfrm>
            <a:off x="548640" y="5852160"/>
            <a:ext cx="10972800" cy="274320"/>
          </a:xfrm>
          <a:prstGeom prst="rect">
            <a:avLst/>
          </a:prstGeom>
          <a:noFill/>
          <a:ln/>
        </p:spPr>
        <p:txBody>
          <a:bodyPr wrap="square" lIns="0" tIns="0" rIns="0" bIns="0" rtlCol="0" anchor="t"/>
          <a:lstStyle/>
          <a:p>
            <a:pPr indent="0" marL="0">
              <a:buNone/>
            </a:pPr>
            <a:r>
              <a:rPr lang="en-US" sz="1100" dirty="0">
                <a:solidFill>
                  <a:srgbClr val="5A6478"/>
                </a:solidFill>
              </a:rPr>
              <a:t>Source: Ministry of Home Affairs, written reply in the Rajya Sabha, 12 March 2025 (NCRP data)</a:t>
            </a:r>
            <a:endParaRPr lang="en-US" sz="11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Pune's senior citizens pay the highest price</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Aamir</a:t>
            </a:r>
            <a:endParaRPr lang="en-US" sz="1300" dirty="0"/>
          </a:p>
        </p:txBody>
      </p:sp>
      <p:sp>
        <p:nvSpPr>
          <p:cNvPr id="6" name="stat tile 1"/>
          <p:cNvSpPr/>
          <p:nvPr/>
        </p:nvSpPr>
        <p:spPr>
          <a:xfrm>
            <a:off x="548640" y="1554480"/>
            <a:ext cx="2606040" cy="2377440"/>
          </a:xfrm>
          <a:prstGeom prst="roundRect">
            <a:avLst>
              <a:gd name="adj" fmla="val 4615"/>
            </a:avLst>
          </a:prstGeom>
          <a:solidFill>
            <a:schemeClr val="bg2"/>
          </a:solidFill>
          <a:ln w="12700">
            <a:solidFill>
              <a:schemeClr val="bg2"/>
            </a:solidFill>
            <a:prstDash val="solid"/>
          </a:ln>
        </p:spPr>
      </p:sp>
      <p:sp>
        <p:nvSpPr>
          <p:cNvPr id="7" name="Text 4"/>
          <p:cNvSpPr txBox="1"/>
          <p:nvPr/>
        </p:nvSpPr>
        <p:spPr>
          <a:xfrm>
            <a:off x="731520" y="1783080"/>
            <a:ext cx="2286000" cy="9144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85</a:t>
            </a:r>
            <a:endParaRPr lang="en-US" sz="3600" dirty="0"/>
          </a:p>
        </p:txBody>
      </p:sp>
      <p:sp>
        <p:nvSpPr>
          <p:cNvPr id="8" name="Text 5"/>
          <p:cNvSpPr txBox="1"/>
          <p:nvPr/>
        </p:nvSpPr>
        <p:spPr>
          <a:xfrm>
            <a:off x="777240" y="2743200"/>
            <a:ext cx="2194560" cy="1005840"/>
          </a:xfrm>
          <a:prstGeom prst="rect">
            <a:avLst/>
          </a:prstGeom>
          <a:noFill/>
          <a:ln/>
        </p:spPr>
        <p:txBody>
          <a:bodyPr wrap="square" lIns="0" tIns="0" rIns="0" bIns="0" rtlCol="0" anchor="t"/>
          <a:lstStyle/>
          <a:p>
            <a:pPr indent="0" marL="0">
              <a:buNone/>
            </a:pPr>
            <a:r>
              <a:rPr lang="en-US" sz="1500" dirty="0">
                <a:solidFill>
                  <a:srgbClr val="5A6478"/>
                </a:solidFill>
              </a:rPr>
              <a:t>digital arrest cases against senior citizens in Pune, 2025</a:t>
            </a:r>
            <a:endParaRPr lang="en-US" sz="1500" dirty="0"/>
          </a:p>
        </p:txBody>
      </p:sp>
      <p:sp>
        <p:nvSpPr>
          <p:cNvPr id="9" name="stat tile 2"/>
          <p:cNvSpPr/>
          <p:nvPr/>
        </p:nvSpPr>
        <p:spPr>
          <a:xfrm>
            <a:off x="3364992" y="1554480"/>
            <a:ext cx="2606040" cy="2377440"/>
          </a:xfrm>
          <a:prstGeom prst="roundRect">
            <a:avLst>
              <a:gd name="adj" fmla="val 4615"/>
            </a:avLst>
          </a:prstGeom>
          <a:solidFill>
            <a:schemeClr val="bg2"/>
          </a:solidFill>
          <a:ln w="12700">
            <a:solidFill>
              <a:schemeClr val="bg2"/>
            </a:solidFill>
            <a:prstDash val="solid"/>
          </a:ln>
        </p:spPr>
      </p:sp>
      <p:sp>
        <p:nvSpPr>
          <p:cNvPr id="10" name="Text 7"/>
          <p:cNvSpPr txBox="1"/>
          <p:nvPr/>
        </p:nvSpPr>
        <p:spPr>
          <a:xfrm>
            <a:off x="3547872" y="1783080"/>
            <a:ext cx="2286000" cy="9144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₹53.52 cr</a:t>
            </a:r>
            <a:endParaRPr lang="en-US" sz="3600" dirty="0"/>
          </a:p>
        </p:txBody>
      </p:sp>
      <p:sp>
        <p:nvSpPr>
          <p:cNvPr id="11" name="Text 8"/>
          <p:cNvSpPr txBox="1"/>
          <p:nvPr/>
        </p:nvSpPr>
        <p:spPr>
          <a:xfrm>
            <a:off x="3593592" y="2743200"/>
            <a:ext cx="2194560" cy="1005840"/>
          </a:xfrm>
          <a:prstGeom prst="rect">
            <a:avLst/>
          </a:prstGeom>
          <a:noFill/>
          <a:ln/>
        </p:spPr>
        <p:txBody>
          <a:bodyPr wrap="square" lIns="0" tIns="0" rIns="0" bIns="0" rtlCol="0" anchor="t"/>
          <a:lstStyle/>
          <a:p>
            <a:pPr indent="0" marL="0">
              <a:buNone/>
            </a:pPr>
            <a:r>
              <a:rPr lang="en-US" sz="1500" dirty="0">
                <a:solidFill>
                  <a:srgbClr val="5A6478"/>
                </a:solidFill>
              </a:rPr>
              <a:t>lost by those senior citizens in 2025</a:t>
            </a:r>
            <a:endParaRPr lang="en-US" sz="1500" dirty="0"/>
          </a:p>
        </p:txBody>
      </p:sp>
      <p:sp>
        <p:nvSpPr>
          <p:cNvPr id="12" name="stat tile 3"/>
          <p:cNvSpPr/>
          <p:nvPr/>
        </p:nvSpPr>
        <p:spPr>
          <a:xfrm>
            <a:off x="6181344" y="1554480"/>
            <a:ext cx="2606040" cy="2377440"/>
          </a:xfrm>
          <a:prstGeom prst="roundRect">
            <a:avLst>
              <a:gd name="adj" fmla="val 4615"/>
            </a:avLst>
          </a:prstGeom>
          <a:solidFill>
            <a:schemeClr val="bg2"/>
          </a:solidFill>
          <a:ln w="12700">
            <a:solidFill>
              <a:schemeClr val="bg2"/>
            </a:solidFill>
            <a:prstDash val="solid"/>
          </a:ln>
        </p:spPr>
      </p:sp>
      <p:sp>
        <p:nvSpPr>
          <p:cNvPr id="13" name="Text 10"/>
          <p:cNvSpPr txBox="1"/>
          <p:nvPr/>
        </p:nvSpPr>
        <p:spPr>
          <a:xfrm>
            <a:off x="6364224" y="1783080"/>
            <a:ext cx="2286000" cy="9144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₹63 lakh</a:t>
            </a:r>
            <a:endParaRPr lang="en-US" sz="3600" dirty="0"/>
          </a:p>
        </p:txBody>
      </p:sp>
      <p:sp>
        <p:nvSpPr>
          <p:cNvPr id="14" name="Text 11"/>
          <p:cNvSpPr txBox="1"/>
          <p:nvPr/>
        </p:nvSpPr>
        <p:spPr>
          <a:xfrm>
            <a:off x="6409944" y="2743200"/>
            <a:ext cx="2194560" cy="1005840"/>
          </a:xfrm>
          <a:prstGeom prst="rect">
            <a:avLst/>
          </a:prstGeom>
          <a:noFill/>
          <a:ln/>
        </p:spPr>
        <p:txBody>
          <a:bodyPr wrap="square" lIns="0" tIns="0" rIns="0" bIns="0" rtlCol="0" anchor="t"/>
          <a:lstStyle/>
          <a:p>
            <a:pPr indent="0" marL="0">
              <a:buNone/>
            </a:pPr>
            <a:r>
              <a:rPr lang="en-US" sz="1500" dirty="0">
                <a:solidFill>
                  <a:srgbClr val="5A6478"/>
                </a:solidFill>
              </a:rPr>
              <a:t>average loss per case in Pune</a:t>
            </a:r>
            <a:endParaRPr lang="en-US" sz="1500" dirty="0"/>
          </a:p>
        </p:txBody>
      </p:sp>
      <p:sp>
        <p:nvSpPr>
          <p:cNvPr id="15" name="stat tile 4"/>
          <p:cNvSpPr/>
          <p:nvPr/>
        </p:nvSpPr>
        <p:spPr>
          <a:xfrm>
            <a:off x="8997696" y="1554480"/>
            <a:ext cx="2606040" cy="2377440"/>
          </a:xfrm>
          <a:prstGeom prst="roundRect">
            <a:avLst>
              <a:gd name="adj" fmla="val 4615"/>
            </a:avLst>
          </a:prstGeom>
          <a:solidFill>
            <a:schemeClr val="tx2"/>
          </a:solidFill>
          <a:ln w="12700">
            <a:solidFill>
              <a:schemeClr val="tx2"/>
            </a:solidFill>
            <a:prstDash val="solid"/>
          </a:ln>
        </p:spPr>
      </p:sp>
      <p:sp>
        <p:nvSpPr>
          <p:cNvPr id="16" name="Text 13"/>
          <p:cNvSpPr txBox="1"/>
          <p:nvPr/>
        </p:nvSpPr>
        <p:spPr>
          <a:xfrm>
            <a:off x="9180576" y="1783080"/>
            <a:ext cx="2286000" cy="9144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a:t>
            </a:r>
            <a:endParaRPr lang="en-US" sz="3600" dirty="0"/>
          </a:p>
        </p:txBody>
      </p:sp>
      <p:sp>
        <p:nvSpPr>
          <p:cNvPr id="17" name="Text 14"/>
          <p:cNvSpPr txBox="1"/>
          <p:nvPr/>
        </p:nvSpPr>
        <p:spPr>
          <a:xfrm>
            <a:off x="9226296" y="2743200"/>
            <a:ext cx="2194560" cy="1005840"/>
          </a:xfrm>
          <a:prstGeom prst="rect">
            <a:avLst/>
          </a:prstGeom>
          <a:noFill/>
          <a:ln/>
        </p:spPr>
        <p:txBody>
          <a:bodyPr wrap="square" lIns="0" tIns="0" rIns="0" bIns="0" rtlCol="0" anchor="t"/>
          <a:lstStyle/>
          <a:p>
            <a:pPr indent="0" marL="0">
              <a:buNone/>
            </a:pPr>
            <a:r>
              <a:rPr lang="en-US" sz="1500" dirty="0">
                <a:solidFill>
                  <a:srgbClr val="DCE3F0"/>
                </a:solidFill>
              </a:rPr>
              <a:t>our case compared with the city average</a:t>
            </a:r>
            <a:endParaRPr lang="en-US" sz="1500" dirty="0"/>
          </a:p>
        </p:txBody>
      </p:sp>
      <p:sp>
        <p:nvSpPr>
          <p:cNvPr id="18" name="reconstruction icon circle"/>
          <p:cNvSpPr/>
          <p:nvPr/>
        </p:nvSpPr>
        <p:spPr>
          <a:xfrm>
            <a:off x="548640" y="4434840"/>
            <a:ext cx="640080" cy="640080"/>
          </a:xfrm>
          <a:prstGeom prst="ellipse">
            <a:avLst/>
          </a:prstGeom>
          <a:solidFill>
            <a:schemeClr val="accent1"/>
          </a:solidFill>
          <a:ln w="12700">
            <a:solidFill>
              <a:schemeClr val="accent1"/>
            </a:solidFill>
            <a:prstDash val="solid"/>
          </a:ln>
        </p:spPr>
      </p:sp>
      <p:pic>
        <p:nvPicPr>
          <p:cNvPr id="19" name="reconstruction icon" descr="reconstruction icon">    </p:cNvPr>
          <p:cNvPicPr>
            <a:picLocks noChangeAspect="1"/>
          </p:cNvPicPr>
          <p:nvPr/>
        </p:nvPicPr>
        <p:blipFill>
          <a:blip r:embed="rId1"/>
          <a:stretch>
            <a:fillRect/>
          </a:stretch>
        </p:blipFill>
        <p:spPr>
          <a:xfrm>
            <a:off x="708660" y="4594860"/>
            <a:ext cx="320040" cy="320040"/>
          </a:xfrm>
          <a:prstGeom prst="rect">
            <a:avLst/>
          </a:prstGeom>
        </p:spPr>
      </p:pic>
      <p:sp>
        <p:nvSpPr>
          <p:cNvPr id="20" name="Text 16"/>
          <p:cNvSpPr txBox="1"/>
          <p:nvPr/>
        </p:nvSpPr>
        <p:spPr>
          <a:xfrm>
            <a:off x="1371600" y="4407408"/>
            <a:ext cx="9601200" cy="365760"/>
          </a:xfrm>
          <a:prstGeom prst="rect">
            <a:avLst/>
          </a:prstGeom>
          <a:noFill/>
          <a:ln/>
        </p:spPr>
        <p:txBody>
          <a:bodyPr wrap="square" lIns="0" tIns="0" rIns="0" bIns="0" rtlCol="0" anchor="t"/>
          <a:lstStyle/>
          <a:p>
            <a:pPr indent="0" marL="0">
              <a:buNone/>
            </a:pPr>
            <a:r>
              <a:rPr lang="en-US" sz="1800" b="1" dirty="0">
                <a:solidFill>
                  <a:schemeClr val="tx2"/>
                </a:solidFill>
              </a:rPr>
              <a:t>How we handled the missing details</a:t>
            </a:r>
            <a:endParaRPr lang="en-US" sz="1800" dirty="0"/>
          </a:p>
        </p:txBody>
      </p:sp>
      <p:sp>
        <p:nvSpPr>
          <p:cNvPr id="21" name="Text 17"/>
          <p:cNvSpPr txBox="1"/>
          <p:nvPr/>
        </p:nvSpPr>
        <p:spPr>
          <a:xfrm>
            <a:off x="1371600" y="4800600"/>
            <a:ext cx="10149840" cy="914400"/>
          </a:xfrm>
          <a:prstGeom prst="rect">
            <a:avLst/>
          </a:prstGeom>
          <a:noFill/>
          <a:ln/>
        </p:spPr>
        <p:txBody>
          <a:bodyPr wrap="square" lIns="0" tIns="0" rIns="0" bIns="0" rtlCol="0" anchor="t"/>
          <a:lstStyle/>
          <a:p>
            <a:pPr indent="0" marL="0">
              <a:buNone/>
            </a:pPr>
            <a:r>
              <a:rPr lang="en-US" sz="1600" dirty="0">
                <a:solidFill>
                  <a:srgbClr val="5A6478"/>
                </a:solidFill>
              </a:rPr>
              <a:t>Public reporting on this exact complaint is limited. We kept the facts from our topic fixed (place, month, age, ₹4.37 crore, phone + WhatsApp) and rebuilt the rest from comparable Pune cases. Every reconstructed detail is marked in the report.</a:t>
            </a:r>
            <a:endParaRPr lang="en-US" sz="1600" dirty="0"/>
          </a:p>
        </p:txBody>
      </p:sp>
      <p:sp>
        <p:nvSpPr>
          <p:cNvPr id="22" name="Text 18"/>
          <p:cNvSpPr txBox="1"/>
          <p:nvPr/>
        </p:nvSpPr>
        <p:spPr>
          <a:xfrm>
            <a:off x="548640" y="5943600"/>
            <a:ext cx="10972800" cy="274320"/>
          </a:xfrm>
          <a:prstGeom prst="rect">
            <a:avLst/>
          </a:prstGeom>
          <a:noFill/>
          <a:ln/>
        </p:spPr>
        <p:txBody>
          <a:bodyPr wrap="square" lIns="0" tIns="0" rIns="0" bIns="0" rtlCol="0" anchor="t"/>
          <a:lstStyle/>
          <a:p>
            <a:pPr indent="0" marL="0">
              <a:buNone/>
            </a:pPr>
            <a:r>
              <a:rPr lang="en-US" sz="1100" dirty="0">
                <a:solidFill>
                  <a:srgbClr val="5A6478"/>
                </a:solidFill>
              </a:rPr>
              <a:t>Source: Pune Cyber Police data via Punekar News, 21 Sep 2026</a:t>
            </a:r>
            <a:endParaRPr lang="en-US" sz="11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Problem statement and objectives</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Aamir</a:t>
            </a:r>
            <a:endParaRPr lang="en-US" sz="1300" dirty="0"/>
          </a:p>
        </p:txBody>
      </p:sp>
      <p:sp>
        <p:nvSpPr>
          <p:cNvPr id="6" name="problem card"/>
          <p:cNvSpPr/>
          <p:nvPr/>
        </p:nvSpPr>
        <p:spPr>
          <a:xfrm>
            <a:off x="548640" y="1508760"/>
            <a:ext cx="5120640" cy="4480560"/>
          </a:xfrm>
          <a:prstGeom prst="roundRect">
            <a:avLst>
              <a:gd name="adj" fmla="val 2449"/>
            </a:avLst>
          </a:prstGeom>
          <a:solidFill>
            <a:schemeClr val="bg2"/>
          </a:solidFill>
          <a:ln w="12700">
            <a:solidFill>
              <a:schemeClr val="bg2"/>
            </a:solidFill>
            <a:prstDash val="solid"/>
          </a:ln>
        </p:spPr>
      </p:sp>
      <p:sp>
        <p:nvSpPr>
          <p:cNvPr id="7" name="Text 4"/>
          <p:cNvSpPr txBox="1"/>
          <p:nvPr/>
        </p:nvSpPr>
        <p:spPr>
          <a:xfrm>
            <a:off x="868680" y="1783080"/>
            <a:ext cx="45720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THE PROBLEM</a:t>
            </a:r>
            <a:endParaRPr lang="en-US" sz="1400" dirty="0"/>
          </a:p>
        </p:txBody>
      </p:sp>
      <p:sp>
        <p:nvSpPr>
          <p:cNvPr id="8" name="Text 5"/>
          <p:cNvSpPr txBox="1"/>
          <p:nvPr/>
        </p:nvSpPr>
        <p:spPr>
          <a:xfrm>
            <a:off x="868680" y="2194560"/>
            <a:ext cx="4526280" cy="1828800"/>
          </a:xfrm>
          <a:prstGeom prst="rect">
            <a:avLst/>
          </a:prstGeom>
          <a:noFill/>
          <a:ln/>
        </p:spPr>
        <p:txBody>
          <a:bodyPr wrap="square" lIns="0" tIns="0" rIns="0" bIns="0" rtlCol="0" anchor="t"/>
          <a:lstStyle/>
          <a:p>
            <a:pPr indent="0" marL="0">
              <a:buNone/>
            </a:pPr>
            <a:r>
              <a:rPr lang="en-US" sz="2200" dirty="0">
                <a:solidFill>
                  <a:schemeClr val="tx2"/>
                </a:solidFill>
                <a:latin typeface="Cambria" pitchFamily="34" charset="0"/>
                <a:ea typeface="Cambria" pitchFamily="34" charset="-122"/>
                <a:cs typeface="Cambria" pitchFamily="34" charset="-120"/>
              </a:rPr>
              <a:t>A senior citizen was persuaded, using only a phone and WhatsApp, to send away ₹4.37 crore over several days, and nobody in the chain stopped it.</a:t>
            </a:r>
            <a:endParaRPr lang="en-US" sz="2200" dirty="0"/>
          </a:p>
        </p:txBody>
      </p:sp>
      <p:sp>
        <p:nvSpPr>
          <p:cNvPr id="9" name="Text 6"/>
          <p:cNvSpPr txBox="1"/>
          <p:nvPr/>
        </p:nvSpPr>
        <p:spPr>
          <a:xfrm>
            <a:off x="868680" y="4114800"/>
            <a:ext cx="4526280" cy="1645920"/>
          </a:xfrm>
          <a:prstGeom prst="rect">
            <a:avLst/>
          </a:prstGeom>
          <a:noFill/>
          <a:ln/>
        </p:spPr>
        <p:txBody>
          <a:bodyPr wrap="square" lIns="0" tIns="0" rIns="0" bIns="0" rtlCol="0" anchor="t"/>
          <a:lstStyle/>
          <a:p>
            <a:pPr indent="0" marL="0">
              <a:buNone/>
            </a:pPr>
            <a:r>
              <a:rPr lang="en-US" sz="1500" dirty="0">
                <a:solidFill>
                  <a:srgbClr val="5A6478"/>
                </a:solidFill>
              </a:rPr>
              <a:t>Not one technical flaw, but a chain of failures: identity could not be verified, she was isolated from family, and out-of-character transfers went through.</a:t>
            </a:r>
            <a:endParaRPr lang="en-US" sz="1500" dirty="0"/>
          </a:p>
        </p:txBody>
      </p:sp>
      <p:sp>
        <p:nvSpPr>
          <p:cNvPr id="10" name="objective icon 1 circle"/>
          <p:cNvSpPr/>
          <p:nvPr/>
        </p:nvSpPr>
        <p:spPr>
          <a:xfrm>
            <a:off x="6172200" y="1600200"/>
            <a:ext cx="685800" cy="685800"/>
          </a:xfrm>
          <a:prstGeom prst="ellipse">
            <a:avLst/>
          </a:prstGeom>
          <a:solidFill>
            <a:schemeClr val="tx2"/>
          </a:solidFill>
          <a:ln w="12700">
            <a:solidFill>
              <a:schemeClr val="tx2"/>
            </a:solidFill>
            <a:prstDash val="solid"/>
          </a:ln>
        </p:spPr>
      </p:sp>
      <p:pic>
        <p:nvPicPr>
          <p:cNvPr id="11" name="objective icon 1" descr="objective icon 1">    </p:cNvPr>
          <p:cNvPicPr>
            <a:picLocks noChangeAspect="1"/>
          </p:cNvPicPr>
          <p:nvPr/>
        </p:nvPicPr>
        <p:blipFill>
          <a:blip r:embed="rId1"/>
          <a:stretch>
            <a:fillRect/>
          </a:stretch>
        </p:blipFill>
        <p:spPr>
          <a:xfrm>
            <a:off x="6343650" y="1771650"/>
            <a:ext cx="342900" cy="342900"/>
          </a:xfrm>
          <a:prstGeom prst="rect">
            <a:avLst/>
          </a:prstGeom>
        </p:spPr>
      </p:pic>
      <p:sp>
        <p:nvSpPr>
          <p:cNvPr id="12" name="Text 8"/>
          <p:cNvSpPr txBox="1"/>
          <p:nvPr/>
        </p:nvSpPr>
        <p:spPr>
          <a:xfrm>
            <a:off x="7086600" y="1645920"/>
            <a:ext cx="4572000" cy="640080"/>
          </a:xfrm>
          <a:prstGeom prst="rect">
            <a:avLst/>
          </a:prstGeom>
          <a:noFill/>
          <a:ln/>
        </p:spPr>
        <p:txBody>
          <a:bodyPr wrap="square" lIns="0" tIns="0" rIns="0" bIns="0" rtlCol="0" anchor="ctr"/>
          <a:lstStyle/>
          <a:p>
            <a:pPr indent="0" marL="0">
              <a:buNone/>
            </a:pPr>
            <a:r>
              <a:rPr lang="en-US" sz="1800" b="1" dirty="0">
                <a:solidFill>
                  <a:schemeClr val="tx2"/>
                </a:solidFill>
              </a:rPr>
              <a:t>Reconstruct </a:t>
            </a:r>
            <a:pPr indent="0" marL="0">
              <a:buNone/>
            </a:pPr>
            <a:r>
              <a:rPr lang="en-US" sz="1800" dirty="0">
                <a:solidFill>
                  <a:schemeClr val="tx1"/>
                </a:solidFill>
              </a:rPr>
              <a:t>the attack as a stage-by-stage kill chain</a:t>
            </a:r>
            <a:endParaRPr lang="en-US" sz="1800" dirty="0"/>
          </a:p>
        </p:txBody>
      </p:sp>
      <p:sp>
        <p:nvSpPr>
          <p:cNvPr id="13" name="objective icon 2 circle"/>
          <p:cNvSpPr/>
          <p:nvPr/>
        </p:nvSpPr>
        <p:spPr>
          <a:xfrm>
            <a:off x="6172200" y="2679192"/>
            <a:ext cx="685800" cy="685800"/>
          </a:xfrm>
          <a:prstGeom prst="ellipse">
            <a:avLst/>
          </a:prstGeom>
          <a:solidFill>
            <a:schemeClr val="tx2"/>
          </a:solidFill>
          <a:ln w="12700">
            <a:solidFill>
              <a:schemeClr val="tx2"/>
            </a:solidFill>
            <a:prstDash val="solid"/>
          </a:ln>
        </p:spPr>
      </p:sp>
      <p:pic>
        <p:nvPicPr>
          <p:cNvPr id="14" name="objective icon 2" descr="objective icon 2">    </p:cNvPr>
          <p:cNvPicPr>
            <a:picLocks noChangeAspect="1"/>
          </p:cNvPicPr>
          <p:nvPr/>
        </p:nvPicPr>
        <p:blipFill>
          <a:blip r:embed="rId2"/>
          <a:stretch>
            <a:fillRect/>
          </a:stretch>
        </p:blipFill>
        <p:spPr>
          <a:xfrm>
            <a:off x="6343650" y="2850642"/>
            <a:ext cx="342900" cy="342900"/>
          </a:xfrm>
          <a:prstGeom prst="rect">
            <a:avLst/>
          </a:prstGeom>
        </p:spPr>
      </p:pic>
      <p:sp>
        <p:nvSpPr>
          <p:cNvPr id="15" name="Text 10"/>
          <p:cNvSpPr txBox="1"/>
          <p:nvPr/>
        </p:nvSpPr>
        <p:spPr>
          <a:xfrm>
            <a:off x="7086600" y="2724912"/>
            <a:ext cx="4572000" cy="640080"/>
          </a:xfrm>
          <a:prstGeom prst="rect">
            <a:avLst/>
          </a:prstGeom>
          <a:noFill/>
          <a:ln/>
        </p:spPr>
        <p:txBody>
          <a:bodyPr wrap="square" lIns="0" tIns="0" rIns="0" bIns="0" rtlCol="0" anchor="ctr"/>
          <a:lstStyle/>
          <a:p>
            <a:pPr indent="0" marL="0">
              <a:buNone/>
            </a:pPr>
            <a:r>
              <a:rPr lang="en-US" sz="1800" b="1" dirty="0">
                <a:solidFill>
                  <a:schemeClr val="tx2"/>
                </a:solidFill>
              </a:rPr>
              <a:t>Identify </a:t>
            </a:r>
            <a:pPr indent="0" marL="0">
              <a:buNone/>
            </a:pPr>
            <a:r>
              <a:rPr lang="en-US" sz="1800" dirty="0">
                <a:solidFill>
                  <a:schemeClr val="tx1"/>
                </a:solidFill>
              </a:rPr>
              <a:t>the controls that failed at each stage</a:t>
            </a:r>
            <a:endParaRPr lang="en-US" sz="1800" dirty="0"/>
          </a:p>
        </p:txBody>
      </p:sp>
      <p:sp>
        <p:nvSpPr>
          <p:cNvPr id="16" name="objective icon 3 circle"/>
          <p:cNvSpPr/>
          <p:nvPr/>
        </p:nvSpPr>
        <p:spPr>
          <a:xfrm>
            <a:off x="6172200" y="3758184"/>
            <a:ext cx="685800" cy="685800"/>
          </a:xfrm>
          <a:prstGeom prst="ellipse">
            <a:avLst/>
          </a:prstGeom>
          <a:solidFill>
            <a:schemeClr val="tx2"/>
          </a:solidFill>
          <a:ln w="12700">
            <a:solidFill>
              <a:schemeClr val="tx2"/>
            </a:solidFill>
            <a:prstDash val="solid"/>
          </a:ln>
        </p:spPr>
      </p:sp>
      <p:pic>
        <p:nvPicPr>
          <p:cNvPr id="17" name="objective icon 3" descr="objective icon 3">    </p:cNvPr>
          <p:cNvPicPr>
            <a:picLocks noChangeAspect="1"/>
          </p:cNvPicPr>
          <p:nvPr/>
        </p:nvPicPr>
        <p:blipFill>
          <a:blip r:embed="rId3"/>
          <a:stretch>
            <a:fillRect/>
          </a:stretch>
        </p:blipFill>
        <p:spPr>
          <a:xfrm>
            <a:off x="6343650" y="3929634"/>
            <a:ext cx="342900" cy="342900"/>
          </a:xfrm>
          <a:prstGeom prst="rect">
            <a:avLst/>
          </a:prstGeom>
        </p:spPr>
      </p:pic>
      <p:sp>
        <p:nvSpPr>
          <p:cNvPr id="18" name="Text 12"/>
          <p:cNvSpPr txBox="1"/>
          <p:nvPr/>
        </p:nvSpPr>
        <p:spPr>
          <a:xfrm>
            <a:off x="7086600" y="3803904"/>
            <a:ext cx="4572000" cy="640080"/>
          </a:xfrm>
          <a:prstGeom prst="rect">
            <a:avLst/>
          </a:prstGeom>
          <a:noFill/>
          <a:ln/>
        </p:spPr>
        <p:txBody>
          <a:bodyPr wrap="square" lIns="0" tIns="0" rIns="0" bIns="0" rtlCol="0" anchor="ctr"/>
          <a:lstStyle/>
          <a:p>
            <a:pPr indent="0" marL="0">
              <a:buNone/>
            </a:pPr>
            <a:r>
              <a:rPr lang="en-US" sz="1800" b="1" dirty="0">
                <a:solidFill>
                  <a:schemeClr val="tx2"/>
                </a:solidFill>
              </a:rPr>
              <a:t>Design </a:t>
            </a:r>
            <a:pPr indent="0" marL="0">
              <a:buNone/>
            </a:pPr>
            <a:r>
              <a:rPr lang="en-US" sz="1800" dirty="0">
                <a:solidFill>
                  <a:schemeClr val="tx1"/>
                </a:solidFill>
              </a:rPr>
              <a:t>DA-Shield, a layered defence framework</a:t>
            </a:r>
            <a:endParaRPr lang="en-US" sz="1800" dirty="0"/>
          </a:p>
        </p:txBody>
      </p:sp>
      <p:sp>
        <p:nvSpPr>
          <p:cNvPr id="19" name="objective icon 4 circle"/>
          <p:cNvSpPr/>
          <p:nvPr/>
        </p:nvSpPr>
        <p:spPr>
          <a:xfrm>
            <a:off x="6172200" y="4837176"/>
            <a:ext cx="685800" cy="685800"/>
          </a:xfrm>
          <a:prstGeom prst="ellipse">
            <a:avLst/>
          </a:prstGeom>
          <a:solidFill>
            <a:schemeClr val="tx2"/>
          </a:solidFill>
          <a:ln w="12700">
            <a:solidFill>
              <a:schemeClr val="tx2"/>
            </a:solidFill>
            <a:prstDash val="solid"/>
          </a:ln>
        </p:spPr>
      </p:sp>
      <p:pic>
        <p:nvPicPr>
          <p:cNvPr id="20" name="objective icon 4" descr="objective icon 4">    </p:cNvPr>
          <p:cNvPicPr>
            <a:picLocks noChangeAspect="1"/>
          </p:cNvPicPr>
          <p:nvPr/>
        </p:nvPicPr>
        <p:blipFill>
          <a:blip r:embed="rId4"/>
          <a:stretch>
            <a:fillRect/>
          </a:stretch>
        </p:blipFill>
        <p:spPr>
          <a:xfrm>
            <a:off x="6343650" y="5008626"/>
            <a:ext cx="342900" cy="342900"/>
          </a:xfrm>
          <a:prstGeom prst="rect">
            <a:avLst/>
          </a:prstGeom>
        </p:spPr>
      </p:pic>
      <p:sp>
        <p:nvSpPr>
          <p:cNvPr id="21" name="Text 14"/>
          <p:cNvSpPr txBox="1"/>
          <p:nvPr/>
        </p:nvSpPr>
        <p:spPr>
          <a:xfrm>
            <a:off x="7086600" y="4882896"/>
            <a:ext cx="4572000" cy="640080"/>
          </a:xfrm>
          <a:prstGeom prst="rect">
            <a:avLst/>
          </a:prstGeom>
          <a:noFill/>
          <a:ln/>
        </p:spPr>
        <p:txBody>
          <a:bodyPr wrap="square" lIns="0" tIns="0" rIns="0" bIns="0" rtlCol="0" anchor="ctr"/>
          <a:lstStyle/>
          <a:p>
            <a:pPr indent="0" marL="0">
              <a:buNone/>
            </a:pPr>
            <a:r>
              <a:rPr lang="en-US" sz="1800" b="1" dirty="0">
                <a:solidFill>
                  <a:schemeClr val="tx2"/>
                </a:solidFill>
              </a:rPr>
              <a:t>Build and test </a:t>
            </a:r>
            <a:pPr indent="0" marL="0">
              <a:buNone/>
            </a:pPr>
            <a:r>
              <a:rPr lang="en-US" sz="1800" dirty="0">
                <a:solidFill>
                  <a:schemeClr val="tx1"/>
                </a:solidFill>
              </a:rPr>
              <a:t>two DA-Shield modules in Python</a:t>
            </a:r>
            <a:endParaRPr lang="en-US" sz="18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the research tells us</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Arav</a:t>
            </a:r>
            <a:endParaRPr lang="en-US" sz="1300" dirty="0"/>
          </a:p>
        </p:txBody>
      </p:sp>
      <p:sp>
        <p:nvSpPr>
          <p:cNvPr id="6" name="literature card 1"/>
          <p:cNvSpPr/>
          <p:nvPr/>
        </p:nvSpPr>
        <p:spPr>
          <a:xfrm>
            <a:off x="548640" y="1463040"/>
            <a:ext cx="5440680" cy="1600200"/>
          </a:xfrm>
          <a:prstGeom prst="roundRect">
            <a:avLst>
              <a:gd name="adj" fmla="val 6857"/>
            </a:avLst>
          </a:prstGeom>
          <a:solidFill>
            <a:schemeClr val="bg2"/>
          </a:solidFill>
          <a:ln w="12700">
            <a:solidFill>
              <a:schemeClr val="bg2"/>
            </a:solidFill>
            <a:prstDash val="solid"/>
          </a:ln>
        </p:spPr>
      </p:sp>
      <p:sp>
        <p:nvSpPr>
          <p:cNvPr id="7" name="literature icon 1 circle"/>
          <p:cNvSpPr/>
          <p:nvPr/>
        </p:nvSpPr>
        <p:spPr>
          <a:xfrm>
            <a:off x="822960" y="1737360"/>
            <a:ext cx="640080" cy="640080"/>
          </a:xfrm>
          <a:prstGeom prst="ellipse">
            <a:avLst/>
          </a:prstGeom>
          <a:solidFill>
            <a:schemeClr val="tx2"/>
          </a:solidFill>
          <a:ln w="12700">
            <a:solidFill>
              <a:schemeClr val="tx2"/>
            </a:solidFill>
            <a:prstDash val="solid"/>
          </a:ln>
        </p:spPr>
      </p:sp>
      <p:pic>
        <p:nvPicPr>
          <p:cNvPr id="8" name="literature icon 1" descr="literature icon 1">    </p:cNvPr>
          <p:cNvPicPr>
            <a:picLocks noChangeAspect="1"/>
          </p:cNvPicPr>
          <p:nvPr/>
        </p:nvPicPr>
        <p:blipFill>
          <a:blip r:embed="rId1"/>
          <a:stretch>
            <a:fillRect/>
          </a:stretch>
        </p:blipFill>
        <p:spPr>
          <a:xfrm>
            <a:off x="982980" y="1897380"/>
            <a:ext cx="320040" cy="320040"/>
          </a:xfrm>
          <a:prstGeom prst="rect">
            <a:avLst/>
          </a:prstGeom>
        </p:spPr>
      </p:pic>
      <p:sp>
        <p:nvSpPr>
          <p:cNvPr id="9" name="Text 5"/>
          <p:cNvSpPr txBox="1"/>
          <p:nvPr/>
        </p:nvSpPr>
        <p:spPr>
          <a:xfrm>
            <a:off x="1645920" y="1691640"/>
            <a:ext cx="4160520" cy="365760"/>
          </a:xfrm>
          <a:prstGeom prst="rect">
            <a:avLst/>
          </a:prstGeom>
          <a:noFill/>
          <a:ln/>
        </p:spPr>
        <p:txBody>
          <a:bodyPr wrap="square" lIns="0" tIns="0" rIns="0" bIns="0" rtlCol="0" anchor="t"/>
          <a:lstStyle/>
          <a:p>
            <a:pPr indent="0" marL="0">
              <a:buNone/>
            </a:pPr>
            <a:r>
              <a:rPr lang="en-US" sz="1800" b="1" dirty="0">
                <a:solidFill>
                  <a:schemeClr val="tx2"/>
                </a:solidFill>
              </a:rPr>
              <a:t>Psychology of persuasion</a:t>
            </a:r>
            <a:endParaRPr lang="en-US" sz="1800" dirty="0"/>
          </a:p>
        </p:txBody>
      </p:sp>
      <p:sp>
        <p:nvSpPr>
          <p:cNvPr id="10" name="Text 6"/>
          <p:cNvSpPr txBox="1"/>
          <p:nvPr/>
        </p:nvSpPr>
        <p:spPr>
          <a:xfrm>
            <a:off x="1645920" y="2084832"/>
            <a:ext cx="4160520" cy="914400"/>
          </a:xfrm>
          <a:prstGeom prst="rect">
            <a:avLst/>
          </a:prstGeom>
          <a:noFill/>
          <a:ln/>
        </p:spPr>
        <p:txBody>
          <a:bodyPr wrap="square" lIns="0" tIns="0" rIns="0" bIns="0" rtlCol="0" anchor="t"/>
          <a:lstStyle/>
          <a:p>
            <a:pPr indent="0" marL="0">
              <a:buNone/>
            </a:pPr>
            <a:r>
              <a:rPr lang="en-US" sz="1500" dirty="0">
                <a:solidFill>
                  <a:srgbClr val="5A6478"/>
                </a:solidFill>
              </a:rPr>
              <a:t>Authority and urgency drive compliance (Cialdini). Systems must protect people who comply (Stajano &amp; Wilson).</a:t>
            </a:r>
            <a:endParaRPr lang="en-US" sz="1500" dirty="0"/>
          </a:p>
        </p:txBody>
      </p:sp>
      <p:sp>
        <p:nvSpPr>
          <p:cNvPr id="11" name="literature card 2"/>
          <p:cNvSpPr/>
          <p:nvPr/>
        </p:nvSpPr>
        <p:spPr>
          <a:xfrm>
            <a:off x="6190488" y="1463040"/>
            <a:ext cx="5440680" cy="1600200"/>
          </a:xfrm>
          <a:prstGeom prst="roundRect">
            <a:avLst>
              <a:gd name="adj" fmla="val 6857"/>
            </a:avLst>
          </a:prstGeom>
          <a:solidFill>
            <a:schemeClr val="bg2"/>
          </a:solidFill>
          <a:ln w="12700">
            <a:solidFill>
              <a:schemeClr val="bg2"/>
            </a:solidFill>
            <a:prstDash val="solid"/>
          </a:ln>
        </p:spPr>
      </p:sp>
      <p:sp>
        <p:nvSpPr>
          <p:cNvPr id="12" name="literature icon 2 circle"/>
          <p:cNvSpPr/>
          <p:nvPr/>
        </p:nvSpPr>
        <p:spPr>
          <a:xfrm>
            <a:off x="6464808" y="1737360"/>
            <a:ext cx="640080" cy="640080"/>
          </a:xfrm>
          <a:prstGeom prst="ellipse">
            <a:avLst/>
          </a:prstGeom>
          <a:solidFill>
            <a:schemeClr val="tx2"/>
          </a:solidFill>
          <a:ln w="12700">
            <a:solidFill>
              <a:schemeClr val="tx2"/>
            </a:solidFill>
            <a:prstDash val="solid"/>
          </a:ln>
        </p:spPr>
      </p:sp>
      <p:pic>
        <p:nvPicPr>
          <p:cNvPr id="13" name="literature icon 2" descr="literature icon 2">    </p:cNvPr>
          <p:cNvPicPr>
            <a:picLocks noChangeAspect="1"/>
          </p:cNvPicPr>
          <p:nvPr/>
        </p:nvPicPr>
        <p:blipFill>
          <a:blip r:embed="rId2"/>
          <a:stretch>
            <a:fillRect/>
          </a:stretch>
        </p:blipFill>
        <p:spPr>
          <a:xfrm>
            <a:off x="6624828" y="1897380"/>
            <a:ext cx="320040" cy="320040"/>
          </a:xfrm>
          <a:prstGeom prst="rect">
            <a:avLst/>
          </a:prstGeom>
        </p:spPr>
      </p:pic>
      <p:sp>
        <p:nvSpPr>
          <p:cNvPr id="14" name="Text 9"/>
          <p:cNvSpPr txBox="1"/>
          <p:nvPr/>
        </p:nvSpPr>
        <p:spPr>
          <a:xfrm>
            <a:off x="7287768" y="1691640"/>
            <a:ext cx="4160520" cy="365760"/>
          </a:xfrm>
          <a:prstGeom prst="rect">
            <a:avLst/>
          </a:prstGeom>
          <a:noFill/>
          <a:ln/>
        </p:spPr>
        <p:txBody>
          <a:bodyPr wrap="square" lIns="0" tIns="0" rIns="0" bIns="0" rtlCol="0" anchor="t"/>
          <a:lstStyle/>
          <a:p>
            <a:pPr indent="0" marL="0">
              <a:buNone/>
            </a:pPr>
            <a:r>
              <a:rPr lang="en-US" sz="1800" b="1" dirty="0">
                <a:solidFill>
                  <a:schemeClr val="tx2"/>
                </a:solidFill>
              </a:rPr>
              <a:t>Older adults</a:t>
            </a:r>
            <a:endParaRPr lang="en-US" sz="1800" dirty="0"/>
          </a:p>
        </p:txBody>
      </p:sp>
      <p:sp>
        <p:nvSpPr>
          <p:cNvPr id="15" name="Text 10"/>
          <p:cNvSpPr txBox="1"/>
          <p:nvPr/>
        </p:nvSpPr>
        <p:spPr>
          <a:xfrm>
            <a:off x="7287768" y="2084832"/>
            <a:ext cx="4160520" cy="914400"/>
          </a:xfrm>
          <a:prstGeom prst="rect">
            <a:avLst/>
          </a:prstGeom>
          <a:noFill/>
          <a:ln/>
        </p:spPr>
        <p:txBody>
          <a:bodyPr wrap="square" lIns="0" tIns="0" rIns="0" bIns="0" rtlCol="0" anchor="t"/>
          <a:lstStyle/>
          <a:p>
            <a:pPr indent="0" marL="0">
              <a:buNone/>
            </a:pPr>
            <a:r>
              <a:rPr lang="en-US" sz="1500" dirty="0">
                <a:solidFill>
                  <a:srgbClr val="5A6478"/>
                </a:solidFill>
              </a:rPr>
              <a:t>About 5.4% of older adults face fraud each year (Burnes et al.). Low social support raises risk (James et al.).</a:t>
            </a:r>
            <a:endParaRPr lang="en-US" sz="1500" dirty="0"/>
          </a:p>
        </p:txBody>
      </p:sp>
      <p:sp>
        <p:nvSpPr>
          <p:cNvPr id="16" name="literature card 3"/>
          <p:cNvSpPr/>
          <p:nvPr/>
        </p:nvSpPr>
        <p:spPr>
          <a:xfrm>
            <a:off x="548640" y="3246120"/>
            <a:ext cx="5440680" cy="1600200"/>
          </a:xfrm>
          <a:prstGeom prst="roundRect">
            <a:avLst>
              <a:gd name="adj" fmla="val 6857"/>
            </a:avLst>
          </a:prstGeom>
          <a:solidFill>
            <a:schemeClr val="bg2"/>
          </a:solidFill>
          <a:ln w="12700">
            <a:solidFill>
              <a:schemeClr val="bg2"/>
            </a:solidFill>
            <a:prstDash val="solid"/>
          </a:ln>
        </p:spPr>
      </p:sp>
      <p:sp>
        <p:nvSpPr>
          <p:cNvPr id="17" name="literature icon 3 circle"/>
          <p:cNvSpPr/>
          <p:nvPr/>
        </p:nvSpPr>
        <p:spPr>
          <a:xfrm>
            <a:off x="822960" y="3520440"/>
            <a:ext cx="640080" cy="640080"/>
          </a:xfrm>
          <a:prstGeom prst="ellipse">
            <a:avLst/>
          </a:prstGeom>
          <a:solidFill>
            <a:schemeClr val="tx2"/>
          </a:solidFill>
          <a:ln w="12700">
            <a:solidFill>
              <a:schemeClr val="tx2"/>
            </a:solidFill>
            <a:prstDash val="solid"/>
          </a:ln>
        </p:spPr>
      </p:sp>
      <p:pic>
        <p:nvPicPr>
          <p:cNvPr id="18" name="literature icon 3" descr="literature icon 3">    </p:cNvPr>
          <p:cNvPicPr>
            <a:picLocks noChangeAspect="1"/>
          </p:cNvPicPr>
          <p:nvPr/>
        </p:nvPicPr>
        <p:blipFill>
          <a:blip r:embed="rId3"/>
          <a:stretch>
            <a:fillRect/>
          </a:stretch>
        </p:blipFill>
        <p:spPr>
          <a:xfrm>
            <a:off x="982980" y="3680460"/>
            <a:ext cx="320040" cy="320040"/>
          </a:xfrm>
          <a:prstGeom prst="rect">
            <a:avLst/>
          </a:prstGeom>
        </p:spPr>
      </p:pic>
      <p:sp>
        <p:nvSpPr>
          <p:cNvPr id="19" name="Text 13"/>
          <p:cNvSpPr txBox="1"/>
          <p:nvPr/>
        </p:nvSpPr>
        <p:spPr>
          <a:xfrm>
            <a:off x="1645920" y="3474720"/>
            <a:ext cx="4160520" cy="365760"/>
          </a:xfrm>
          <a:prstGeom prst="rect">
            <a:avLst/>
          </a:prstGeom>
          <a:noFill/>
          <a:ln/>
        </p:spPr>
        <p:txBody>
          <a:bodyPr wrap="square" lIns="0" tIns="0" rIns="0" bIns="0" rtlCol="0" anchor="t"/>
          <a:lstStyle/>
          <a:p>
            <a:pPr indent="0" marL="0">
              <a:buNone/>
            </a:pPr>
            <a:r>
              <a:rPr lang="en-US" sz="1800" b="1" dirty="0">
                <a:solidFill>
                  <a:schemeClr val="tx2"/>
                </a:solidFill>
              </a:rPr>
              <a:t>Telecom</a:t>
            </a:r>
            <a:endParaRPr lang="en-US" sz="1800" dirty="0"/>
          </a:p>
        </p:txBody>
      </p:sp>
      <p:sp>
        <p:nvSpPr>
          <p:cNvPr id="20" name="Text 14"/>
          <p:cNvSpPr txBox="1"/>
          <p:nvPr/>
        </p:nvSpPr>
        <p:spPr>
          <a:xfrm>
            <a:off x="1645920" y="3867912"/>
            <a:ext cx="4160520" cy="914400"/>
          </a:xfrm>
          <a:prstGeom prst="rect">
            <a:avLst/>
          </a:prstGeom>
          <a:noFill/>
          <a:ln/>
        </p:spPr>
        <p:txBody>
          <a:bodyPr wrap="square" lIns="0" tIns="0" rIns="0" bIns="0" rtlCol="0" anchor="t"/>
          <a:lstStyle/>
          <a:p>
            <a:pPr indent="0" marL="0">
              <a:buNone/>
            </a:pPr>
            <a:r>
              <a:rPr lang="en-US" sz="1500" dirty="0">
                <a:solidFill>
                  <a:srgbClr val="5A6478"/>
                </a:solidFill>
              </a:rPr>
              <a:t>Caller ID is easy to fake (Tu et al.). DoT blocks ~90% of spoofed calls, so scammers moved to WhatsApp.</a:t>
            </a:r>
            <a:endParaRPr lang="en-US" sz="1500" dirty="0"/>
          </a:p>
        </p:txBody>
      </p:sp>
      <p:sp>
        <p:nvSpPr>
          <p:cNvPr id="21" name="literature card 4"/>
          <p:cNvSpPr/>
          <p:nvPr/>
        </p:nvSpPr>
        <p:spPr>
          <a:xfrm>
            <a:off x="6190488" y="3246120"/>
            <a:ext cx="5440680" cy="1600200"/>
          </a:xfrm>
          <a:prstGeom prst="roundRect">
            <a:avLst>
              <a:gd name="adj" fmla="val 6857"/>
            </a:avLst>
          </a:prstGeom>
          <a:solidFill>
            <a:schemeClr val="bg2"/>
          </a:solidFill>
          <a:ln w="12700">
            <a:solidFill>
              <a:schemeClr val="bg2"/>
            </a:solidFill>
            <a:prstDash val="solid"/>
          </a:ln>
        </p:spPr>
      </p:sp>
      <p:sp>
        <p:nvSpPr>
          <p:cNvPr id="22" name="literature icon 4 circle"/>
          <p:cNvSpPr/>
          <p:nvPr/>
        </p:nvSpPr>
        <p:spPr>
          <a:xfrm>
            <a:off x="6464808" y="3520440"/>
            <a:ext cx="640080" cy="640080"/>
          </a:xfrm>
          <a:prstGeom prst="ellipse">
            <a:avLst/>
          </a:prstGeom>
          <a:solidFill>
            <a:schemeClr val="tx2"/>
          </a:solidFill>
          <a:ln w="12700">
            <a:solidFill>
              <a:schemeClr val="tx2"/>
            </a:solidFill>
            <a:prstDash val="solid"/>
          </a:ln>
        </p:spPr>
      </p:sp>
      <p:pic>
        <p:nvPicPr>
          <p:cNvPr id="23" name="literature icon 4" descr="literature icon 4">    </p:cNvPr>
          <p:cNvPicPr>
            <a:picLocks noChangeAspect="1"/>
          </p:cNvPicPr>
          <p:nvPr/>
        </p:nvPicPr>
        <p:blipFill>
          <a:blip r:embed="rId4"/>
          <a:stretch>
            <a:fillRect/>
          </a:stretch>
        </p:blipFill>
        <p:spPr>
          <a:xfrm>
            <a:off x="6624828" y="3680460"/>
            <a:ext cx="320040" cy="320040"/>
          </a:xfrm>
          <a:prstGeom prst="rect">
            <a:avLst/>
          </a:prstGeom>
        </p:spPr>
      </p:pic>
      <p:sp>
        <p:nvSpPr>
          <p:cNvPr id="24" name="Text 17"/>
          <p:cNvSpPr txBox="1"/>
          <p:nvPr/>
        </p:nvSpPr>
        <p:spPr>
          <a:xfrm>
            <a:off x="7287768" y="3474720"/>
            <a:ext cx="4160520" cy="365760"/>
          </a:xfrm>
          <a:prstGeom prst="rect">
            <a:avLst/>
          </a:prstGeom>
          <a:noFill/>
          <a:ln/>
        </p:spPr>
        <p:txBody>
          <a:bodyPr wrap="square" lIns="0" tIns="0" rIns="0" bIns="0" rtlCol="0" anchor="t"/>
          <a:lstStyle/>
          <a:p>
            <a:pPr indent="0" marL="0">
              <a:buNone/>
            </a:pPr>
            <a:r>
              <a:rPr lang="en-US" sz="1800" b="1" dirty="0">
                <a:solidFill>
                  <a:schemeClr val="tx2"/>
                </a:solidFill>
              </a:rPr>
              <a:t>Banking and law</a:t>
            </a:r>
            <a:endParaRPr lang="en-US" sz="1800" dirty="0"/>
          </a:p>
        </p:txBody>
      </p:sp>
      <p:sp>
        <p:nvSpPr>
          <p:cNvPr id="25" name="Text 18"/>
          <p:cNvSpPr txBox="1"/>
          <p:nvPr/>
        </p:nvSpPr>
        <p:spPr>
          <a:xfrm>
            <a:off x="7287768" y="3867912"/>
            <a:ext cx="4160520" cy="914400"/>
          </a:xfrm>
          <a:prstGeom prst="rect">
            <a:avLst/>
          </a:prstGeom>
          <a:noFill/>
          <a:ln/>
        </p:spPr>
        <p:txBody>
          <a:bodyPr wrap="square" lIns="0" tIns="0" rIns="0" bIns="0" rtlCol="0" anchor="t"/>
          <a:lstStyle/>
          <a:p>
            <a:pPr indent="0" marL="0">
              <a:buNone/>
            </a:pPr>
            <a:r>
              <a:rPr lang="en-US" sz="1500" dirty="0">
                <a:solidFill>
                  <a:srgbClr val="5A6478"/>
                </a:solidFill>
              </a:rPr>
              <a:t>RBI's MuleHunter.AI flags receiving accounts. Supreme Court ordered a nationwide CBI probe (Dec 2025).</a:t>
            </a:r>
            <a:endParaRPr lang="en-US" sz="1500" dirty="0"/>
          </a:p>
        </p:txBody>
      </p:sp>
      <p:sp>
        <p:nvSpPr>
          <p:cNvPr id="26" name="gap banner"/>
          <p:cNvSpPr/>
          <p:nvPr/>
        </p:nvSpPr>
        <p:spPr>
          <a:xfrm>
            <a:off x="548640" y="5074920"/>
            <a:ext cx="11082528" cy="960120"/>
          </a:xfrm>
          <a:prstGeom prst="roundRect">
            <a:avLst>
              <a:gd name="adj" fmla="val 11429"/>
            </a:avLst>
          </a:prstGeom>
          <a:solidFill>
            <a:schemeClr val="tx2"/>
          </a:solidFill>
          <a:ln w="12700">
            <a:solidFill>
              <a:schemeClr val="tx2"/>
            </a:solidFill>
            <a:prstDash val="solid"/>
          </a:ln>
        </p:spPr>
      </p:sp>
      <p:sp>
        <p:nvSpPr>
          <p:cNvPr id="27" name="gap icon circle"/>
          <p:cNvSpPr/>
          <p:nvPr/>
        </p:nvSpPr>
        <p:spPr>
          <a:xfrm>
            <a:off x="777240" y="5230368"/>
            <a:ext cx="640080" cy="640080"/>
          </a:xfrm>
          <a:prstGeom prst="ellipse">
            <a:avLst/>
          </a:prstGeom>
          <a:solidFill>
            <a:schemeClr val="accent1"/>
          </a:solidFill>
          <a:ln w="12700">
            <a:solidFill>
              <a:schemeClr val="accent1"/>
            </a:solidFill>
            <a:prstDash val="solid"/>
          </a:ln>
        </p:spPr>
      </p:sp>
      <p:pic>
        <p:nvPicPr>
          <p:cNvPr id="28" name="gap icon" descr="gap icon">    </p:cNvPr>
          <p:cNvPicPr>
            <a:picLocks noChangeAspect="1"/>
          </p:cNvPicPr>
          <p:nvPr/>
        </p:nvPicPr>
        <p:blipFill>
          <a:blip r:embed="rId5"/>
          <a:stretch>
            <a:fillRect/>
          </a:stretch>
        </p:blipFill>
        <p:spPr>
          <a:xfrm>
            <a:off x="937260" y="5390388"/>
            <a:ext cx="320040" cy="320040"/>
          </a:xfrm>
          <a:prstGeom prst="rect">
            <a:avLst/>
          </a:prstGeom>
        </p:spPr>
      </p:pic>
      <p:sp>
        <p:nvSpPr>
          <p:cNvPr id="29" name="Text 21"/>
          <p:cNvSpPr txBox="1"/>
          <p:nvPr/>
        </p:nvSpPr>
        <p:spPr>
          <a:xfrm>
            <a:off x="1645920" y="5074920"/>
            <a:ext cx="9784080" cy="960120"/>
          </a:xfrm>
          <a:prstGeom prst="rect">
            <a:avLst/>
          </a:prstGeom>
          <a:noFill/>
          <a:ln/>
        </p:spPr>
        <p:txBody>
          <a:bodyPr wrap="square" lIns="0" tIns="0" rIns="0" bIns="0" rtlCol="0" anchor="ctr"/>
          <a:lstStyle/>
          <a:p>
            <a:pPr indent="0" marL="0">
              <a:buNone/>
            </a:pPr>
            <a:r>
              <a:rPr lang="en-US" sz="1800" b="1" dirty="0">
                <a:solidFill>
                  <a:schemeClr val="accent1"/>
                </a:solidFill>
              </a:rPr>
              <a:t>The gap: </a:t>
            </a:r>
            <a:pPr indent="0" marL="0">
              <a:buNone/>
            </a:pPr>
            <a:r>
              <a:rPr lang="en-US" sz="1800" dirty="0">
                <a:solidFill>
                  <a:schemeClr val="bg1"/>
                </a:solidFill>
              </a:rPr>
              <a:t>almost no work focuses on the victim's own bank, at the moment she is sending the money.</a:t>
            </a:r>
            <a:endParaRPr lang="en-US" sz="18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Six stages of a digital arrest</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Arav</a:t>
            </a:r>
            <a:endParaRPr lang="en-US" sz="1300" dirty="0"/>
          </a:p>
        </p:txBody>
      </p:sp>
      <p:sp>
        <p:nvSpPr>
          <p:cNvPr id="6" name="stage card 1"/>
          <p:cNvSpPr/>
          <p:nvPr/>
        </p:nvSpPr>
        <p:spPr>
          <a:xfrm>
            <a:off x="548640" y="1508760"/>
            <a:ext cx="1691640" cy="3520440"/>
          </a:xfrm>
          <a:prstGeom prst="roundRect">
            <a:avLst>
              <a:gd name="adj" fmla="val 6486"/>
            </a:avLst>
          </a:prstGeom>
          <a:solidFill>
            <a:schemeClr val="bg2"/>
          </a:solidFill>
          <a:ln w="12700">
            <a:solidFill>
              <a:schemeClr val="bg2"/>
            </a:solidFill>
            <a:prstDash val="solid"/>
          </a:ln>
        </p:spPr>
      </p:sp>
      <p:sp>
        <p:nvSpPr>
          <p:cNvPr id="7" name="stage icon 1 circle"/>
          <p:cNvSpPr/>
          <p:nvPr/>
        </p:nvSpPr>
        <p:spPr>
          <a:xfrm>
            <a:off x="1005840" y="1783080"/>
            <a:ext cx="777240" cy="777240"/>
          </a:xfrm>
          <a:prstGeom prst="ellipse">
            <a:avLst/>
          </a:prstGeom>
          <a:solidFill>
            <a:schemeClr val="tx2"/>
          </a:solidFill>
          <a:ln w="12700">
            <a:solidFill>
              <a:schemeClr val="tx2"/>
            </a:solidFill>
            <a:prstDash val="solid"/>
          </a:ln>
        </p:spPr>
      </p:sp>
      <p:pic>
        <p:nvPicPr>
          <p:cNvPr id="8" name="stage icon 1" descr="stage icon 1">    </p:cNvPr>
          <p:cNvPicPr>
            <a:picLocks noChangeAspect="1"/>
          </p:cNvPicPr>
          <p:nvPr/>
        </p:nvPicPr>
        <p:blipFill>
          <a:blip r:embed="rId1"/>
          <a:stretch>
            <a:fillRect/>
          </a:stretch>
        </p:blipFill>
        <p:spPr>
          <a:xfrm>
            <a:off x="1200150" y="1977390"/>
            <a:ext cx="388620" cy="388620"/>
          </a:xfrm>
          <a:prstGeom prst="rect">
            <a:avLst/>
          </a:prstGeom>
        </p:spPr>
      </p:pic>
      <p:sp>
        <p:nvSpPr>
          <p:cNvPr id="9" name="Text 5"/>
          <p:cNvSpPr txBox="1"/>
          <p:nvPr/>
        </p:nvSpPr>
        <p:spPr>
          <a:xfrm>
            <a:off x="685800" y="2743200"/>
            <a:ext cx="1417320" cy="457200"/>
          </a:xfrm>
          <a:prstGeom prst="rect">
            <a:avLst/>
          </a:prstGeom>
          <a:noFill/>
          <a:ln/>
        </p:spPr>
        <p:txBody>
          <a:bodyPr wrap="square" lIns="0" tIns="0" rIns="0" bIns="0" rtlCol="0" anchor="t"/>
          <a:lstStyle/>
          <a:p>
            <a:pPr algn="ctr" indent="0" marL="0">
              <a:buNone/>
            </a:pPr>
            <a:r>
              <a:rPr lang="en-US" sz="2800" b="1" dirty="0">
                <a:solidFill>
                  <a:srgbClr val="5A6478"/>
                </a:solidFill>
                <a:latin typeface="Cambria" pitchFamily="34" charset="0"/>
                <a:ea typeface="Cambria" pitchFamily="34" charset="-122"/>
                <a:cs typeface="Cambria" pitchFamily="34" charset="-120"/>
              </a:rPr>
              <a:t>1</a:t>
            </a:r>
            <a:endParaRPr lang="en-US" sz="2800" dirty="0"/>
          </a:p>
        </p:txBody>
      </p:sp>
      <p:sp>
        <p:nvSpPr>
          <p:cNvPr id="10" name="Text 6"/>
          <p:cNvSpPr txBox="1"/>
          <p:nvPr/>
        </p:nvSpPr>
        <p:spPr>
          <a:xfrm>
            <a:off x="640080" y="3200400"/>
            <a:ext cx="1508760" cy="411480"/>
          </a:xfrm>
          <a:prstGeom prst="rect">
            <a:avLst/>
          </a:prstGeom>
          <a:noFill/>
          <a:ln/>
        </p:spPr>
        <p:txBody>
          <a:bodyPr wrap="square" lIns="0" tIns="0" rIns="0" bIns="0" rtlCol="0" anchor="t"/>
          <a:lstStyle/>
          <a:p>
            <a:pPr algn="ctr" indent="0" marL="0">
              <a:buNone/>
            </a:pPr>
            <a:r>
              <a:rPr lang="en-US" sz="1600" b="1" dirty="0">
                <a:solidFill>
                  <a:schemeClr val="tx2"/>
                </a:solidFill>
              </a:rPr>
              <a:t>Reconnaissance</a:t>
            </a:r>
            <a:endParaRPr lang="en-US" sz="1600" dirty="0"/>
          </a:p>
        </p:txBody>
      </p:sp>
      <p:sp>
        <p:nvSpPr>
          <p:cNvPr id="11" name="Text 7"/>
          <p:cNvSpPr txBox="1"/>
          <p:nvPr/>
        </p:nvSpPr>
        <p:spPr>
          <a:xfrm>
            <a:off x="685800" y="3657600"/>
            <a:ext cx="1417320" cy="1280160"/>
          </a:xfrm>
          <a:prstGeom prst="rect">
            <a:avLst/>
          </a:prstGeom>
          <a:noFill/>
          <a:ln/>
        </p:spPr>
        <p:txBody>
          <a:bodyPr wrap="square" lIns="0" tIns="0" rIns="0" bIns="0" rtlCol="0" anchor="t"/>
          <a:lstStyle/>
          <a:p>
            <a:pPr algn="ctr" indent="0" marL="0">
              <a:buNone/>
            </a:pPr>
            <a:r>
              <a:rPr lang="en-US" sz="1400" dirty="0">
                <a:solidFill>
                  <a:srgbClr val="5A6478"/>
                </a:solidFill>
              </a:rPr>
              <a:t>Leaked Aadhaar and phone data; an elderly target with savings</a:t>
            </a:r>
            <a:endParaRPr lang="en-US" sz="1400" dirty="0"/>
          </a:p>
        </p:txBody>
      </p:sp>
      <p:sp>
        <p:nvSpPr>
          <p:cNvPr id="12" name="arrow 1"/>
          <p:cNvSpPr/>
          <p:nvPr/>
        </p:nvSpPr>
        <p:spPr>
          <a:xfrm>
            <a:off x="2258568" y="2176272"/>
            <a:ext cx="146304" cy="0"/>
          </a:xfrm>
          <a:prstGeom prst="line">
            <a:avLst/>
          </a:prstGeom>
          <a:noFill/>
          <a:ln w="19050">
            <a:solidFill>
              <a:schemeClr val="accent4"/>
            </a:solidFill>
            <a:prstDash val="solid"/>
            <a:tailEnd type="triangle"/>
          </a:ln>
        </p:spPr>
      </p:sp>
      <p:sp>
        <p:nvSpPr>
          <p:cNvPr id="13" name="stage card 2"/>
          <p:cNvSpPr/>
          <p:nvPr/>
        </p:nvSpPr>
        <p:spPr>
          <a:xfrm>
            <a:off x="2423160" y="1508760"/>
            <a:ext cx="1691640" cy="3520440"/>
          </a:xfrm>
          <a:prstGeom prst="roundRect">
            <a:avLst>
              <a:gd name="adj" fmla="val 6486"/>
            </a:avLst>
          </a:prstGeom>
          <a:solidFill>
            <a:schemeClr val="bg2"/>
          </a:solidFill>
          <a:ln w="12700">
            <a:solidFill>
              <a:schemeClr val="bg2"/>
            </a:solidFill>
            <a:prstDash val="solid"/>
          </a:ln>
        </p:spPr>
      </p:sp>
      <p:sp>
        <p:nvSpPr>
          <p:cNvPr id="14" name="stage icon 2 circle"/>
          <p:cNvSpPr/>
          <p:nvPr/>
        </p:nvSpPr>
        <p:spPr>
          <a:xfrm>
            <a:off x="2880360" y="1783080"/>
            <a:ext cx="777240" cy="777240"/>
          </a:xfrm>
          <a:prstGeom prst="ellipse">
            <a:avLst/>
          </a:prstGeom>
          <a:solidFill>
            <a:schemeClr val="tx2"/>
          </a:solidFill>
          <a:ln w="12700">
            <a:solidFill>
              <a:schemeClr val="tx2"/>
            </a:solidFill>
            <a:prstDash val="solid"/>
          </a:ln>
        </p:spPr>
      </p:sp>
      <p:pic>
        <p:nvPicPr>
          <p:cNvPr id="15" name="stage icon 2" descr="stage icon 2">    </p:cNvPr>
          <p:cNvPicPr>
            <a:picLocks noChangeAspect="1"/>
          </p:cNvPicPr>
          <p:nvPr/>
        </p:nvPicPr>
        <p:blipFill>
          <a:blip r:embed="rId2"/>
          <a:stretch>
            <a:fillRect/>
          </a:stretch>
        </p:blipFill>
        <p:spPr>
          <a:xfrm>
            <a:off x="3074670" y="1977390"/>
            <a:ext cx="388620" cy="388620"/>
          </a:xfrm>
          <a:prstGeom prst="rect">
            <a:avLst/>
          </a:prstGeom>
        </p:spPr>
      </p:pic>
      <p:sp>
        <p:nvSpPr>
          <p:cNvPr id="16" name="Text 11"/>
          <p:cNvSpPr txBox="1"/>
          <p:nvPr/>
        </p:nvSpPr>
        <p:spPr>
          <a:xfrm>
            <a:off x="2560320" y="2743200"/>
            <a:ext cx="1417320" cy="457200"/>
          </a:xfrm>
          <a:prstGeom prst="rect">
            <a:avLst/>
          </a:prstGeom>
          <a:noFill/>
          <a:ln/>
        </p:spPr>
        <p:txBody>
          <a:bodyPr wrap="square" lIns="0" tIns="0" rIns="0" bIns="0" rtlCol="0" anchor="t"/>
          <a:lstStyle/>
          <a:p>
            <a:pPr algn="ctr" indent="0" marL="0">
              <a:buNone/>
            </a:pPr>
            <a:r>
              <a:rPr lang="en-US" sz="2800" b="1" dirty="0">
                <a:solidFill>
                  <a:srgbClr val="5A6478"/>
                </a:solidFill>
                <a:latin typeface="Cambria" pitchFamily="34" charset="0"/>
                <a:ea typeface="Cambria" pitchFamily="34" charset="-122"/>
                <a:cs typeface="Cambria" pitchFamily="34" charset="-120"/>
              </a:rPr>
              <a:t>2</a:t>
            </a:r>
            <a:endParaRPr lang="en-US" sz="2800" dirty="0"/>
          </a:p>
        </p:txBody>
      </p:sp>
      <p:sp>
        <p:nvSpPr>
          <p:cNvPr id="17" name="Text 12"/>
          <p:cNvSpPr txBox="1"/>
          <p:nvPr/>
        </p:nvSpPr>
        <p:spPr>
          <a:xfrm>
            <a:off x="2514600" y="3200400"/>
            <a:ext cx="1508760" cy="411480"/>
          </a:xfrm>
          <a:prstGeom prst="rect">
            <a:avLst/>
          </a:prstGeom>
          <a:noFill/>
          <a:ln/>
        </p:spPr>
        <p:txBody>
          <a:bodyPr wrap="square" lIns="0" tIns="0" rIns="0" bIns="0" rtlCol="0" anchor="t"/>
          <a:lstStyle/>
          <a:p>
            <a:pPr algn="ctr" indent="0" marL="0">
              <a:buNone/>
            </a:pPr>
            <a:r>
              <a:rPr lang="en-US" sz="1600" b="1" dirty="0">
                <a:solidFill>
                  <a:schemeClr val="tx2"/>
                </a:solidFill>
              </a:rPr>
              <a:t>Pretext call</a:t>
            </a:r>
            <a:endParaRPr lang="en-US" sz="1600" dirty="0"/>
          </a:p>
        </p:txBody>
      </p:sp>
      <p:sp>
        <p:nvSpPr>
          <p:cNvPr id="18" name="Text 13"/>
          <p:cNvSpPr txBox="1"/>
          <p:nvPr/>
        </p:nvSpPr>
        <p:spPr>
          <a:xfrm>
            <a:off x="2560320" y="3657600"/>
            <a:ext cx="1417320" cy="1280160"/>
          </a:xfrm>
          <a:prstGeom prst="rect">
            <a:avLst/>
          </a:prstGeom>
          <a:noFill/>
          <a:ln/>
        </p:spPr>
        <p:txBody>
          <a:bodyPr wrap="square" lIns="0" tIns="0" rIns="0" bIns="0" rtlCol="0" anchor="t"/>
          <a:lstStyle/>
          <a:p>
            <a:pPr algn="ctr" indent="0" marL="0">
              <a:buNone/>
            </a:pPr>
            <a:r>
              <a:rPr lang="en-US" sz="1400" dirty="0">
                <a:solidFill>
                  <a:srgbClr val="5A6478"/>
                </a:solidFill>
              </a:rPr>
              <a:t>Fake courier, telecom or police call: 'drugs in your parcel'</a:t>
            </a:r>
            <a:endParaRPr lang="en-US" sz="1400" dirty="0"/>
          </a:p>
        </p:txBody>
      </p:sp>
      <p:sp>
        <p:nvSpPr>
          <p:cNvPr id="19" name="arrow 2"/>
          <p:cNvSpPr/>
          <p:nvPr/>
        </p:nvSpPr>
        <p:spPr>
          <a:xfrm>
            <a:off x="4133088" y="2176272"/>
            <a:ext cx="146304" cy="0"/>
          </a:xfrm>
          <a:prstGeom prst="line">
            <a:avLst/>
          </a:prstGeom>
          <a:noFill/>
          <a:ln w="19050">
            <a:solidFill>
              <a:schemeClr val="accent4"/>
            </a:solidFill>
            <a:prstDash val="solid"/>
            <a:tailEnd type="triangle"/>
          </a:ln>
        </p:spPr>
      </p:sp>
      <p:sp>
        <p:nvSpPr>
          <p:cNvPr id="20" name="stage card 3"/>
          <p:cNvSpPr/>
          <p:nvPr/>
        </p:nvSpPr>
        <p:spPr>
          <a:xfrm>
            <a:off x="4297680" y="1508760"/>
            <a:ext cx="1691640" cy="3520440"/>
          </a:xfrm>
          <a:prstGeom prst="roundRect">
            <a:avLst>
              <a:gd name="adj" fmla="val 6486"/>
            </a:avLst>
          </a:prstGeom>
          <a:solidFill>
            <a:schemeClr val="bg2"/>
          </a:solidFill>
          <a:ln w="12700">
            <a:solidFill>
              <a:schemeClr val="bg2"/>
            </a:solidFill>
            <a:prstDash val="solid"/>
          </a:ln>
        </p:spPr>
      </p:sp>
      <p:sp>
        <p:nvSpPr>
          <p:cNvPr id="21" name="stage icon 3 circle"/>
          <p:cNvSpPr/>
          <p:nvPr/>
        </p:nvSpPr>
        <p:spPr>
          <a:xfrm>
            <a:off x="4754880" y="1783080"/>
            <a:ext cx="777240" cy="777240"/>
          </a:xfrm>
          <a:prstGeom prst="ellipse">
            <a:avLst/>
          </a:prstGeom>
          <a:solidFill>
            <a:schemeClr val="tx2"/>
          </a:solidFill>
          <a:ln w="12700">
            <a:solidFill>
              <a:schemeClr val="tx2"/>
            </a:solidFill>
            <a:prstDash val="solid"/>
          </a:ln>
        </p:spPr>
      </p:sp>
      <p:pic>
        <p:nvPicPr>
          <p:cNvPr id="22" name="stage icon 3" descr="stage icon 3">    </p:cNvPr>
          <p:cNvPicPr>
            <a:picLocks noChangeAspect="1"/>
          </p:cNvPicPr>
          <p:nvPr/>
        </p:nvPicPr>
        <p:blipFill>
          <a:blip r:embed="rId3"/>
          <a:stretch>
            <a:fillRect/>
          </a:stretch>
        </p:blipFill>
        <p:spPr>
          <a:xfrm>
            <a:off x="4949190" y="1977390"/>
            <a:ext cx="388620" cy="388620"/>
          </a:xfrm>
          <a:prstGeom prst="rect">
            <a:avLst/>
          </a:prstGeom>
        </p:spPr>
      </p:pic>
      <p:sp>
        <p:nvSpPr>
          <p:cNvPr id="23" name="Text 17"/>
          <p:cNvSpPr txBox="1"/>
          <p:nvPr/>
        </p:nvSpPr>
        <p:spPr>
          <a:xfrm>
            <a:off x="4434840" y="2743200"/>
            <a:ext cx="1417320" cy="457200"/>
          </a:xfrm>
          <a:prstGeom prst="rect">
            <a:avLst/>
          </a:prstGeom>
          <a:noFill/>
          <a:ln/>
        </p:spPr>
        <p:txBody>
          <a:bodyPr wrap="square" lIns="0" tIns="0" rIns="0" bIns="0" rtlCol="0" anchor="t"/>
          <a:lstStyle/>
          <a:p>
            <a:pPr algn="ctr" indent="0" marL="0">
              <a:buNone/>
            </a:pPr>
            <a:r>
              <a:rPr lang="en-US" sz="2800" b="1" dirty="0">
                <a:solidFill>
                  <a:srgbClr val="5A6478"/>
                </a:solidFill>
                <a:latin typeface="Cambria" pitchFamily="34" charset="0"/>
                <a:ea typeface="Cambria" pitchFamily="34" charset="-122"/>
                <a:cs typeface="Cambria" pitchFamily="34" charset="-120"/>
              </a:rPr>
              <a:t>3</a:t>
            </a:r>
            <a:endParaRPr lang="en-US" sz="2800" dirty="0"/>
          </a:p>
        </p:txBody>
      </p:sp>
      <p:sp>
        <p:nvSpPr>
          <p:cNvPr id="24" name="Text 18"/>
          <p:cNvSpPr txBox="1"/>
          <p:nvPr/>
        </p:nvSpPr>
        <p:spPr>
          <a:xfrm>
            <a:off x="4389120" y="3200400"/>
            <a:ext cx="1508760" cy="411480"/>
          </a:xfrm>
          <a:prstGeom prst="rect">
            <a:avLst/>
          </a:prstGeom>
          <a:noFill/>
          <a:ln/>
        </p:spPr>
        <p:txBody>
          <a:bodyPr wrap="square" lIns="0" tIns="0" rIns="0" bIns="0" rtlCol="0" anchor="t"/>
          <a:lstStyle/>
          <a:p>
            <a:pPr algn="ctr" indent="0" marL="0">
              <a:buNone/>
            </a:pPr>
            <a:r>
              <a:rPr lang="en-US" sz="1600" b="1" dirty="0">
                <a:solidFill>
                  <a:schemeClr val="tx2"/>
                </a:solidFill>
              </a:rPr>
              <a:t>Escalation</a:t>
            </a:r>
            <a:endParaRPr lang="en-US" sz="1600" dirty="0"/>
          </a:p>
        </p:txBody>
      </p:sp>
      <p:sp>
        <p:nvSpPr>
          <p:cNvPr id="25" name="Text 19"/>
          <p:cNvSpPr txBox="1"/>
          <p:nvPr/>
        </p:nvSpPr>
        <p:spPr>
          <a:xfrm>
            <a:off x="4434840" y="3657600"/>
            <a:ext cx="1417320" cy="1280160"/>
          </a:xfrm>
          <a:prstGeom prst="rect">
            <a:avLst/>
          </a:prstGeom>
          <a:noFill/>
          <a:ln/>
        </p:spPr>
        <p:txBody>
          <a:bodyPr wrap="square" lIns="0" tIns="0" rIns="0" bIns="0" rtlCol="0" anchor="t"/>
          <a:lstStyle/>
          <a:p>
            <a:pPr algn="ctr" indent="0" marL="0">
              <a:buNone/>
            </a:pPr>
            <a:r>
              <a:rPr lang="en-US" sz="1400" dirty="0">
                <a:solidFill>
                  <a:srgbClr val="5A6478"/>
                </a:solidFill>
              </a:rPr>
              <a:t>Handed to a fake CBI or ED officer; 'money-laundering case'</a:t>
            </a:r>
            <a:endParaRPr lang="en-US" sz="1400" dirty="0"/>
          </a:p>
        </p:txBody>
      </p:sp>
      <p:sp>
        <p:nvSpPr>
          <p:cNvPr id="26" name="arrow 3"/>
          <p:cNvSpPr/>
          <p:nvPr/>
        </p:nvSpPr>
        <p:spPr>
          <a:xfrm>
            <a:off x="6007608" y="2176272"/>
            <a:ext cx="146304" cy="0"/>
          </a:xfrm>
          <a:prstGeom prst="line">
            <a:avLst/>
          </a:prstGeom>
          <a:noFill/>
          <a:ln w="19050">
            <a:solidFill>
              <a:schemeClr val="accent4"/>
            </a:solidFill>
            <a:prstDash val="solid"/>
            <a:tailEnd type="triangle"/>
          </a:ln>
        </p:spPr>
      </p:sp>
      <p:sp>
        <p:nvSpPr>
          <p:cNvPr id="27" name="stage card 4"/>
          <p:cNvSpPr/>
          <p:nvPr/>
        </p:nvSpPr>
        <p:spPr>
          <a:xfrm>
            <a:off x="6172200" y="1508760"/>
            <a:ext cx="1691640" cy="3520440"/>
          </a:xfrm>
          <a:prstGeom prst="roundRect">
            <a:avLst>
              <a:gd name="adj" fmla="val 6486"/>
            </a:avLst>
          </a:prstGeom>
          <a:solidFill>
            <a:srgbClr val="FDF3DD"/>
          </a:solidFill>
          <a:ln w="12700">
            <a:solidFill>
              <a:srgbClr val="FDF3DD"/>
            </a:solidFill>
            <a:prstDash val="solid"/>
          </a:ln>
        </p:spPr>
      </p:sp>
      <p:sp>
        <p:nvSpPr>
          <p:cNvPr id="28" name="stage icon 4 circle"/>
          <p:cNvSpPr/>
          <p:nvPr/>
        </p:nvSpPr>
        <p:spPr>
          <a:xfrm>
            <a:off x="6629400" y="1783080"/>
            <a:ext cx="777240" cy="777240"/>
          </a:xfrm>
          <a:prstGeom prst="ellipse">
            <a:avLst/>
          </a:prstGeom>
          <a:solidFill>
            <a:schemeClr val="accent1"/>
          </a:solidFill>
          <a:ln w="12700">
            <a:solidFill>
              <a:schemeClr val="accent1"/>
            </a:solidFill>
            <a:prstDash val="solid"/>
          </a:ln>
        </p:spPr>
      </p:sp>
      <p:pic>
        <p:nvPicPr>
          <p:cNvPr id="29" name="stage icon 4" descr="stage icon 4">    </p:cNvPr>
          <p:cNvPicPr>
            <a:picLocks noChangeAspect="1"/>
          </p:cNvPicPr>
          <p:nvPr/>
        </p:nvPicPr>
        <p:blipFill>
          <a:blip r:embed="rId4"/>
          <a:stretch>
            <a:fillRect/>
          </a:stretch>
        </p:blipFill>
        <p:spPr>
          <a:xfrm>
            <a:off x="6823710" y="1977390"/>
            <a:ext cx="388620" cy="388620"/>
          </a:xfrm>
          <a:prstGeom prst="rect">
            <a:avLst/>
          </a:prstGeom>
        </p:spPr>
      </p:pic>
      <p:sp>
        <p:nvSpPr>
          <p:cNvPr id="30" name="Text 23"/>
          <p:cNvSpPr txBox="1"/>
          <p:nvPr/>
        </p:nvSpPr>
        <p:spPr>
          <a:xfrm>
            <a:off x="6309360" y="2743200"/>
            <a:ext cx="1417320" cy="457200"/>
          </a:xfrm>
          <a:prstGeom prst="rect">
            <a:avLst/>
          </a:prstGeom>
          <a:noFill/>
          <a:ln/>
        </p:spPr>
        <p:txBody>
          <a:bodyPr wrap="square" lIns="0" tIns="0" rIns="0" bIns="0" rtlCol="0" anchor="t"/>
          <a:lstStyle/>
          <a:p>
            <a:pPr algn="ctr" indent="0" marL="0">
              <a:buNone/>
            </a:pPr>
            <a:r>
              <a:rPr lang="en-US" sz="2800" b="1" dirty="0">
                <a:solidFill>
                  <a:srgbClr val="B7791F"/>
                </a:solidFill>
                <a:latin typeface="Cambria" pitchFamily="34" charset="0"/>
                <a:ea typeface="Cambria" pitchFamily="34" charset="-122"/>
                <a:cs typeface="Cambria" pitchFamily="34" charset="-120"/>
              </a:rPr>
              <a:t>4</a:t>
            </a:r>
            <a:endParaRPr lang="en-US" sz="2800" dirty="0"/>
          </a:p>
        </p:txBody>
      </p:sp>
      <p:sp>
        <p:nvSpPr>
          <p:cNvPr id="31" name="Text 24"/>
          <p:cNvSpPr txBox="1"/>
          <p:nvPr/>
        </p:nvSpPr>
        <p:spPr>
          <a:xfrm>
            <a:off x="6263640" y="3200400"/>
            <a:ext cx="1508760" cy="411480"/>
          </a:xfrm>
          <a:prstGeom prst="rect">
            <a:avLst/>
          </a:prstGeom>
          <a:noFill/>
          <a:ln/>
        </p:spPr>
        <p:txBody>
          <a:bodyPr wrap="square" lIns="0" tIns="0" rIns="0" bIns="0" rtlCol="0" anchor="t"/>
          <a:lstStyle/>
          <a:p>
            <a:pPr algn="ctr" indent="0" marL="0">
              <a:buNone/>
            </a:pPr>
            <a:r>
              <a:rPr lang="en-US" sz="1600" b="1" dirty="0">
                <a:solidFill>
                  <a:schemeClr val="tx2"/>
                </a:solidFill>
              </a:rPr>
              <a:t>Isolation</a:t>
            </a:r>
            <a:endParaRPr lang="en-US" sz="1600" dirty="0"/>
          </a:p>
        </p:txBody>
      </p:sp>
      <p:sp>
        <p:nvSpPr>
          <p:cNvPr id="32" name="Text 25"/>
          <p:cNvSpPr txBox="1"/>
          <p:nvPr/>
        </p:nvSpPr>
        <p:spPr>
          <a:xfrm>
            <a:off x="6309360" y="3657600"/>
            <a:ext cx="1417320" cy="1280160"/>
          </a:xfrm>
          <a:prstGeom prst="rect">
            <a:avLst/>
          </a:prstGeom>
          <a:noFill/>
          <a:ln/>
        </p:spPr>
        <p:txBody>
          <a:bodyPr wrap="square" lIns="0" tIns="0" rIns="0" bIns="0" rtlCol="0" anchor="t"/>
          <a:lstStyle/>
          <a:p>
            <a:pPr algn="ctr" indent="0" marL="0">
              <a:buNone/>
            </a:pPr>
            <a:r>
              <a:rPr lang="en-US" sz="1400" dirty="0">
                <a:solidFill>
                  <a:srgbClr val="5A6478"/>
                </a:solidFill>
              </a:rPr>
              <a:t>WhatsApp video 'arrest', secrecy oath, forged court orders</a:t>
            </a:r>
            <a:endParaRPr lang="en-US" sz="1400" dirty="0"/>
          </a:p>
        </p:txBody>
      </p:sp>
      <p:sp>
        <p:nvSpPr>
          <p:cNvPr id="33" name="arrow 4"/>
          <p:cNvSpPr/>
          <p:nvPr/>
        </p:nvSpPr>
        <p:spPr>
          <a:xfrm>
            <a:off x="7882128" y="2176272"/>
            <a:ext cx="146304" cy="0"/>
          </a:xfrm>
          <a:prstGeom prst="line">
            <a:avLst/>
          </a:prstGeom>
          <a:noFill/>
          <a:ln w="19050">
            <a:solidFill>
              <a:schemeClr val="accent4"/>
            </a:solidFill>
            <a:prstDash val="solid"/>
            <a:tailEnd type="triangle"/>
          </a:ln>
        </p:spPr>
      </p:sp>
      <p:sp>
        <p:nvSpPr>
          <p:cNvPr id="34" name="stage card 5"/>
          <p:cNvSpPr/>
          <p:nvPr/>
        </p:nvSpPr>
        <p:spPr>
          <a:xfrm>
            <a:off x="8046720" y="1508760"/>
            <a:ext cx="1691640" cy="3520440"/>
          </a:xfrm>
          <a:prstGeom prst="roundRect">
            <a:avLst>
              <a:gd name="adj" fmla="val 6486"/>
            </a:avLst>
          </a:prstGeom>
          <a:solidFill>
            <a:srgbClr val="FDF3DD"/>
          </a:solidFill>
          <a:ln w="12700">
            <a:solidFill>
              <a:srgbClr val="FDF3DD"/>
            </a:solidFill>
            <a:prstDash val="solid"/>
          </a:ln>
        </p:spPr>
      </p:sp>
      <p:sp>
        <p:nvSpPr>
          <p:cNvPr id="35" name="stage icon 5 circle"/>
          <p:cNvSpPr/>
          <p:nvPr/>
        </p:nvSpPr>
        <p:spPr>
          <a:xfrm>
            <a:off x="8503920" y="1783080"/>
            <a:ext cx="777240" cy="777240"/>
          </a:xfrm>
          <a:prstGeom prst="ellipse">
            <a:avLst/>
          </a:prstGeom>
          <a:solidFill>
            <a:schemeClr val="accent1"/>
          </a:solidFill>
          <a:ln w="12700">
            <a:solidFill>
              <a:schemeClr val="accent1"/>
            </a:solidFill>
            <a:prstDash val="solid"/>
          </a:ln>
        </p:spPr>
      </p:sp>
      <p:pic>
        <p:nvPicPr>
          <p:cNvPr id="36" name="stage icon 5" descr="stage icon 5">    </p:cNvPr>
          <p:cNvPicPr>
            <a:picLocks noChangeAspect="1"/>
          </p:cNvPicPr>
          <p:nvPr/>
        </p:nvPicPr>
        <p:blipFill>
          <a:blip r:embed="rId5"/>
          <a:stretch>
            <a:fillRect/>
          </a:stretch>
        </p:blipFill>
        <p:spPr>
          <a:xfrm>
            <a:off x="8698230" y="1977390"/>
            <a:ext cx="388620" cy="388620"/>
          </a:xfrm>
          <a:prstGeom prst="rect">
            <a:avLst/>
          </a:prstGeom>
        </p:spPr>
      </p:pic>
      <p:sp>
        <p:nvSpPr>
          <p:cNvPr id="37" name="Text 29"/>
          <p:cNvSpPr txBox="1"/>
          <p:nvPr/>
        </p:nvSpPr>
        <p:spPr>
          <a:xfrm>
            <a:off x="8183880" y="2743200"/>
            <a:ext cx="1417320" cy="457200"/>
          </a:xfrm>
          <a:prstGeom prst="rect">
            <a:avLst/>
          </a:prstGeom>
          <a:noFill/>
          <a:ln/>
        </p:spPr>
        <p:txBody>
          <a:bodyPr wrap="square" lIns="0" tIns="0" rIns="0" bIns="0" rtlCol="0" anchor="t"/>
          <a:lstStyle/>
          <a:p>
            <a:pPr algn="ctr" indent="0" marL="0">
              <a:buNone/>
            </a:pPr>
            <a:r>
              <a:rPr lang="en-US" sz="2800" b="1" dirty="0">
                <a:solidFill>
                  <a:srgbClr val="B7791F"/>
                </a:solidFill>
                <a:latin typeface="Cambria" pitchFamily="34" charset="0"/>
                <a:ea typeface="Cambria" pitchFamily="34" charset="-122"/>
                <a:cs typeface="Cambria" pitchFamily="34" charset="-120"/>
              </a:rPr>
              <a:t>5</a:t>
            </a:r>
            <a:endParaRPr lang="en-US" sz="2800" dirty="0"/>
          </a:p>
        </p:txBody>
      </p:sp>
      <p:sp>
        <p:nvSpPr>
          <p:cNvPr id="38" name="Text 30"/>
          <p:cNvSpPr txBox="1"/>
          <p:nvPr/>
        </p:nvSpPr>
        <p:spPr>
          <a:xfrm>
            <a:off x="8138160" y="3200400"/>
            <a:ext cx="1508760" cy="411480"/>
          </a:xfrm>
          <a:prstGeom prst="rect">
            <a:avLst/>
          </a:prstGeom>
          <a:noFill/>
          <a:ln/>
        </p:spPr>
        <p:txBody>
          <a:bodyPr wrap="square" lIns="0" tIns="0" rIns="0" bIns="0" rtlCol="0" anchor="t"/>
          <a:lstStyle/>
          <a:p>
            <a:pPr algn="ctr" indent="0" marL="0">
              <a:buNone/>
            </a:pPr>
            <a:r>
              <a:rPr lang="en-US" sz="1600" b="1" dirty="0">
                <a:solidFill>
                  <a:schemeClr val="tx2"/>
                </a:solidFill>
              </a:rPr>
              <a:t>Extraction</a:t>
            </a:r>
            <a:endParaRPr lang="en-US" sz="1600" dirty="0"/>
          </a:p>
        </p:txBody>
      </p:sp>
      <p:sp>
        <p:nvSpPr>
          <p:cNvPr id="39" name="Text 31"/>
          <p:cNvSpPr txBox="1"/>
          <p:nvPr/>
        </p:nvSpPr>
        <p:spPr>
          <a:xfrm>
            <a:off x="8183880" y="3657600"/>
            <a:ext cx="1417320" cy="1280160"/>
          </a:xfrm>
          <a:prstGeom prst="rect">
            <a:avLst/>
          </a:prstGeom>
          <a:noFill/>
          <a:ln/>
        </p:spPr>
        <p:txBody>
          <a:bodyPr wrap="square" lIns="0" tIns="0" rIns="0" bIns="0" rtlCol="0" anchor="t"/>
          <a:lstStyle/>
          <a:p>
            <a:pPr algn="ctr" indent="0" marL="0">
              <a:buNone/>
            </a:pPr>
            <a:r>
              <a:rPr lang="en-US" sz="1400" dirty="0">
                <a:solidFill>
                  <a:srgbClr val="5A6478"/>
                </a:solidFill>
              </a:rPr>
              <a:t>Deposits broken; RTGS to a 'verification account' in instalments</a:t>
            </a:r>
            <a:endParaRPr lang="en-US" sz="1400" dirty="0"/>
          </a:p>
        </p:txBody>
      </p:sp>
      <p:sp>
        <p:nvSpPr>
          <p:cNvPr id="40" name="arrow 5"/>
          <p:cNvSpPr/>
          <p:nvPr/>
        </p:nvSpPr>
        <p:spPr>
          <a:xfrm>
            <a:off x="9756648" y="2176272"/>
            <a:ext cx="146304" cy="0"/>
          </a:xfrm>
          <a:prstGeom prst="line">
            <a:avLst/>
          </a:prstGeom>
          <a:noFill/>
          <a:ln w="19050">
            <a:solidFill>
              <a:schemeClr val="accent4"/>
            </a:solidFill>
            <a:prstDash val="solid"/>
            <a:tailEnd type="triangle"/>
          </a:ln>
        </p:spPr>
      </p:sp>
      <p:sp>
        <p:nvSpPr>
          <p:cNvPr id="41" name="stage card 6"/>
          <p:cNvSpPr/>
          <p:nvPr/>
        </p:nvSpPr>
        <p:spPr>
          <a:xfrm>
            <a:off x="9921240" y="1508760"/>
            <a:ext cx="1691640" cy="3520440"/>
          </a:xfrm>
          <a:prstGeom prst="roundRect">
            <a:avLst>
              <a:gd name="adj" fmla="val 6486"/>
            </a:avLst>
          </a:prstGeom>
          <a:solidFill>
            <a:schemeClr val="bg2"/>
          </a:solidFill>
          <a:ln w="12700">
            <a:solidFill>
              <a:schemeClr val="bg2"/>
            </a:solidFill>
            <a:prstDash val="solid"/>
          </a:ln>
        </p:spPr>
      </p:sp>
      <p:sp>
        <p:nvSpPr>
          <p:cNvPr id="42" name="stage icon 6 circle"/>
          <p:cNvSpPr/>
          <p:nvPr/>
        </p:nvSpPr>
        <p:spPr>
          <a:xfrm>
            <a:off x="10378440" y="1783080"/>
            <a:ext cx="777240" cy="777240"/>
          </a:xfrm>
          <a:prstGeom prst="ellipse">
            <a:avLst/>
          </a:prstGeom>
          <a:solidFill>
            <a:schemeClr val="tx2"/>
          </a:solidFill>
          <a:ln w="12700">
            <a:solidFill>
              <a:schemeClr val="tx2"/>
            </a:solidFill>
            <a:prstDash val="solid"/>
          </a:ln>
        </p:spPr>
      </p:sp>
      <p:pic>
        <p:nvPicPr>
          <p:cNvPr id="43" name="stage icon 6" descr="stage icon 6">    </p:cNvPr>
          <p:cNvPicPr>
            <a:picLocks noChangeAspect="1"/>
          </p:cNvPicPr>
          <p:nvPr/>
        </p:nvPicPr>
        <p:blipFill>
          <a:blip r:embed="rId6"/>
          <a:stretch>
            <a:fillRect/>
          </a:stretch>
        </p:blipFill>
        <p:spPr>
          <a:xfrm>
            <a:off x="10572750" y="1977390"/>
            <a:ext cx="388620" cy="388620"/>
          </a:xfrm>
          <a:prstGeom prst="rect">
            <a:avLst/>
          </a:prstGeom>
        </p:spPr>
      </p:pic>
      <p:sp>
        <p:nvSpPr>
          <p:cNvPr id="44" name="Text 35"/>
          <p:cNvSpPr txBox="1"/>
          <p:nvPr/>
        </p:nvSpPr>
        <p:spPr>
          <a:xfrm>
            <a:off x="10058400" y="2743200"/>
            <a:ext cx="1417320" cy="457200"/>
          </a:xfrm>
          <a:prstGeom prst="rect">
            <a:avLst/>
          </a:prstGeom>
          <a:noFill/>
          <a:ln/>
        </p:spPr>
        <p:txBody>
          <a:bodyPr wrap="square" lIns="0" tIns="0" rIns="0" bIns="0" rtlCol="0" anchor="t"/>
          <a:lstStyle/>
          <a:p>
            <a:pPr algn="ctr" indent="0" marL="0">
              <a:buNone/>
            </a:pPr>
            <a:r>
              <a:rPr lang="en-US" sz="2800" b="1" dirty="0">
                <a:solidFill>
                  <a:srgbClr val="5A6478"/>
                </a:solidFill>
                <a:latin typeface="Cambria" pitchFamily="34" charset="0"/>
                <a:ea typeface="Cambria" pitchFamily="34" charset="-122"/>
                <a:cs typeface="Cambria" pitchFamily="34" charset="-120"/>
              </a:rPr>
              <a:t>6</a:t>
            </a:r>
            <a:endParaRPr lang="en-US" sz="2800" dirty="0"/>
          </a:p>
        </p:txBody>
      </p:sp>
      <p:sp>
        <p:nvSpPr>
          <p:cNvPr id="45" name="Text 36"/>
          <p:cNvSpPr txBox="1"/>
          <p:nvPr/>
        </p:nvSpPr>
        <p:spPr>
          <a:xfrm>
            <a:off x="10012680" y="3200400"/>
            <a:ext cx="1508760" cy="411480"/>
          </a:xfrm>
          <a:prstGeom prst="rect">
            <a:avLst/>
          </a:prstGeom>
          <a:noFill/>
          <a:ln/>
        </p:spPr>
        <p:txBody>
          <a:bodyPr wrap="square" lIns="0" tIns="0" rIns="0" bIns="0" rtlCol="0" anchor="t"/>
          <a:lstStyle/>
          <a:p>
            <a:pPr algn="ctr" indent="0" marL="0">
              <a:buNone/>
            </a:pPr>
            <a:r>
              <a:rPr lang="en-US" sz="1600" b="1" dirty="0">
                <a:solidFill>
                  <a:schemeClr val="tx2"/>
                </a:solidFill>
              </a:rPr>
              <a:t>Laundering</a:t>
            </a:r>
            <a:endParaRPr lang="en-US" sz="1600" dirty="0"/>
          </a:p>
        </p:txBody>
      </p:sp>
      <p:sp>
        <p:nvSpPr>
          <p:cNvPr id="46" name="Text 37"/>
          <p:cNvSpPr txBox="1"/>
          <p:nvPr/>
        </p:nvSpPr>
        <p:spPr>
          <a:xfrm>
            <a:off x="10058400" y="3657600"/>
            <a:ext cx="1417320" cy="1280160"/>
          </a:xfrm>
          <a:prstGeom prst="rect">
            <a:avLst/>
          </a:prstGeom>
          <a:noFill/>
          <a:ln/>
        </p:spPr>
        <p:txBody>
          <a:bodyPr wrap="square" lIns="0" tIns="0" rIns="0" bIns="0" rtlCol="0" anchor="t"/>
          <a:lstStyle/>
          <a:p>
            <a:pPr algn="ctr" indent="0" marL="0">
              <a:buNone/>
            </a:pPr>
            <a:r>
              <a:rPr lang="en-US" sz="1400" dirty="0">
                <a:solidFill>
                  <a:srgbClr val="5A6478"/>
                </a:solidFill>
              </a:rPr>
              <a:t>Layers of mule accounts, cash-out and crypto</a:t>
            </a:r>
            <a:endParaRPr lang="en-US" sz="1400" dirty="0"/>
          </a:p>
        </p:txBody>
      </p:sp>
      <p:sp>
        <p:nvSpPr>
          <p:cNvPr id="47" name="kill chain takeaway"/>
          <p:cNvSpPr/>
          <p:nvPr/>
        </p:nvSpPr>
        <p:spPr>
          <a:xfrm>
            <a:off x="548640" y="5257800"/>
            <a:ext cx="11091672" cy="777240"/>
          </a:xfrm>
          <a:prstGeom prst="roundRect">
            <a:avLst>
              <a:gd name="adj" fmla="val 14118"/>
            </a:avLst>
          </a:prstGeom>
          <a:solidFill>
            <a:schemeClr val="tx2"/>
          </a:solidFill>
          <a:ln w="12700">
            <a:solidFill>
              <a:schemeClr val="tx2"/>
            </a:solidFill>
            <a:prstDash val="solid"/>
          </a:ln>
        </p:spPr>
      </p:sp>
      <p:sp>
        <p:nvSpPr>
          <p:cNvPr id="48" name="Text 39"/>
          <p:cNvSpPr txBox="1"/>
          <p:nvPr/>
        </p:nvSpPr>
        <p:spPr>
          <a:xfrm>
            <a:off x="822960" y="5257800"/>
            <a:ext cx="10607040" cy="777240"/>
          </a:xfrm>
          <a:prstGeom prst="rect">
            <a:avLst/>
          </a:prstGeom>
          <a:noFill/>
          <a:ln/>
        </p:spPr>
        <p:txBody>
          <a:bodyPr wrap="square" lIns="0" tIns="0" rIns="0" bIns="0" rtlCol="0" anchor="ctr"/>
          <a:lstStyle/>
          <a:p>
            <a:pPr indent="0" marL="0">
              <a:buNone/>
            </a:pPr>
            <a:r>
              <a:rPr lang="en-US" sz="1600" b="1" dirty="0">
                <a:solidFill>
                  <a:schemeClr val="accent1"/>
                </a:solidFill>
              </a:rPr>
              <a:t>Highlighted: </a:t>
            </a:r>
            <a:pPr indent="0" marL="0">
              <a:buNone/>
            </a:pPr>
            <a:r>
              <a:rPr lang="en-US" sz="1600" dirty="0">
                <a:solidFill>
                  <a:schemeClr val="bg1"/>
                </a:solidFill>
              </a:rPr>
              <a:t>stages 4 and 5, where DA-Shield focuses. Reconstructed from our topic and comparable Pune cases.</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Where the chain can be broken</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Arav</a:t>
            </a:r>
            <a:endParaRPr lang="en-US" sz="1300" dirty="0"/>
          </a:p>
        </p:txBody>
      </p:sp>
      <p:sp>
        <p:nvSpPr>
          <p:cNvPr id="6" name="finding card 1"/>
          <p:cNvSpPr/>
          <p:nvPr/>
        </p:nvSpPr>
        <p:spPr>
          <a:xfrm>
            <a:off x="548640" y="1508760"/>
            <a:ext cx="5440680" cy="3017520"/>
          </a:xfrm>
          <a:prstGeom prst="roundRect">
            <a:avLst>
              <a:gd name="adj" fmla="val 3636"/>
            </a:avLst>
          </a:prstGeom>
          <a:solidFill>
            <a:schemeClr val="bg2"/>
          </a:solidFill>
          <a:ln w="12700">
            <a:solidFill>
              <a:schemeClr val="bg2"/>
            </a:solidFill>
            <a:prstDash val="solid"/>
          </a:ln>
        </p:spPr>
      </p:sp>
      <p:sp>
        <p:nvSpPr>
          <p:cNvPr id="7" name="finding icon 1 circle"/>
          <p:cNvSpPr/>
          <p:nvPr/>
        </p:nvSpPr>
        <p:spPr>
          <a:xfrm>
            <a:off x="914400" y="1783080"/>
            <a:ext cx="777240" cy="777240"/>
          </a:xfrm>
          <a:prstGeom prst="ellipse">
            <a:avLst/>
          </a:prstGeom>
          <a:solidFill>
            <a:schemeClr val="accent1"/>
          </a:solidFill>
          <a:ln w="12700">
            <a:solidFill>
              <a:schemeClr val="accent1"/>
            </a:solidFill>
            <a:prstDash val="solid"/>
          </a:ln>
        </p:spPr>
      </p:sp>
      <p:pic>
        <p:nvPicPr>
          <p:cNvPr id="8" name="finding icon 1" descr="finding icon 1">    </p:cNvPr>
          <p:cNvPicPr>
            <a:picLocks noChangeAspect="1"/>
          </p:cNvPicPr>
          <p:nvPr/>
        </p:nvPicPr>
        <p:blipFill>
          <a:blip r:embed="rId1"/>
          <a:stretch>
            <a:fillRect/>
          </a:stretch>
        </p:blipFill>
        <p:spPr>
          <a:xfrm>
            <a:off x="1108710" y="1977390"/>
            <a:ext cx="388620" cy="388620"/>
          </a:xfrm>
          <a:prstGeom prst="rect">
            <a:avLst/>
          </a:prstGeom>
        </p:spPr>
      </p:pic>
      <p:sp>
        <p:nvSpPr>
          <p:cNvPr id="9" name="Text 5"/>
          <p:cNvSpPr txBox="1"/>
          <p:nvPr/>
        </p:nvSpPr>
        <p:spPr>
          <a:xfrm>
            <a:off x="914400" y="2697480"/>
            <a:ext cx="4754880" cy="77724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Stage 4: Isolation is the scammer's key asset</a:t>
            </a:r>
            <a:endParaRPr lang="en-US" sz="2100" dirty="0"/>
          </a:p>
        </p:txBody>
      </p:sp>
      <p:sp>
        <p:nvSpPr>
          <p:cNvPr id="10" name="Text 6"/>
          <p:cNvSpPr txBox="1"/>
          <p:nvPr/>
        </p:nvSpPr>
        <p:spPr>
          <a:xfrm>
            <a:off x="914400" y="3520440"/>
            <a:ext cx="4754880" cy="914400"/>
          </a:xfrm>
          <a:prstGeom prst="rect">
            <a:avLst/>
          </a:prstGeom>
          <a:noFill/>
          <a:ln/>
        </p:spPr>
        <p:txBody>
          <a:bodyPr wrap="square" lIns="0" tIns="0" rIns="0" bIns="0" rtlCol="0" anchor="t"/>
          <a:lstStyle/>
          <a:p>
            <a:pPr indent="0" marL="0">
              <a:buNone/>
            </a:pPr>
            <a:r>
              <a:rPr lang="en-US" sz="1600" dirty="0">
                <a:solidFill>
                  <a:srgbClr val="5A6478"/>
                </a:solidFill>
              </a:rPr>
              <a:t>Secrecy cuts her off from family, the strongest protection older adults have. Every later stage depends on it.</a:t>
            </a:r>
            <a:endParaRPr lang="en-US" sz="1600" dirty="0"/>
          </a:p>
        </p:txBody>
      </p:sp>
      <p:sp>
        <p:nvSpPr>
          <p:cNvPr id="11" name="finding card 2"/>
          <p:cNvSpPr/>
          <p:nvPr/>
        </p:nvSpPr>
        <p:spPr>
          <a:xfrm>
            <a:off x="6190488" y="1508760"/>
            <a:ext cx="5440680" cy="3017520"/>
          </a:xfrm>
          <a:prstGeom prst="roundRect">
            <a:avLst>
              <a:gd name="adj" fmla="val 3636"/>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12" name="finding icon 2 circle"/>
          <p:cNvSpPr/>
          <p:nvPr/>
        </p:nvSpPr>
        <p:spPr>
          <a:xfrm>
            <a:off x="6556248" y="1783080"/>
            <a:ext cx="777240" cy="777240"/>
          </a:xfrm>
          <a:prstGeom prst="ellipse">
            <a:avLst/>
          </a:prstGeom>
          <a:solidFill>
            <a:schemeClr val="accent1"/>
          </a:solidFill>
          <a:ln w="12700">
            <a:solidFill>
              <a:schemeClr val="accent1"/>
            </a:solidFill>
            <a:prstDash val="solid"/>
          </a:ln>
        </p:spPr>
      </p:sp>
      <p:pic>
        <p:nvPicPr>
          <p:cNvPr id="13" name="finding icon 2" descr="finding icon 2">    </p:cNvPr>
          <p:cNvPicPr>
            <a:picLocks noChangeAspect="1"/>
          </p:cNvPicPr>
          <p:nvPr/>
        </p:nvPicPr>
        <p:blipFill>
          <a:blip r:embed="rId2"/>
          <a:stretch>
            <a:fillRect/>
          </a:stretch>
        </p:blipFill>
        <p:spPr>
          <a:xfrm>
            <a:off x="6750558" y="1977390"/>
            <a:ext cx="388620" cy="388620"/>
          </a:xfrm>
          <a:prstGeom prst="rect">
            <a:avLst/>
          </a:prstGeom>
        </p:spPr>
      </p:pic>
      <p:sp>
        <p:nvSpPr>
          <p:cNvPr id="14" name="Text 9"/>
          <p:cNvSpPr txBox="1"/>
          <p:nvPr/>
        </p:nvSpPr>
        <p:spPr>
          <a:xfrm>
            <a:off x="6556248" y="2697480"/>
            <a:ext cx="4754880" cy="77724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Stage 5: The bank is the only regulated checkpoint</a:t>
            </a:r>
            <a:endParaRPr lang="en-US" sz="2100" dirty="0"/>
          </a:p>
        </p:txBody>
      </p:sp>
      <p:sp>
        <p:nvSpPr>
          <p:cNvPr id="15" name="Text 10"/>
          <p:cNvSpPr txBox="1"/>
          <p:nvPr/>
        </p:nvSpPr>
        <p:spPr>
          <a:xfrm>
            <a:off x="6556248" y="3520440"/>
            <a:ext cx="4754880" cy="914400"/>
          </a:xfrm>
          <a:prstGeom prst="rect">
            <a:avLst/>
          </a:prstGeom>
          <a:noFill/>
          <a:ln/>
        </p:spPr>
        <p:txBody>
          <a:bodyPr wrap="square" lIns="0" tIns="0" rIns="0" bIns="0" rtlCol="0" anchor="t"/>
          <a:lstStyle/>
          <a:p>
            <a:pPr indent="0" marL="0">
              <a:buNone/>
            </a:pPr>
            <a:r>
              <a:rPr lang="en-US" sz="1600" dirty="0">
                <a:solidFill>
                  <a:srgbClr val="DCE3F0"/>
                </a:solidFill>
              </a:rPr>
              <a:t>Her bank is the one institution with a duty of care that sees her behaviour change before the money leaves.</a:t>
            </a:r>
            <a:endParaRPr lang="en-US" sz="1600" dirty="0"/>
          </a:p>
        </p:txBody>
      </p:sp>
      <p:sp>
        <p:nvSpPr>
          <p:cNvPr id="16" name="Text 11"/>
          <p:cNvSpPr txBox="1"/>
          <p:nvPr/>
        </p:nvSpPr>
        <p:spPr>
          <a:xfrm>
            <a:off x="548640" y="4800600"/>
            <a:ext cx="7315200" cy="320040"/>
          </a:xfrm>
          <a:prstGeom prst="rect">
            <a:avLst/>
          </a:prstGeom>
          <a:noFill/>
          <a:ln/>
        </p:spPr>
        <p:txBody>
          <a:bodyPr wrap="square" lIns="0" tIns="0" rIns="0" bIns="0" rtlCol="0" anchor="t"/>
          <a:lstStyle/>
          <a:p>
            <a:pPr indent="0" marL="0">
              <a:buNone/>
            </a:pPr>
            <a:r>
              <a:rPr lang="en-US" sz="1600" b="1" dirty="0">
                <a:solidFill>
                  <a:schemeClr val="tx2"/>
                </a:solidFill>
              </a:rPr>
              <a:t>Control that failed at each stage</a:t>
            </a:r>
            <a:endParaRPr lang="en-US" sz="1600" dirty="0"/>
          </a:p>
        </p:txBody>
      </p:sp>
      <p:sp>
        <p:nvSpPr>
          <p:cNvPr id="17" name="failed control 1"/>
          <p:cNvSpPr/>
          <p:nvPr/>
        </p:nvSpPr>
        <p:spPr>
          <a:xfrm>
            <a:off x="548640" y="5212080"/>
            <a:ext cx="1691640" cy="822960"/>
          </a:xfrm>
          <a:prstGeom prst="roundRect">
            <a:avLst>
              <a:gd name="adj" fmla="val 13333"/>
            </a:avLst>
          </a:prstGeom>
          <a:solidFill>
            <a:schemeClr val="bg2"/>
          </a:solidFill>
          <a:ln w="12700">
            <a:solidFill>
              <a:schemeClr val="bg2"/>
            </a:solidFill>
            <a:prstDash val="solid"/>
          </a:ln>
        </p:spPr>
      </p:sp>
      <p:sp>
        <p:nvSpPr>
          <p:cNvPr id="18" name="Text 13"/>
          <p:cNvSpPr txBox="1"/>
          <p:nvPr/>
        </p:nvSpPr>
        <p:spPr>
          <a:xfrm>
            <a:off x="640080" y="5212080"/>
            <a:ext cx="1508760" cy="822960"/>
          </a:xfrm>
          <a:prstGeom prst="rect">
            <a:avLst/>
          </a:prstGeom>
          <a:noFill/>
          <a:ln/>
        </p:spPr>
        <p:txBody>
          <a:bodyPr wrap="square" lIns="0" tIns="0" rIns="0" bIns="0" rtlCol="0" anchor="ctr"/>
          <a:lstStyle/>
          <a:p>
            <a:pPr algn="ctr" indent="0" marL="0">
              <a:buNone/>
            </a:pPr>
            <a:r>
              <a:rPr lang="en-US" sz="1400" dirty="0">
                <a:solidFill>
                  <a:schemeClr val="tx1"/>
                </a:solidFill>
              </a:rPr>
              <a:t>1. Leaked KYC data</a:t>
            </a:r>
            <a:endParaRPr lang="en-US" sz="1400" dirty="0"/>
          </a:p>
        </p:txBody>
      </p:sp>
      <p:sp>
        <p:nvSpPr>
          <p:cNvPr id="19" name="failed control 2"/>
          <p:cNvSpPr/>
          <p:nvPr/>
        </p:nvSpPr>
        <p:spPr>
          <a:xfrm>
            <a:off x="2423160" y="5212080"/>
            <a:ext cx="1691640" cy="822960"/>
          </a:xfrm>
          <a:prstGeom prst="roundRect">
            <a:avLst>
              <a:gd name="adj" fmla="val 13333"/>
            </a:avLst>
          </a:prstGeom>
          <a:solidFill>
            <a:schemeClr val="bg2"/>
          </a:solidFill>
          <a:ln w="12700">
            <a:solidFill>
              <a:schemeClr val="bg2"/>
            </a:solidFill>
            <a:prstDash val="solid"/>
          </a:ln>
        </p:spPr>
      </p:sp>
      <p:sp>
        <p:nvSpPr>
          <p:cNvPr id="20" name="Text 15"/>
          <p:cNvSpPr txBox="1"/>
          <p:nvPr/>
        </p:nvSpPr>
        <p:spPr>
          <a:xfrm>
            <a:off x="2514600" y="5212080"/>
            <a:ext cx="1508760" cy="822960"/>
          </a:xfrm>
          <a:prstGeom prst="rect">
            <a:avLst/>
          </a:prstGeom>
          <a:noFill/>
          <a:ln/>
        </p:spPr>
        <p:txBody>
          <a:bodyPr wrap="square" lIns="0" tIns="0" rIns="0" bIns="0" rtlCol="0" anchor="ctr"/>
          <a:lstStyle/>
          <a:p>
            <a:pPr algn="ctr" indent="0" marL="0">
              <a:buNone/>
            </a:pPr>
            <a:r>
              <a:rPr lang="en-US" sz="1400" dirty="0">
                <a:solidFill>
                  <a:schemeClr val="tx1"/>
                </a:solidFill>
              </a:rPr>
              <a:t>2. Caller ID unverifiable</a:t>
            </a:r>
            <a:endParaRPr lang="en-US" sz="1400" dirty="0"/>
          </a:p>
        </p:txBody>
      </p:sp>
      <p:sp>
        <p:nvSpPr>
          <p:cNvPr id="21" name="failed control 3"/>
          <p:cNvSpPr/>
          <p:nvPr/>
        </p:nvSpPr>
        <p:spPr>
          <a:xfrm>
            <a:off x="4297680" y="5212080"/>
            <a:ext cx="1691640" cy="822960"/>
          </a:xfrm>
          <a:prstGeom prst="roundRect">
            <a:avLst>
              <a:gd name="adj" fmla="val 13333"/>
            </a:avLst>
          </a:prstGeom>
          <a:solidFill>
            <a:schemeClr val="bg2"/>
          </a:solidFill>
          <a:ln w="12700">
            <a:solidFill>
              <a:schemeClr val="bg2"/>
            </a:solidFill>
            <a:prstDash val="solid"/>
          </a:ln>
        </p:spPr>
      </p:sp>
      <p:sp>
        <p:nvSpPr>
          <p:cNvPr id="22" name="Text 17"/>
          <p:cNvSpPr txBox="1"/>
          <p:nvPr/>
        </p:nvSpPr>
        <p:spPr>
          <a:xfrm>
            <a:off x="4389120" y="5212080"/>
            <a:ext cx="1508760" cy="822960"/>
          </a:xfrm>
          <a:prstGeom prst="rect">
            <a:avLst/>
          </a:prstGeom>
          <a:noFill/>
          <a:ln/>
        </p:spPr>
        <p:txBody>
          <a:bodyPr wrap="square" lIns="0" tIns="0" rIns="0" bIns="0" rtlCol="0" anchor="ctr"/>
          <a:lstStyle/>
          <a:p>
            <a:pPr algn="ctr" indent="0" marL="0">
              <a:buNone/>
            </a:pPr>
            <a:r>
              <a:rPr lang="en-US" sz="1400" dirty="0">
                <a:solidFill>
                  <a:schemeClr val="tx1"/>
                </a:solidFill>
              </a:rPr>
              <a:t>3. No way to verify 'officer'</a:t>
            </a:r>
            <a:endParaRPr lang="en-US" sz="1400" dirty="0"/>
          </a:p>
        </p:txBody>
      </p:sp>
      <p:sp>
        <p:nvSpPr>
          <p:cNvPr id="23" name="failed control 4"/>
          <p:cNvSpPr/>
          <p:nvPr/>
        </p:nvSpPr>
        <p:spPr>
          <a:xfrm>
            <a:off x="6172200" y="5212080"/>
            <a:ext cx="1691640" cy="822960"/>
          </a:xfrm>
          <a:prstGeom prst="roundRect">
            <a:avLst>
              <a:gd name="adj" fmla="val 13333"/>
            </a:avLst>
          </a:prstGeom>
          <a:solidFill>
            <a:srgbClr val="FDF3DD"/>
          </a:solidFill>
          <a:ln w="12700">
            <a:solidFill>
              <a:srgbClr val="FDF3DD"/>
            </a:solidFill>
            <a:prstDash val="solid"/>
          </a:ln>
        </p:spPr>
      </p:sp>
      <p:sp>
        <p:nvSpPr>
          <p:cNvPr id="24" name="Text 19"/>
          <p:cNvSpPr txBox="1"/>
          <p:nvPr/>
        </p:nvSpPr>
        <p:spPr>
          <a:xfrm>
            <a:off x="6263640" y="5212080"/>
            <a:ext cx="1508760" cy="822960"/>
          </a:xfrm>
          <a:prstGeom prst="rect">
            <a:avLst/>
          </a:prstGeom>
          <a:noFill/>
          <a:ln/>
        </p:spPr>
        <p:txBody>
          <a:bodyPr wrap="square" lIns="0" tIns="0" rIns="0" bIns="0" rtlCol="0" anchor="ctr"/>
          <a:lstStyle/>
          <a:p>
            <a:pPr algn="ctr" indent="0" marL="0">
              <a:buNone/>
            </a:pPr>
            <a:r>
              <a:rPr lang="en-US" sz="1400" dirty="0">
                <a:solidFill>
                  <a:schemeClr val="tx1"/>
                </a:solidFill>
              </a:rPr>
              <a:t>4. Family never told</a:t>
            </a:r>
            <a:endParaRPr lang="en-US" sz="1400" dirty="0"/>
          </a:p>
        </p:txBody>
      </p:sp>
      <p:sp>
        <p:nvSpPr>
          <p:cNvPr id="25" name="failed control 5"/>
          <p:cNvSpPr/>
          <p:nvPr/>
        </p:nvSpPr>
        <p:spPr>
          <a:xfrm>
            <a:off x="8046720" y="5212080"/>
            <a:ext cx="1691640" cy="822960"/>
          </a:xfrm>
          <a:prstGeom prst="roundRect">
            <a:avLst>
              <a:gd name="adj" fmla="val 13333"/>
            </a:avLst>
          </a:prstGeom>
          <a:solidFill>
            <a:srgbClr val="FDF3DD"/>
          </a:solidFill>
          <a:ln w="12700">
            <a:solidFill>
              <a:srgbClr val="FDF3DD"/>
            </a:solidFill>
            <a:prstDash val="solid"/>
          </a:ln>
        </p:spPr>
      </p:sp>
      <p:sp>
        <p:nvSpPr>
          <p:cNvPr id="26" name="Text 21"/>
          <p:cNvSpPr txBox="1"/>
          <p:nvPr/>
        </p:nvSpPr>
        <p:spPr>
          <a:xfrm>
            <a:off x="8138160" y="5212080"/>
            <a:ext cx="1508760" cy="822960"/>
          </a:xfrm>
          <a:prstGeom prst="rect">
            <a:avLst/>
          </a:prstGeom>
          <a:noFill/>
          <a:ln/>
        </p:spPr>
        <p:txBody>
          <a:bodyPr wrap="square" lIns="0" tIns="0" rIns="0" bIns="0" rtlCol="0" anchor="ctr"/>
          <a:lstStyle/>
          <a:p>
            <a:pPr algn="ctr" indent="0" marL="0">
              <a:buNone/>
            </a:pPr>
            <a:r>
              <a:rPr lang="en-US" sz="1400" dirty="0">
                <a:solidFill>
                  <a:schemeClr val="tx1"/>
                </a:solidFill>
              </a:rPr>
              <a:t>5. Out-of-pattern RTGS processed</a:t>
            </a:r>
            <a:endParaRPr lang="en-US" sz="1400" dirty="0"/>
          </a:p>
        </p:txBody>
      </p:sp>
      <p:sp>
        <p:nvSpPr>
          <p:cNvPr id="27" name="failed control 6"/>
          <p:cNvSpPr/>
          <p:nvPr/>
        </p:nvSpPr>
        <p:spPr>
          <a:xfrm>
            <a:off x="9921240" y="5212080"/>
            <a:ext cx="1691640" cy="822960"/>
          </a:xfrm>
          <a:prstGeom prst="roundRect">
            <a:avLst>
              <a:gd name="adj" fmla="val 13333"/>
            </a:avLst>
          </a:prstGeom>
          <a:solidFill>
            <a:schemeClr val="bg2"/>
          </a:solidFill>
          <a:ln w="12700">
            <a:solidFill>
              <a:schemeClr val="bg2"/>
            </a:solidFill>
            <a:prstDash val="solid"/>
          </a:ln>
        </p:spPr>
      </p:sp>
      <p:sp>
        <p:nvSpPr>
          <p:cNvPr id="28" name="Text 23"/>
          <p:cNvSpPr txBox="1"/>
          <p:nvPr/>
        </p:nvSpPr>
        <p:spPr>
          <a:xfrm>
            <a:off x="10012680" y="5212080"/>
            <a:ext cx="1508760" cy="822960"/>
          </a:xfrm>
          <a:prstGeom prst="rect">
            <a:avLst/>
          </a:prstGeom>
          <a:noFill/>
          <a:ln/>
        </p:spPr>
        <p:txBody>
          <a:bodyPr wrap="square" lIns="0" tIns="0" rIns="0" bIns="0" rtlCol="0" anchor="ctr"/>
          <a:lstStyle/>
          <a:p>
            <a:pPr algn="ctr" indent="0" marL="0">
              <a:buNone/>
            </a:pPr>
            <a:r>
              <a:rPr lang="en-US" sz="1400" dirty="0">
                <a:solidFill>
                  <a:schemeClr val="tx1"/>
                </a:solidFill>
              </a:rPr>
              <a:t>6. Mule accounts, late reports</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DA-Shield: five layers of defence</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Shivendra</a:t>
            </a:r>
            <a:endParaRPr lang="en-US" sz="1300" dirty="0"/>
          </a:p>
        </p:txBody>
      </p:sp>
      <p:sp>
        <p:nvSpPr>
          <p:cNvPr id="6" name="layer card 1"/>
          <p:cNvSpPr/>
          <p:nvPr/>
        </p:nvSpPr>
        <p:spPr>
          <a:xfrm>
            <a:off x="548640" y="1508760"/>
            <a:ext cx="2035454" cy="4526280"/>
          </a:xfrm>
          <a:prstGeom prst="roundRect">
            <a:avLst>
              <a:gd name="adj" fmla="val 5391"/>
            </a:avLst>
          </a:prstGeom>
          <a:solidFill>
            <a:schemeClr val="bg2"/>
          </a:solidFill>
          <a:ln w="12700">
            <a:solidFill>
              <a:schemeClr val="bg2"/>
            </a:solidFill>
            <a:prstDash val="solid"/>
          </a:ln>
        </p:spPr>
      </p:sp>
      <p:sp>
        <p:nvSpPr>
          <p:cNvPr id="7" name="Text 4"/>
          <p:cNvSpPr txBox="1"/>
          <p:nvPr/>
        </p:nvSpPr>
        <p:spPr>
          <a:xfrm>
            <a:off x="777240" y="1737360"/>
            <a:ext cx="1578254" cy="274320"/>
          </a:xfrm>
          <a:prstGeom prst="rect">
            <a:avLst/>
          </a:prstGeom>
          <a:noFill/>
          <a:ln/>
        </p:spPr>
        <p:txBody>
          <a:bodyPr wrap="square" lIns="0" tIns="0" rIns="0" bIns="0" rtlCol="0" anchor="t"/>
          <a:lstStyle/>
          <a:p>
            <a:pPr indent="0" marL="0">
              <a:buNone/>
            </a:pPr>
            <a:r>
              <a:rPr lang="en-US" sz="1200" b="1" spc="200" kern="0" dirty="0">
                <a:solidFill>
                  <a:srgbClr val="5A6478"/>
                </a:solidFill>
              </a:rPr>
              <a:t>LAYER 1</a:t>
            </a:r>
            <a:endParaRPr lang="en-US" sz="1200" dirty="0"/>
          </a:p>
        </p:txBody>
      </p:sp>
      <p:sp>
        <p:nvSpPr>
          <p:cNvPr id="8" name="layer icon 1 circle"/>
          <p:cNvSpPr/>
          <p:nvPr/>
        </p:nvSpPr>
        <p:spPr>
          <a:xfrm>
            <a:off x="777240" y="2103120"/>
            <a:ext cx="731520" cy="731520"/>
          </a:xfrm>
          <a:prstGeom prst="ellipse">
            <a:avLst/>
          </a:prstGeom>
          <a:solidFill>
            <a:schemeClr val="tx2"/>
          </a:solidFill>
          <a:ln w="12700">
            <a:solidFill>
              <a:schemeClr val="tx2"/>
            </a:solidFill>
            <a:prstDash val="solid"/>
          </a:ln>
        </p:spPr>
      </p:sp>
      <p:pic>
        <p:nvPicPr>
          <p:cNvPr id="9" name="layer icon 1" descr="layer icon 1">    </p:cNvPr>
          <p:cNvPicPr>
            <a:picLocks noChangeAspect="1"/>
          </p:cNvPicPr>
          <p:nvPr/>
        </p:nvPicPr>
        <p:blipFill>
          <a:blip r:embed="rId1"/>
          <a:stretch>
            <a:fillRect/>
          </a:stretch>
        </p:blipFill>
        <p:spPr>
          <a:xfrm>
            <a:off x="960120" y="2286000"/>
            <a:ext cx="365760" cy="365760"/>
          </a:xfrm>
          <a:prstGeom prst="rect">
            <a:avLst/>
          </a:prstGeom>
        </p:spPr>
      </p:pic>
      <p:sp>
        <p:nvSpPr>
          <p:cNvPr id="10" name="Text 6"/>
          <p:cNvSpPr txBox="1"/>
          <p:nvPr/>
        </p:nvSpPr>
        <p:spPr>
          <a:xfrm>
            <a:off x="777240" y="2971800"/>
            <a:ext cx="1578254"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Telecom</a:t>
            </a:r>
            <a:endParaRPr lang="en-US" sz="2200" dirty="0"/>
          </a:p>
        </p:txBody>
      </p:sp>
      <p:sp>
        <p:nvSpPr>
          <p:cNvPr id="11" name="Text 7"/>
          <p:cNvSpPr txBox="1"/>
          <p:nvPr/>
        </p:nvSpPr>
        <p:spPr>
          <a:xfrm>
            <a:off x="777240" y="3401568"/>
            <a:ext cx="1578254" cy="320040"/>
          </a:xfrm>
          <a:prstGeom prst="rect">
            <a:avLst/>
          </a:prstGeom>
          <a:noFill/>
          <a:ln/>
        </p:spPr>
        <p:txBody>
          <a:bodyPr wrap="square" lIns="0" tIns="0" rIns="0" bIns="0" rtlCol="0" anchor="t"/>
          <a:lstStyle/>
          <a:p>
            <a:pPr indent="0" marL="0">
              <a:buNone/>
            </a:pPr>
            <a:r>
              <a:rPr lang="en-US" sz="1400" i="1" dirty="0">
                <a:solidFill>
                  <a:srgbClr val="5A6478"/>
                </a:solidFill>
              </a:rPr>
              <a:t>Stages 2-3</a:t>
            </a:r>
            <a:endParaRPr lang="en-US" sz="1400" dirty="0"/>
          </a:p>
        </p:txBody>
      </p:sp>
      <p:sp>
        <p:nvSpPr>
          <p:cNvPr id="12" name="Text 8"/>
          <p:cNvSpPr txBox="1"/>
          <p:nvPr/>
        </p:nvSpPr>
        <p:spPr>
          <a:xfrm>
            <a:off x="777240" y="3794760"/>
            <a:ext cx="1578254" cy="1508760"/>
          </a:xfrm>
          <a:prstGeom prst="rect">
            <a:avLst/>
          </a:prstGeom>
          <a:noFill/>
          <a:ln/>
        </p:spPr>
        <p:txBody>
          <a:bodyPr wrap="square" lIns="0" tIns="0" rIns="0" bIns="0" rtlCol="0" anchor="t"/>
          <a:lstStyle/>
          <a:p>
            <a:pPr indent="0" marL="0">
              <a:buNone/>
            </a:pPr>
            <a:r>
              <a:rPr lang="en-US" sz="1500" dirty="0">
                <a:solidFill>
                  <a:schemeClr val="tx1"/>
                </a:solidFill>
              </a:rPr>
              <a:t>Spoof-call blocking, 'International call' label, Chakshu reporting</a:t>
            </a:r>
            <a:endParaRPr lang="en-US" sz="1500" dirty="0"/>
          </a:p>
        </p:txBody>
      </p:sp>
      <p:sp>
        <p:nvSpPr>
          <p:cNvPr id="13" name="layer card 2"/>
          <p:cNvSpPr/>
          <p:nvPr/>
        </p:nvSpPr>
        <p:spPr>
          <a:xfrm>
            <a:off x="2812694" y="1508760"/>
            <a:ext cx="2035454" cy="4526280"/>
          </a:xfrm>
          <a:prstGeom prst="roundRect">
            <a:avLst>
              <a:gd name="adj" fmla="val 5391"/>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14" name="Text 10"/>
          <p:cNvSpPr txBox="1"/>
          <p:nvPr/>
        </p:nvSpPr>
        <p:spPr>
          <a:xfrm>
            <a:off x="3041294" y="1737360"/>
            <a:ext cx="157825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LAYER 2</a:t>
            </a:r>
            <a:endParaRPr lang="en-US" sz="1200" dirty="0"/>
          </a:p>
        </p:txBody>
      </p:sp>
      <p:sp>
        <p:nvSpPr>
          <p:cNvPr id="15" name="layer icon 2 circle"/>
          <p:cNvSpPr/>
          <p:nvPr/>
        </p:nvSpPr>
        <p:spPr>
          <a:xfrm>
            <a:off x="3041294" y="2103120"/>
            <a:ext cx="731520" cy="731520"/>
          </a:xfrm>
          <a:prstGeom prst="ellipse">
            <a:avLst/>
          </a:prstGeom>
          <a:solidFill>
            <a:schemeClr val="accent1"/>
          </a:solidFill>
          <a:ln w="12700">
            <a:solidFill>
              <a:schemeClr val="accent1"/>
            </a:solidFill>
            <a:prstDash val="solid"/>
          </a:ln>
        </p:spPr>
      </p:sp>
      <p:pic>
        <p:nvPicPr>
          <p:cNvPr id="16" name="layer icon 2" descr="layer icon 2">    </p:cNvPr>
          <p:cNvPicPr>
            <a:picLocks noChangeAspect="1"/>
          </p:cNvPicPr>
          <p:nvPr/>
        </p:nvPicPr>
        <p:blipFill>
          <a:blip r:embed="rId2"/>
          <a:stretch>
            <a:fillRect/>
          </a:stretch>
        </p:blipFill>
        <p:spPr>
          <a:xfrm>
            <a:off x="3224174" y="2286000"/>
            <a:ext cx="365760" cy="365760"/>
          </a:xfrm>
          <a:prstGeom prst="rect">
            <a:avLst/>
          </a:prstGeom>
        </p:spPr>
      </p:pic>
      <p:sp>
        <p:nvSpPr>
          <p:cNvPr id="17" name="Text 12"/>
          <p:cNvSpPr txBox="1"/>
          <p:nvPr/>
        </p:nvSpPr>
        <p:spPr>
          <a:xfrm>
            <a:off x="3041294" y="2971800"/>
            <a:ext cx="1578254"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Messaging</a:t>
            </a:r>
            <a:endParaRPr lang="en-US" sz="2200" dirty="0"/>
          </a:p>
        </p:txBody>
      </p:sp>
      <p:sp>
        <p:nvSpPr>
          <p:cNvPr id="18" name="Text 13"/>
          <p:cNvSpPr txBox="1"/>
          <p:nvPr/>
        </p:nvSpPr>
        <p:spPr>
          <a:xfrm>
            <a:off x="3041294" y="3401568"/>
            <a:ext cx="1578254" cy="320040"/>
          </a:xfrm>
          <a:prstGeom prst="rect">
            <a:avLst/>
          </a:prstGeom>
          <a:noFill/>
          <a:ln/>
        </p:spPr>
        <p:txBody>
          <a:bodyPr wrap="square" lIns="0" tIns="0" rIns="0" bIns="0" rtlCol="0" anchor="t"/>
          <a:lstStyle/>
          <a:p>
            <a:pPr indent="0" marL="0">
              <a:buNone/>
            </a:pPr>
            <a:r>
              <a:rPr lang="en-US" sz="1400" i="1" dirty="0">
                <a:solidFill>
                  <a:srgbClr val="CADCFC"/>
                </a:solidFill>
              </a:rPr>
              <a:t>Stages 3-4</a:t>
            </a:r>
            <a:endParaRPr lang="en-US" sz="1400" dirty="0"/>
          </a:p>
        </p:txBody>
      </p:sp>
      <p:sp>
        <p:nvSpPr>
          <p:cNvPr id="19" name="Text 14"/>
          <p:cNvSpPr txBox="1"/>
          <p:nvPr/>
        </p:nvSpPr>
        <p:spPr>
          <a:xfrm>
            <a:off x="3041294" y="3794760"/>
            <a:ext cx="1578254" cy="1508760"/>
          </a:xfrm>
          <a:prstGeom prst="rect">
            <a:avLst/>
          </a:prstGeom>
          <a:noFill/>
          <a:ln/>
        </p:spPr>
        <p:txBody>
          <a:bodyPr wrap="square" lIns="0" tIns="0" rIns="0" bIns="0" rtlCol="0" anchor="t"/>
          <a:lstStyle/>
          <a:p>
            <a:pPr indent="0" marL="0">
              <a:buNone/>
            </a:pPr>
            <a:r>
              <a:rPr lang="en-US" sz="1500" dirty="0">
                <a:solidFill>
                  <a:srgbClr val="DCE3F0"/>
                </a:solidFill>
              </a:rPr>
              <a:t>Module A: on-device detector for WhatsApp and SMS scam scripts</a:t>
            </a:r>
            <a:endParaRPr lang="en-US" sz="1500" dirty="0"/>
          </a:p>
        </p:txBody>
      </p:sp>
      <p:sp>
        <p:nvSpPr>
          <p:cNvPr id="20" name="built badge 2"/>
          <p:cNvSpPr/>
          <p:nvPr/>
        </p:nvSpPr>
        <p:spPr>
          <a:xfrm>
            <a:off x="3041294" y="5440680"/>
            <a:ext cx="1578254" cy="365760"/>
          </a:xfrm>
          <a:prstGeom prst="roundRect">
            <a:avLst>
              <a:gd name="adj" fmla="val 50000"/>
            </a:avLst>
          </a:prstGeom>
          <a:solidFill>
            <a:schemeClr val="accent1"/>
          </a:solidFill>
          <a:ln w="12700">
            <a:solidFill>
              <a:schemeClr val="accent1"/>
            </a:solidFill>
            <a:prstDash val="solid"/>
          </a:ln>
        </p:spPr>
      </p:sp>
      <p:sp>
        <p:nvSpPr>
          <p:cNvPr id="21" name="Text 16"/>
          <p:cNvSpPr txBox="1"/>
          <p:nvPr/>
        </p:nvSpPr>
        <p:spPr>
          <a:xfrm>
            <a:off x="3041294" y="5440680"/>
            <a:ext cx="1578254" cy="365760"/>
          </a:xfrm>
          <a:prstGeom prst="rect">
            <a:avLst/>
          </a:prstGeom>
          <a:noFill/>
          <a:ln/>
        </p:spPr>
        <p:txBody>
          <a:bodyPr wrap="square" lIns="0" tIns="0" rIns="0" bIns="0" rtlCol="0" anchor="ctr"/>
          <a:lstStyle/>
          <a:p>
            <a:pPr algn="ctr" indent="0" marL="0">
              <a:buNone/>
            </a:pPr>
            <a:r>
              <a:rPr lang="en-US" sz="1300" b="1" dirty="0">
                <a:solidFill>
                  <a:schemeClr val="tx2"/>
                </a:solidFill>
              </a:rPr>
              <a:t>Built and tested</a:t>
            </a:r>
            <a:endParaRPr lang="en-US" sz="1300" dirty="0"/>
          </a:p>
        </p:txBody>
      </p:sp>
      <p:sp>
        <p:nvSpPr>
          <p:cNvPr id="22" name="layer card 3"/>
          <p:cNvSpPr/>
          <p:nvPr/>
        </p:nvSpPr>
        <p:spPr>
          <a:xfrm>
            <a:off x="5076749" y="1508760"/>
            <a:ext cx="2035454" cy="4526280"/>
          </a:xfrm>
          <a:prstGeom prst="roundRect">
            <a:avLst>
              <a:gd name="adj" fmla="val 5391"/>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3" name="Text 18"/>
          <p:cNvSpPr txBox="1"/>
          <p:nvPr/>
        </p:nvSpPr>
        <p:spPr>
          <a:xfrm>
            <a:off x="5305349" y="1737360"/>
            <a:ext cx="157825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LAYER 3</a:t>
            </a:r>
            <a:endParaRPr lang="en-US" sz="1200" dirty="0"/>
          </a:p>
        </p:txBody>
      </p:sp>
      <p:sp>
        <p:nvSpPr>
          <p:cNvPr id="24" name="layer icon 3 circle"/>
          <p:cNvSpPr/>
          <p:nvPr/>
        </p:nvSpPr>
        <p:spPr>
          <a:xfrm>
            <a:off x="5305349" y="2103120"/>
            <a:ext cx="731520" cy="731520"/>
          </a:xfrm>
          <a:prstGeom prst="ellipse">
            <a:avLst/>
          </a:prstGeom>
          <a:solidFill>
            <a:schemeClr val="accent1"/>
          </a:solidFill>
          <a:ln w="12700">
            <a:solidFill>
              <a:schemeClr val="accent1"/>
            </a:solidFill>
            <a:prstDash val="solid"/>
          </a:ln>
        </p:spPr>
      </p:sp>
      <p:pic>
        <p:nvPicPr>
          <p:cNvPr id="25" name="layer icon 3" descr="layer icon 3">    </p:cNvPr>
          <p:cNvPicPr>
            <a:picLocks noChangeAspect="1"/>
          </p:cNvPicPr>
          <p:nvPr/>
        </p:nvPicPr>
        <p:blipFill>
          <a:blip r:embed="rId3"/>
          <a:stretch>
            <a:fillRect/>
          </a:stretch>
        </p:blipFill>
        <p:spPr>
          <a:xfrm>
            <a:off x="5488229" y="2286000"/>
            <a:ext cx="365760" cy="365760"/>
          </a:xfrm>
          <a:prstGeom prst="rect">
            <a:avLst/>
          </a:prstGeom>
        </p:spPr>
      </p:pic>
      <p:sp>
        <p:nvSpPr>
          <p:cNvPr id="26" name="Text 20"/>
          <p:cNvSpPr txBox="1"/>
          <p:nvPr/>
        </p:nvSpPr>
        <p:spPr>
          <a:xfrm>
            <a:off x="5305349" y="2971800"/>
            <a:ext cx="1578254"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Banking</a:t>
            </a:r>
            <a:endParaRPr lang="en-US" sz="2200" dirty="0"/>
          </a:p>
        </p:txBody>
      </p:sp>
      <p:sp>
        <p:nvSpPr>
          <p:cNvPr id="27" name="Text 21"/>
          <p:cNvSpPr txBox="1"/>
          <p:nvPr/>
        </p:nvSpPr>
        <p:spPr>
          <a:xfrm>
            <a:off x="5305349" y="3401568"/>
            <a:ext cx="1578254" cy="320040"/>
          </a:xfrm>
          <a:prstGeom prst="rect">
            <a:avLst/>
          </a:prstGeom>
          <a:noFill/>
          <a:ln/>
        </p:spPr>
        <p:txBody>
          <a:bodyPr wrap="square" lIns="0" tIns="0" rIns="0" bIns="0" rtlCol="0" anchor="t"/>
          <a:lstStyle/>
          <a:p>
            <a:pPr indent="0" marL="0">
              <a:buNone/>
            </a:pPr>
            <a:r>
              <a:rPr lang="en-US" sz="1400" i="1" dirty="0">
                <a:solidFill>
                  <a:srgbClr val="CADCFC"/>
                </a:solidFill>
              </a:rPr>
              <a:t>Stage 5</a:t>
            </a:r>
            <a:endParaRPr lang="en-US" sz="1400" dirty="0"/>
          </a:p>
        </p:txBody>
      </p:sp>
      <p:sp>
        <p:nvSpPr>
          <p:cNvPr id="28" name="Text 22"/>
          <p:cNvSpPr txBox="1"/>
          <p:nvPr/>
        </p:nvSpPr>
        <p:spPr>
          <a:xfrm>
            <a:off x="5305349" y="3794760"/>
            <a:ext cx="1578254" cy="1508760"/>
          </a:xfrm>
          <a:prstGeom prst="rect">
            <a:avLst/>
          </a:prstGeom>
          <a:noFill/>
          <a:ln/>
        </p:spPr>
        <p:txBody>
          <a:bodyPr wrap="square" lIns="0" tIns="0" rIns="0" bIns="0" rtlCol="0" anchor="t"/>
          <a:lstStyle/>
          <a:p>
            <a:pPr indent="0" marL="0">
              <a:buNone/>
            </a:pPr>
            <a:r>
              <a:rPr lang="en-US" sz="1500" dirty="0">
                <a:solidFill>
                  <a:srgbClr val="DCE3F0"/>
                </a:solidFill>
              </a:rPr>
              <a:t>Module B: risk engine, 24-hour hold and trusted-contact callback</a:t>
            </a:r>
            <a:endParaRPr lang="en-US" sz="1500" dirty="0"/>
          </a:p>
        </p:txBody>
      </p:sp>
      <p:sp>
        <p:nvSpPr>
          <p:cNvPr id="29" name="built badge 3"/>
          <p:cNvSpPr/>
          <p:nvPr/>
        </p:nvSpPr>
        <p:spPr>
          <a:xfrm>
            <a:off x="5305349" y="5440680"/>
            <a:ext cx="1578254" cy="365760"/>
          </a:xfrm>
          <a:prstGeom prst="roundRect">
            <a:avLst>
              <a:gd name="adj" fmla="val 50000"/>
            </a:avLst>
          </a:prstGeom>
          <a:solidFill>
            <a:schemeClr val="accent1"/>
          </a:solidFill>
          <a:ln w="12700">
            <a:solidFill>
              <a:schemeClr val="accent1"/>
            </a:solidFill>
            <a:prstDash val="solid"/>
          </a:ln>
        </p:spPr>
      </p:sp>
      <p:sp>
        <p:nvSpPr>
          <p:cNvPr id="30" name="Text 24"/>
          <p:cNvSpPr txBox="1"/>
          <p:nvPr/>
        </p:nvSpPr>
        <p:spPr>
          <a:xfrm>
            <a:off x="5305349" y="5440680"/>
            <a:ext cx="1578254" cy="365760"/>
          </a:xfrm>
          <a:prstGeom prst="rect">
            <a:avLst/>
          </a:prstGeom>
          <a:noFill/>
          <a:ln/>
        </p:spPr>
        <p:txBody>
          <a:bodyPr wrap="square" lIns="0" tIns="0" rIns="0" bIns="0" rtlCol="0" anchor="ctr"/>
          <a:lstStyle/>
          <a:p>
            <a:pPr algn="ctr" indent="0" marL="0">
              <a:buNone/>
            </a:pPr>
            <a:r>
              <a:rPr lang="en-US" sz="1300" b="1" dirty="0">
                <a:solidFill>
                  <a:schemeClr val="tx2"/>
                </a:solidFill>
              </a:rPr>
              <a:t>Built and tested</a:t>
            </a:r>
            <a:endParaRPr lang="en-US" sz="1300" dirty="0"/>
          </a:p>
        </p:txBody>
      </p:sp>
      <p:sp>
        <p:nvSpPr>
          <p:cNvPr id="31" name="layer card 4"/>
          <p:cNvSpPr/>
          <p:nvPr/>
        </p:nvSpPr>
        <p:spPr>
          <a:xfrm>
            <a:off x="7340803" y="1508760"/>
            <a:ext cx="2035454" cy="4526280"/>
          </a:xfrm>
          <a:prstGeom prst="roundRect">
            <a:avLst>
              <a:gd name="adj" fmla="val 5391"/>
            </a:avLst>
          </a:prstGeom>
          <a:solidFill>
            <a:schemeClr val="bg2"/>
          </a:solidFill>
          <a:ln w="12700">
            <a:solidFill>
              <a:schemeClr val="bg2"/>
            </a:solidFill>
            <a:prstDash val="solid"/>
          </a:ln>
        </p:spPr>
      </p:sp>
      <p:sp>
        <p:nvSpPr>
          <p:cNvPr id="32" name="Text 26"/>
          <p:cNvSpPr txBox="1"/>
          <p:nvPr/>
        </p:nvSpPr>
        <p:spPr>
          <a:xfrm>
            <a:off x="7569403" y="1737360"/>
            <a:ext cx="1578254" cy="274320"/>
          </a:xfrm>
          <a:prstGeom prst="rect">
            <a:avLst/>
          </a:prstGeom>
          <a:noFill/>
          <a:ln/>
        </p:spPr>
        <p:txBody>
          <a:bodyPr wrap="square" lIns="0" tIns="0" rIns="0" bIns="0" rtlCol="0" anchor="t"/>
          <a:lstStyle/>
          <a:p>
            <a:pPr indent="0" marL="0">
              <a:buNone/>
            </a:pPr>
            <a:r>
              <a:rPr lang="en-US" sz="1200" b="1" spc="200" kern="0" dirty="0">
                <a:solidFill>
                  <a:srgbClr val="5A6478"/>
                </a:solidFill>
              </a:rPr>
              <a:t>LAYER 4</a:t>
            </a:r>
            <a:endParaRPr lang="en-US" sz="1200" dirty="0"/>
          </a:p>
        </p:txBody>
      </p:sp>
      <p:sp>
        <p:nvSpPr>
          <p:cNvPr id="33" name="layer icon 4 circle"/>
          <p:cNvSpPr/>
          <p:nvPr/>
        </p:nvSpPr>
        <p:spPr>
          <a:xfrm>
            <a:off x="7569403" y="2103120"/>
            <a:ext cx="731520" cy="731520"/>
          </a:xfrm>
          <a:prstGeom prst="ellipse">
            <a:avLst/>
          </a:prstGeom>
          <a:solidFill>
            <a:schemeClr val="tx2"/>
          </a:solidFill>
          <a:ln w="12700">
            <a:solidFill>
              <a:schemeClr val="tx2"/>
            </a:solidFill>
            <a:prstDash val="solid"/>
          </a:ln>
        </p:spPr>
      </p:sp>
      <p:pic>
        <p:nvPicPr>
          <p:cNvPr id="34" name="layer icon 4" descr="layer icon 4">    </p:cNvPr>
          <p:cNvPicPr>
            <a:picLocks noChangeAspect="1"/>
          </p:cNvPicPr>
          <p:nvPr/>
        </p:nvPicPr>
        <p:blipFill>
          <a:blip r:embed="rId4"/>
          <a:stretch>
            <a:fillRect/>
          </a:stretch>
        </p:blipFill>
        <p:spPr>
          <a:xfrm>
            <a:off x="7752283" y="2286000"/>
            <a:ext cx="365760" cy="365760"/>
          </a:xfrm>
          <a:prstGeom prst="rect">
            <a:avLst/>
          </a:prstGeom>
        </p:spPr>
      </p:pic>
      <p:sp>
        <p:nvSpPr>
          <p:cNvPr id="35" name="Text 28"/>
          <p:cNvSpPr txBox="1"/>
          <p:nvPr/>
        </p:nvSpPr>
        <p:spPr>
          <a:xfrm>
            <a:off x="7569403" y="2971800"/>
            <a:ext cx="1578254"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Response</a:t>
            </a:r>
            <a:endParaRPr lang="en-US" sz="2200" dirty="0"/>
          </a:p>
        </p:txBody>
      </p:sp>
      <p:sp>
        <p:nvSpPr>
          <p:cNvPr id="36" name="Text 29"/>
          <p:cNvSpPr txBox="1"/>
          <p:nvPr/>
        </p:nvSpPr>
        <p:spPr>
          <a:xfrm>
            <a:off x="7569403" y="3401568"/>
            <a:ext cx="1578254" cy="320040"/>
          </a:xfrm>
          <a:prstGeom prst="rect">
            <a:avLst/>
          </a:prstGeom>
          <a:noFill/>
          <a:ln/>
        </p:spPr>
        <p:txBody>
          <a:bodyPr wrap="square" lIns="0" tIns="0" rIns="0" bIns="0" rtlCol="0" anchor="t"/>
          <a:lstStyle/>
          <a:p>
            <a:pPr indent="0" marL="0">
              <a:buNone/>
            </a:pPr>
            <a:r>
              <a:rPr lang="en-US" sz="1400" i="1" dirty="0">
                <a:solidFill>
                  <a:srgbClr val="5A6478"/>
                </a:solidFill>
              </a:rPr>
              <a:t>Stage 6</a:t>
            </a:r>
            <a:endParaRPr lang="en-US" sz="1400" dirty="0"/>
          </a:p>
        </p:txBody>
      </p:sp>
      <p:sp>
        <p:nvSpPr>
          <p:cNvPr id="37" name="Text 30"/>
          <p:cNvSpPr txBox="1"/>
          <p:nvPr/>
        </p:nvSpPr>
        <p:spPr>
          <a:xfrm>
            <a:off x="7569403" y="3794760"/>
            <a:ext cx="1578254" cy="1508760"/>
          </a:xfrm>
          <a:prstGeom prst="rect">
            <a:avLst/>
          </a:prstGeom>
          <a:noFill/>
          <a:ln/>
        </p:spPr>
        <p:txBody>
          <a:bodyPr wrap="square" lIns="0" tIns="0" rIns="0" bIns="0" rtlCol="0" anchor="t"/>
          <a:lstStyle/>
          <a:p>
            <a:pPr indent="0" marL="0">
              <a:buNone/>
            </a:pPr>
            <a:r>
              <a:rPr lang="en-US" sz="1500" dirty="0">
                <a:solidFill>
                  <a:schemeClr val="tx1"/>
                </a:solidFill>
              </a:rPr>
              <a:t>1930 golden-hour reporting so mule accounts can be frozen</a:t>
            </a:r>
            <a:endParaRPr lang="en-US" sz="1500" dirty="0"/>
          </a:p>
        </p:txBody>
      </p:sp>
      <p:sp>
        <p:nvSpPr>
          <p:cNvPr id="38" name="layer card 5"/>
          <p:cNvSpPr/>
          <p:nvPr/>
        </p:nvSpPr>
        <p:spPr>
          <a:xfrm>
            <a:off x="9604858" y="1508760"/>
            <a:ext cx="2035454" cy="4526280"/>
          </a:xfrm>
          <a:prstGeom prst="roundRect">
            <a:avLst>
              <a:gd name="adj" fmla="val 5391"/>
            </a:avLst>
          </a:prstGeom>
          <a:solidFill>
            <a:schemeClr val="bg2"/>
          </a:solidFill>
          <a:ln w="12700">
            <a:solidFill>
              <a:schemeClr val="bg2"/>
            </a:solidFill>
            <a:prstDash val="solid"/>
          </a:ln>
        </p:spPr>
      </p:sp>
      <p:sp>
        <p:nvSpPr>
          <p:cNvPr id="39" name="Text 32"/>
          <p:cNvSpPr txBox="1"/>
          <p:nvPr/>
        </p:nvSpPr>
        <p:spPr>
          <a:xfrm>
            <a:off x="9833458" y="1737360"/>
            <a:ext cx="1578254" cy="274320"/>
          </a:xfrm>
          <a:prstGeom prst="rect">
            <a:avLst/>
          </a:prstGeom>
          <a:noFill/>
          <a:ln/>
        </p:spPr>
        <p:txBody>
          <a:bodyPr wrap="square" lIns="0" tIns="0" rIns="0" bIns="0" rtlCol="0" anchor="t"/>
          <a:lstStyle/>
          <a:p>
            <a:pPr indent="0" marL="0">
              <a:buNone/>
            </a:pPr>
            <a:r>
              <a:rPr lang="en-US" sz="1200" b="1" spc="200" kern="0" dirty="0">
                <a:solidFill>
                  <a:srgbClr val="5A6478"/>
                </a:solidFill>
              </a:rPr>
              <a:t>LAYER 5</a:t>
            </a:r>
            <a:endParaRPr lang="en-US" sz="1200" dirty="0"/>
          </a:p>
        </p:txBody>
      </p:sp>
      <p:sp>
        <p:nvSpPr>
          <p:cNvPr id="40" name="layer icon 5 circle"/>
          <p:cNvSpPr/>
          <p:nvPr/>
        </p:nvSpPr>
        <p:spPr>
          <a:xfrm>
            <a:off x="9833458" y="2103120"/>
            <a:ext cx="731520" cy="731520"/>
          </a:xfrm>
          <a:prstGeom prst="ellipse">
            <a:avLst/>
          </a:prstGeom>
          <a:solidFill>
            <a:schemeClr val="tx2"/>
          </a:solidFill>
          <a:ln w="12700">
            <a:solidFill>
              <a:schemeClr val="tx2"/>
            </a:solidFill>
            <a:prstDash val="solid"/>
          </a:ln>
        </p:spPr>
      </p:sp>
      <p:pic>
        <p:nvPicPr>
          <p:cNvPr id="41" name="layer icon 5" descr="layer icon 5">    </p:cNvPr>
          <p:cNvPicPr>
            <a:picLocks noChangeAspect="1"/>
          </p:cNvPicPr>
          <p:nvPr/>
        </p:nvPicPr>
        <p:blipFill>
          <a:blip r:embed="rId5"/>
          <a:stretch>
            <a:fillRect/>
          </a:stretch>
        </p:blipFill>
        <p:spPr>
          <a:xfrm>
            <a:off x="10016338" y="2286000"/>
            <a:ext cx="365760" cy="365760"/>
          </a:xfrm>
          <a:prstGeom prst="rect">
            <a:avLst/>
          </a:prstGeom>
        </p:spPr>
      </p:pic>
      <p:sp>
        <p:nvSpPr>
          <p:cNvPr id="42" name="Text 34"/>
          <p:cNvSpPr txBox="1"/>
          <p:nvPr/>
        </p:nvSpPr>
        <p:spPr>
          <a:xfrm>
            <a:off x="9833458" y="2971800"/>
            <a:ext cx="1578254"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Awareness</a:t>
            </a:r>
            <a:endParaRPr lang="en-US" sz="2200" dirty="0"/>
          </a:p>
        </p:txBody>
      </p:sp>
      <p:sp>
        <p:nvSpPr>
          <p:cNvPr id="43" name="Text 35"/>
          <p:cNvSpPr txBox="1"/>
          <p:nvPr/>
        </p:nvSpPr>
        <p:spPr>
          <a:xfrm>
            <a:off x="9833458" y="3401568"/>
            <a:ext cx="1578254" cy="320040"/>
          </a:xfrm>
          <a:prstGeom prst="rect">
            <a:avLst/>
          </a:prstGeom>
          <a:noFill/>
          <a:ln/>
        </p:spPr>
        <p:txBody>
          <a:bodyPr wrap="square" lIns="0" tIns="0" rIns="0" bIns="0" rtlCol="0" anchor="t"/>
          <a:lstStyle/>
          <a:p>
            <a:pPr indent="0" marL="0">
              <a:buNone/>
            </a:pPr>
            <a:r>
              <a:rPr lang="en-US" sz="1400" i="1" dirty="0">
                <a:solidFill>
                  <a:srgbClr val="5A6478"/>
                </a:solidFill>
              </a:rPr>
              <a:t>All stages</a:t>
            </a:r>
            <a:endParaRPr lang="en-US" sz="1400" dirty="0"/>
          </a:p>
        </p:txBody>
      </p:sp>
      <p:sp>
        <p:nvSpPr>
          <p:cNvPr id="44" name="Text 36"/>
          <p:cNvSpPr txBox="1"/>
          <p:nvPr/>
        </p:nvSpPr>
        <p:spPr>
          <a:xfrm>
            <a:off x="9833458" y="3794760"/>
            <a:ext cx="1578254" cy="1508760"/>
          </a:xfrm>
          <a:prstGeom prst="rect">
            <a:avLst/>
          </a:prstGeom>
          <a:noFill/>
          <a:ln/>
        </p:spPr>
        <p:txBody>
          <a:bodyPr wrap="square" lIns="0" tIns="0" rIns="0" bIns="0" rtlCol="0" anchor="t"/>
          <a:lstStyle/>
          <a:p>
            <a:pPr indent="0" marL="0">
              <a:buNone/>
            </a:pPr>
            <a:r>
              <a:rPr lang="en-US" sz="1500" dirty="0">
                <a:solidFill>
                  <a:schemeClr val="tx1"/>
                </a:solidFill>
              </a:rPr>
              <a:t>Family rule: no transfer of savings without calling family first</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Module A: spotting the scam script</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Shivendra</a:t>
            </a:r>
            <a:endParaRPr lang="en-US" sz="1300" dirty="0"/>
          </a:p>
        </p:txBody>
      </p:sp>
      <p:sp>
        <p:nvSpPr>
          <p:cNvPr id="6" name="Text 3"/>
          <p:cNvSpPr txBox="1"/>
          <p:nvPr/>
        </p:nvSpPr>
        <p:spPr>
          <a:xfrm>
            <a:off x="548640" y="1463040"/>
            <a:ext cx="5486400" cy="411480"/>
          </a:xfrm>
          <a:prstGeom prst="rect">
            <a:avLst/>
          </a:prstGeom>
          <a:noFill/>
          <a:ln/>
        </p:spPr>
        <p:txBody>
          <a:bodyPr wrap="square" lIns="0" tIns="0" rIns="0" bIns="0" rtlCol="0" anchor="t"/>
          <a:lstStyle/>
          <a:p>
            <a:pPr indent="0" marL="0">
              <a:buNone/>
            </a:pPr>
            <a:r>
              <a:rPr lang="en-US" sz="2000" b="1" dirty="0">
                <a:solidFill>
                  <a:schemeClr val="tx2"/>
                </a:solidFill>
              </a:rPr>
              <a:t>910 messages, 13 families</a:t>
            </a:r>
            <a:endParaRPr lang="en-US" sz="2000" dirty="0"/>
          </a:p>
        </p:txBody>
      </p:sp>
      <p:sp>
        <p:nvSpPr>
          <p:cNvPr id="7" name="family Courier / drugs"/>
          <p:cNvSpPr/>
          <p:nvPr/>
        </p:nvSpPr>
        <p:spPr>
          <a:xfrm>
            <a:off x="548640" y="1965960"/>
            <a:ext cx="2606040" cy="420624"/>
          </a:xfrm>
          <a:prstGeom prst="roundRect">
            <a:avLst>
              <a:gd name="adj" fmla="val 26087"/>
            </a:avLst>
          </a:prstGeom>
          <a:solidFill>
            <a:srgbClr val="FBE3E6"/>
          </a:solidFill>
          <a:ln w="12700">
            <a:solidFill>
              <a:srgbClr val="FBE3E6"/>
            </a:solidFill>
            <a:prstDash val="solid"/>
          </a:ln>
        </p:spPr>
      </p:sp>
      <p:sp>
        <p:nvSpPr>
          <p:cNvPr id="8" name="Text 5"/>
          <p:cNvSpPr txBox="1"/>
          <p:nvPr/>
        </p:nvSpPr>
        <p:spPr>
          <a:xfrm>
            <a:off x="685800" y="1965960"/>
            <a:ext cx="2377440" cy="420624"/>
          </a:xfrm>
          <a:prstGeom prst="rect">
            <a:avLst/>
          </a:prstGeom>
          <a:noFill/>
          <a:ln/>
        </p:spPr>
        <p:txBody>
          <a:bodyPr wrap="square" lIns="0" tIns="0" rIns="0" bIns="0" rtlCol="0" anchor="ctr"/>
          <a:lstStyle/>
          <a:p>
            <a:pPr indent="0" marL="0">
              <a:buNone/>
            </a:pPr>
            <a:r>
              <a:rPr lang="en-US" sz="1400" dirty="0">
                <a:solidFill>
                  <a:schemeClr val="tx1"/>
                </a:solidFill>
              </a:rPr>
              <a:t>Courier / drugs</a:t>
            </a:r>
            <a:endParaRPr lang="en-US" sz="1400" dirty="0"/>
          </a:p>
        </p:txBody>
      </p:sp>
      <p:sp>
        <p:nvSpPr>
          <p:cNvPr id="9" name="family Aadhaar laundering"/>
          <p:cNvSpPr/>
          <p:nvPr/>
        </p:nvSpPr>
        <p:spPr>
          <a:xfrm>
            <a:off x="548640" y="2478024"/>
            <a:ext cx="2606040" cy="420624"/>
          </a:xfrm>
          <a:prstGeom prst="roundRect">
            <a:avLst>
              <a:gd name="adj" fmla="val 26087"/>
            </a:avLst>
          </a:prstGeom>
          <a:solidFill>
            <a:srgbClr val="FBE3E6"/>
          </a:solidFill>
          <a:ln w="12700">
            <a:solidFill>
              <a:srgbClr val="FBE3E6"/>
            </a:solidFill>
            <a:prstDash val="solid"/>
          </a:ln>
        </p:spPr>
      </p:sp>
      <p:sp>
        <p:nvSpPr>
          <p:cNvPr id="10" name="Text 7"/>
          <p:cNvSpPr txBox="1"/>
          <p:nvPr/>
        </p:nvSpPr>
        <p:spPr>
          <a:xfrm>
            <a:off x="685800" y="2478024"/>
            <a:ext cx="2377440" cy="420624"/>
          </a:xfrm>
          <a:prstGeom prst="rect">
            <a:avLst/>
          </a:prstGeom>
          <a:noFill/>
          <a:ln/>
        </p:spPr>
        <p:txBody>
          <a:bodyPr wrap="square" lIns="0" tIns="0" rIns="0" bIns="0" rtlCol="0" anchor="ctr"/>
          <a:lstStyle/>
          <a:p>
            <a:pPr indent="0" marL="0">
              <a:buNone/>
            </a:pPr>
            <a:r>
              <a:rPr lang="en-US" sz="1400" dirty="0">
                <a:solidFill>
                  <a:schemeClr val="tx1"/>
                </a:solidFill>
              </a:rPr>
              <a:t>Aadhaar laundering</a:t>
            </a:r>
            <a:endParaRPr lang="en-US" sz="1400" dirty="0"/>
          </a:p>
        </p:txBody>
      </p:sp>
      <p:sp>
        <p:nvSpPr>
          <p:cNvPr id="11" name="family Telecom cut-off"/>
          <p:cNvSpPr/>
          <p:nvPr/>
        </p:nvSpPr>
        <p:spPr>
          <a:xfrm>
            <a:off x="548640" y="2990088"/>
            <a:ext cx="2606040" cy="420624"/>
          </a:xfrm>
          <a:prstGeom prst="roundRect">
            <a:avLst>
              <a:gd name="adj" fmla="val 26087"/>
            </a:avLst>
          </a:prstGeom>
          <a:solidFill>
            <a:srgbClr val="FBE3E6"/>
          </a:solidFill>
          <a:ln w="12700">
            <a:solidFill>
              <a:srgbClr val="FBE3E6"/>
            </a:solidFill>
            <a:prstDash val="solid"/>
          </a:ln>
        </p:spPr>
      </p:sp>
      <p:sp>
        <p:nvSpPr>
          <p:cNvPr id="12" name="Text 9"/>
          <p:cNvSpPr txBox="1"/>
          <p:nvPr/>
        </p:nvSpPr>
        <p:spPr>
          <a:xfrm>
            <a:off x="685800" y="2990088"/>
            <a:ext cx="2377440" cy="420624"/>
          </a:xfrm>
          <a:prstGeom prst="rect">
            <a:avLst/>
          </a:prstGeom>
          <a:noFill/>
          <a:ln/>
        </p:spPr>
        <p:txBody>
          <a:bodyPr wrap="square" lIns="0" tIns="0" rIns="0" bIns="0" rtlCol="0" anchor="ctr"/>
          <a:lstStyle/>
          <a:p>
            <a:pPr indent="0" marL="0">
              <a:buNone/>
            </a:pPr>
            <a:r>
              <a:rPr lang="en-US" sz="1400" dirty="0">
                <a:solidFill>
                  <a:schemeClr val="tx1"/>
                </a:solidFill>
              </a:rPr>
              <a:t>Telecom cut-off</a:t>
            </a:r>
            <a:endParaRPr lang="en-US" sz="1400" dirty="0"/>
          </a:p>
        </p:txBody>
      </p:sp>
      <p:sp>
        <p:nvSpPr>
          <p:cNvPr id="13" name="family Safe account"/>
          <p:cNvSpPr/>
          <p:nvPr/>
        </p:nvSpPr>
        <p:spPr>
          <a:xfrm>
            <a:off x="548640" y="3502152"/>
            <a:ext cx="2606040" cy="420624"/>
          </a:xfrm>
          <a:prstGeom prst="roundRect">
            <a:avLst>
              <a:gd name="adj" fmla="val 26087"/>
            </a:avLst>
          </a:prstGeom>
          <a:solidFill>
            <a:srgbClr val="FBE3E6"/>
          </a:solidFill>
          <a:ln w="12700">
            <a:solidFill>
              <a:srgbClr val="FBE3E6"/>
            </a:solidFill>
            <a:prstDash val="solid"/>
          </a:ln>
        </p:spPr>
      </p:sp>
      <p:sp>
        <p:nvSpPr>
          <p:cNvPr id="14" name="Text 11"/>
          <p:cNvSpPr txBox="1"/>
          <p:nvPr/>
        </p:nvSpPr>
        <p:spPr>
          <a:xfrm>
            <a:off x="685800" y="3502152"/>
            <a:ext cx="2377440" cy="420624"/>
          </a:xfrm>
          <a:prstGeom prst="rect">
            <a:avLst/>
          </a:prstGeom>
          <a:noFill/>
          <a:ln/>
        </p:spPr>
        <p:txBody>
          <a:bodyPr wrap="square" lIns="0" tIns="0" rIns="0" bIns="0" rtlCol="0" anchor="ctr"/>
          <a:lstStyle/>
          <a:p>
            <a:pPr indent="0" marL="0">
              <a:buNone/>
            </a:pPr>
            <a:r>
              <a:rPr lang="en-US" sz="1400" dirty="0">
                <a:solidFill>
                  <a:schemeClr val="tx1"/>
                </a:solidFill>
              </a:rPr>
              <a:t>Safe account</a:t>
            </a:r>
            <a:endParaRPr lang="en-US" sz="1400" dirty="0"/>
          </a:p>
        </p:txBody>
      </p:sp>
      <p:sp>
        <p:nvSpPr>
          <p:cNvPr id="15" name="family Fake court order"/>
          <p:cNvSpPr/>
          <p:nvPr/>
        </p:nvSpPr>
        <p:spPr>
          <a:xfrm>
            <a:off x="548640" y="4014216"/>
            <a:ext cx="2606040" cy="420624"/>
          </a:xfrm>
          <a:prstGeom prst="roundRect">
            <a:avLst>
              <a:gd name="adj" fmla="val 26087"/>
            </a:avLst>
          </a:prstGeom>
          <a:solidFill>
            <a:srgbClr val="FBE3E6"/>
          </a:solidFill>
          <a:ln w="12700">
            <a:solidFill>
              <a:srgbClr val="FBE3E6"/>
            </a:solidFill>
            <a:prstDash val="solid"/>
          </a:ln>
        </p:spPr>
      </p:sp>
      <p:sp>
        <p:nvSpPr>
          <p:cNvPr id="16" name="Text 13"/>
          <p:cNvSpPr txBox="1"/>
          <p:nvPr/>
        </p:nvSpPr>
        <p:spPr>
          <a:xfrm>
            <a:off x="685800" y="4014216"/>
            <a:ext cx="2377440" cy="420624"/>
          </a:xfrm>
          <a:prstGeom prst="rect">
            <a:avLst/>
          </a:prstGeom>
          <a:noFill/>
          <a:ln/>
        </p:spPr>
        <p:txBody>
          <a:bodyPr wrap="square" lIns="0" tIns="0" rIns="0" bIns="0" rtlCol="0" anchor="ctr"/>
          <a:lstStyle/>
          <a:p>
            <a:pPr indent="0" marL="0">
              <a:buNone/>
            </a:pPr>
            <a:r>
              <a:rPr lang="en-US" sz="1400" dirty="0">
                <a:solidFill>
                  <a:schemeClr val="tx1"/>
                </a:solidFill>
              </a:rPr>
              <a:t>Fake court order</a:t>
            </a:r>
            <a:endParaRPr lang="en-US" sz="1400" dirty="0"/>
          </a:p>
        </p:txBody>
      </p:sp>
      <p:sp>
        <p:nvSpPr>
          <p:cNvPr id="17" name="family Family threat"/>
          <p:cNvSpPr/>
          <p:nvPr/>
        </p:nvSpPr>
        <p:spPr>
          <a:xfrm>
            <a:off x="548640" y="4526280"/>
            <a:ext cx="2606040" cy="420624"/>
          </a:xfrm>
          <a:prstGeom prst="roundRect">
            <a:avLst>
              <a:gd name="adj" fmla="val 26087"/>
            </a:avLst>
          </a:prstGeom>
          <a:solidFill>
            <a:srgbClr val="FBE3E6"/>
          </a:solidFill>
          <a:ln w="12700">
            <a:solidFill>
              <a:srgbClr val="FBE3E6"/>
            </a:solidFill>
            <a:prstDash val="solid"/>
          </a:ln>
        </p:spPr>
      </p:sp>
      <p:sp>
        <p:nvSpPr>
          <p:cNvPr id="18" name="Text 15"/>
          <p:cNvSpPr txBox="1"/>
          <p:nvPr/>
        </p:nvSpPr>
        <p:spPr>
          <a:xfrm>
            <a:off x="685800" y="4526280"/>
            <a:ext cx="2377440" cy="420624"/>
          </a:xfrm>
          <a:prstGeom prst="rect">
            <a:avLst/>
          </a:prstGeom>
          <a:noFill/>
          <a:ln/>
        </p:spPr>
        <p:txBody>
          <a:bodyPr wrap="square" lIns="0" tIns="0" rIns="0" bIns="0" rtlCol="0" anchor="ctr"/>
          <a:lstStyle/>
          <a:p>
            <a:pPr indent="0" marL="0">
              <a:buNone/>
            </a:pPr>
            <a:r>
              <a:rPr lang="en-US" sz="1400" dirty="0">
                <a:solidFill>
                  <a:schemeClr val="tx1"/>
                </a:solidFill>
              </a:rPr>
              <a:t>Family threat</a:t>
            </a:r>
            <a:endParaRPr lang="en-US" sz="1400" dirty="0"/>
          </a:p>
        </p:txBody>
      </p:sp>
      <p:sp>
        <p:nvSpPr>
          <p:cNvPr id="19" name="family Bank alerts"/>
          <p:cNvSpPr/>
          <p:nvPr/>
        </p:nvSpPr>
        <p:spPr>
          <a:xfrm>
            <a:off x="3337560" y="1965960"/>
            <a:ext cx="2606040" cy="420624"/>
          </a:xfrm>
          <a:prstGeom prst="roundRect">
            <a:avLst>
              <a:gd name="adj" fmla="val 26087"/>
            </a:avLst>
          </a:prstGeom>
          <a:solidFill>
            <a:schemeClr val="bg2"/>
          </a:solidFill>
          <a:ln w="12700">
            <a:solidFill>
              <a:schemeClr val="bg2"/>
            </a:solidFill>
            <a:prstDash val="solid"/>
          </a:ln>
        </p:spPr>
      </p:sp>
      <p:sp>
        <p:nvSpPr>
          <p:cNvPr id="20" name="Text 17"/>
          <p:cNvSpPr txBox="1"/>
          <p:nvPr/>
        </p:nvSpPr>
        <p:spPr>
          <a:xfrm>
            <a:off x="3474720" y="1965960"/>
            <a:ext cx="2377440" cy="420624"/>
          </a:xfrm>
          <a:prstGeom prst="rect">
            <a:avLst/>
          </a:prstGeom>
          <a:noFill/>
          <a:ln/>
        </p:spPr>
        <p:txBody>
          <a:bodyPr wrap="square" lIns="0" tIns="0" rIns="0" bIns="0" rtlCol="0" anchor="ctr"/>
          <a:lstStyle/>
          <a:p>
            <a:pPr indent="0" marL="0">
              <a:buNone/>
            </a:pPr>
            <a:r>
              <a:rPr lang="en-US" sz="1400" dirty="0">
                <a:solidFill>
                  <a:schemeClr val="tx1"/>
                </a:solidFill>
              </a:rPr>
              <a:t>Bank alerts</a:t>
            </a:r>
            <a:endParaRPr lang="en-US" sz="1400" dirty="0"/>
          </a:p>
        </p:txBody>
      </p:sp>
      <p:sp>
        <p:nvSpPr>
          <p:cNvPr id="21" name="family Family chat"/>
          <p:cNvSpPr/>
          <p:nvPr/>
        </p:nvSpPr>
        <p:spPr>
          <a:xfrm>
            <a:off x="3337560" y="2478024"/>
            <a:ext cx="2606040" cy="420624"/>
          </a:xfrm>
          <a:prstGeom prst="roundRect">
            <a:avLst>
              <a:gd name="adj" fmla="val 26087"/>
            </a:avLst>
          </a:prstGeom>
          <a:solidFill>
            <a:schemeClr val="bg2"/>
          </a:solidFill>
          <a:ln w="12700">
            <a:solidFill>
              <a:schemeClr val="bg2"/>
            </a:solidFill>
            <a:prstDash val="solid"/>
          </a:ln>
        </p:spPr>
      </p:sp>
      <p:sp>
        <p:nvSpPr>
          <p:cNvPr id="22" name="Text 19"/>
          <p:cNvSpPr txBox="1"/>
          <p:nvPr/>
        </p:nvSpPr>
        <p:spPr>
          <a:xfrm>
            <a:off x="3474720" y="2478024"/>
            <a:ext cx="2377440" cy="420624"/>
          </a:xfrm>
          <a:prstGeom prst="rect">
            <a:avLst/>
          </a:prstGeom>
          <a:noFill/>
          <a:ln/>
        </p:spPr>
        <p:txBody>
          <a:bodyPr wrap="square" lIns="0" tIns="0" rIns="0" bIns="0" rtlCol="0" anchor="ctr"/>
          <a:lstStyle/>
          <a:p>
            <a:pPr indent="0" marL="0">
              <a:buNone/>
            </a:pPr>
            <a:r>
              <a:rPr lang="en-US" sz="1400" dirty="0">
                <a:solidFill>
                  <a:schemeClr val="tx1"/>
                </a:solidFill>
              </a:rPr>
              <a:t>Family chat</a:t>
            </a:r>
            <a:endParaRPr lang="en-US" sz="1400" dirty="0"/>
          </a:p>
        </p:txBody>
      </p:sp>
      <p:sp>
        <p:nvSpPr>
          <p:cNvPr id="23" name="family Courier updates"/>
          <p:cNvSpPr/>
          <p:nvPr/>
        </p:nvSpPr>
        <p:spPr>
          <a:xfrm>
            <a:off x="3337560" y="2990088"/>
            <a:ext cx="2606040" cy="420624"/>
          </a:xfrm>
          <a:prstGeom prst="roundRect">
            <a:avLst>
              <a:gd name="adj" fmla="val 26087"/>
            </a:avLst>
          </a:prstGeom>
          <a:solidFill>
            <a:schemeClr val="bg2"/>
          </a:solidFill>
          <a:ln w="12700">
            <a:solidFill>
              <a:schemeClr val="bg2"/>
            </a:solidFill>
            <a:prstDash val="solid"/>
          </a:ln>
        </p:spPr>
      </p:sp>
      <p:sp>
        <p:nvSpPr>
          <p:cNvPr id="24" name="Text 21"/>
          <p:cNvSpPr txBox="1"/>
          <p:nvPr/>
        </p:nvSpPr>
        <p:spPr>
          <a:xfrm>
            <a:off x="3474720" y="2990088"/>
            <a:ext cx="2377440" cy="420624"/>
          </a:xfrm>
          <a:prstGeom prst="rect">
            <a:avLst/>
          </a:prstGeom>
          <a:noFill/>
          <a:ln/>
        </p:spPr>
        <p:txBody>
          <a:bodyPr wrap="square" lIns="0" tIns="0" rIns="0" bIns="0" rtlCol="0" anchor="ctr"/>
          <a:lstStyle/>
          <a:p>
            <a:pPr indent="0" marL="0">
              <a:buNone/>
            </a:pPr>
            <a:r>
              <a:rPr lang="en-US" sz="1400" dirty="0">
                <a:solidFill>
                  <a:schemeClr val="tx1"/>
                </a:solidFill>
              </a:rPr>
              <a:t>Courier updates</a:t>
            </a:r>
            <a:endParaRPr lang="en-US" sz="1400" dirty="0"/>
          </a:p>
        </p:txBody>
      </p:sp>
      <p:sp>
        <p:nvSpPr>
          <p:cNvPr id="25" name="family Police advisory"/>
          <p:cNvSpPr/>
          <p:nvPr/>
        </p:nvSpPr>
        <p:spPr>
          <a:xfrm>
            <a:off x="3337560" y="3502152"/>
            <a:ext cx="2606040" cy="420624"/>
          </a:xfrm>
          <a:prstGeom prst="roundRect">
            <a:avLst>
              <a:gd name="adj" fmla="val 26087"/>
            </a:avLst>
          </a:prstGeom>
          <a:solidFill>
            <a:srgbClr val="FDF3DD"/>
          </a:solidFill>
          <a:ln w="12700">
            <a:solidFill>
              <a:srgbClr val="FDF3DD"/>
            </a:solidFill>
            <a:prstDash val="solid"/>
          </a:ln>
        </p:spPr>
      </p:sp>
      <p:sp>
        <p:nvSpPr>
          <p:cNvPr id="26" name="Text 23"/>
          <p:cNvSpPr txBox="1"/>
          <p:nvPr/>
        </p:nvSpPr>
        <p:spPr>
          <a:xfrm>
            <a:off x="3474720" y="3502152"/>
            <a:ext cx="2377440" cy="420624"/>
          </a:xfrm>
          <a:prstGeom prst="rect">
            <a:avLst/>
          </a:prstGeom>
          <a:noFill/>
          <a:ln/>
        </p:spPr>
        <p:txBody>
          <a:bodyPr wrap="square" lIns="0" tIns="0" rIns="0" bIns="0" rtlCol="0" anchor="ctr"/>
          <a:lstStyle/>
          <a:p>
            <a:pPr indent="0" marL="0">
              <a:buNone/>
            </a:pPr>
            <a:r>
              <a:rPr lang="en-US" sz="1400" dirty="0">
                <a:solidFill>
                  <a:schemeClr val="tx1"/>
                </a:solidFill>
              </a:rPr>
              <a:t>Police advisory</a:t>
            </a:r>
            <a:endParaRPr lang="en-US" sz="1400" dirty="0"/>
          </a:p>
        </p:txBody>
      </p:sp>
      <p:sp>
        <p:nvSpPr>
          <p:cNvPr id="27" name="family KYC reminders"/>
          <p:cNvSpPr/>
          <p:nvPr/>
        </p:nvSpPr>
        <p:spPr>
          <a:xfrm>
            <a:off x="3337560" y="4014216"/>
            <a:ext cx="2606040" cy="420624"/>
          </a:xfrm>
          <a:prstGeom prst="roundRect">
            <a:avLst>
              <a:gd name="adj" fmla="val 26087"/>
            </a:avLst>
          </a:prstGeom>
          <a:solidFill>
            <a:schemeClr val="bg2"/>
          </a:solidFill>
          <a:ln w="12700">
            <a:solidFill>
              <a:schemeClr val="bg2"/>
            </a:solidFill>
            <a:prstDash val="solid"/>
          </a:ln>
        </p:spPr>
      </p:sp>
      <p:sp>
        <p:nvSpPr>
          <p:cNvPr id="28" name="Text 25"/>
          <p:cNvSpPr txBox="1"/>
          <p:nvPr/>
        </p:nvSpPr>
        <p:spPr>
          <a:xfrm>
            <a:off x="3474720" y="4014216"/>
            <a:ext cx="2377440" cy="420624"/>
          </a:xfrm>
          <a:prstGeom prst="rect">
            <a:avLst/>
          </a:prstGeom>
          <a:noFill/>
          <a:ln/>
        </p:spPr>
        <p:txBody>
          <a:bodyPr wrap="square" lIns="0" tIns="0" rIns="0" bIns="0" rtlCol="0" anchor="ctr"/>
          <a:lstStyle/>
          <a:p>
            <a:pPr indent="0" marL="0">
              <a:buNone/>
            </a:pPr>
            <a:r>
              <a:rPr lang="en-US" sz="1400" dirty="0">
                <a:solidFill>
                  <a:schemeClr val="tx1"/>
                </a:solidFill>
              </a:rPr>
              <a:t>KYC reminders</a:t>
            </a:r>
            <a:endParaRPr lang="en-US" sz="1400" dirty="0"/>
          </a:p>
        </p:txBody>
      </p:sp>
      <p:sp>
        <p:nvSpPr>
          <p:cNvPr id="29" name="family News"/>
          <p:cNvSpPr/>
          <p:nvPr/>
        </p:nvSpPr>
        <p:spPr>
          <a:xfrm>
            <a:off x="3337560" y="4526280"/>
            <a:ext cx="2606040" cy="420624"/>
          </a:xfrm>
          <a:prstGeom prst="roundRect">
            <a:avLst>
              <a:gd name="adj" fmla="val 26087"/>
            </a:avLst>
          </a:prstGeom>
          <a:solidFill>
            <a:srgbClr val="FDF3DD"/>
          </a:solidFill>
          <a:ln w="12700">
            <a:solidFill>
              <a:srgbClr val="FDF3DD"/>
            </a:solidFill>
            <a:prstDash val="solid"/>
          </a:ln>
        </p:spPr>
      </p:sp>
      <p:sp>
        <p:nvSpPr>
          <p:cNvPr id="30" name="Text 27"/>
          <p:cNvSpPr txBox="1"/>
          <p:nvPr/>
        </p:nvSpPr>
        <p:spPr>
          <a:xfrm>
            <a:off x="3474720" y="4526280"/>
            <a:ext cx="2377440" cy="420624"/>
          </a:xfrm>
          <a:prstGeom prst="rect">
            <a:avLst/>
          </a:prstGeom>
          <a:noFill/>
          <a:ln/>
        </p:spPr>
        <p:txBody>
          <a:bodyPr wrap="square" lIns="0" tIns="0" rIns="0" bIns="0" rtlCol="0" anchor="ctr"/>
          <a:lstStyle/>
          <a:p>
            <a:pPr indent="0" marL="0">
              <a:buNone/>
            </a:pPr>
            <a:r>
              <a:rPr lang="en-US" sz="1400" dirty="0">
                <a:solidFill>
                  <a:schemeClr val="tx1"/>
                </a:solidFill>
              </a:rPr>
              <a:t>News</a:t>
            </a:r>
            <a:endParaRPr lang="en-US" sz="1400" dirty="0"/>
          </a:p>
        </p:txBody>
      </p:sp>
      <p:sp>
        <p:nvSpPr>
          <p:cNvPr id="31" name="family Bills"/>
          <p:cNvSpPr/>
          <p:nvPr/>
        </p:nvSpPr>
        <p:spPr>
          <a:xfrm>
            <a:off x="3337560" y="5038344"/>
            <a:ext cx="2606040" cy="420624"/>
          </a:xfrm>
          <a:prstGeom prst="roundRect">
            <a:avLst>
              <a:gd name="adj" fmla="val 26087"/>
            </a:avLst>
          </a:prstGeom>
          <a:solidFill>
            <a:schemeClr val="bg2"/>
          </a:solidFill>
          <a:ln w="12700">
            <a:solidFill>
              <a:schemeClr val="bg2"/>
            </a:solidFill>
            <a:prstDash val="solid"/>
          </a:ln>
        </p:spPr>
      </p:sp>
      <p:sp>
        <p:nvSpPr>
          <p:cNvPr id="32" name="Text 29"/>
          <p:cNvSpPr txBox="1"/>
          <p:nvPr/>
        </p:nvSpPr>
        <p:spPr>
          <a:xfrm>
            <a:off x="3474720" y="5038344"/>
            <a:ext cx="2377440" cy="420624"/>
          </a:xfrm>
          <a:prstGeom prst="rect">
            <a:avLst/>
          </a:prstGeom>
          <a:noFill/>
          <a:ln/>
        </p:spPr>
        <p:txBody>
          <a:bodyPr wrap="square" lIns="0" tIns="0" rIns="0" bIns="0" rtlCol="0" anchor="ctr"/>
          <a:lstStyle/>
          <a:p>
            <a:pPr indent="0" marL="0">
              <a:buNone/>
            </a:pPr>
            <a:r>
              <a:rPr lang="en-US" sz="1400" dirty="0">
                <a:solidFill>
                  <a:schemeClr val="tx1"/>
                </a:solidFill>
              </a:rPr>
              <a:t>Bills</a:t>
            </a:r>
            <a:endParaRPr lang="en-US" sz="1400" dirty="0"/>
          </a:p>
        </p:txBody>
      </p:sp>
      <p:sp>
        <p:nvSpPr>
          <p:cNvPr id="33" name="Text 30"/>
          <p:cNvSpPr txBox="1"/>
          <p:nvPr/>
        </p:nvSpPr>
        <p:spPr>
          <a:xfrm>
            <a:off x="548640" y="5669280"/>
            <a:ext cx="5669280" cy="365760"/>
          </a:xfrm>
          <a:prstGeom prst="rect">
            <a:avLst/>
          </a:prstGeom>
          <a:noFill/>
          <a:ln/>
        </p:spPr>
        <p:txBody>
          <a:bodyPr wrap="square" lIns="0" tIns="0" rIns="0" bIns="0" rtlCol="0" anchor="t"/>
          <a:lstStyle/>
          <a:p>
            <a:pPr indent="0" marL="0">
              <a:buNone/>
            </a:pPr>
            <a:r>
              <a:rPr lang="en-US" sz="1300" b="1" dirty="0">
                <a:solidFill>
                  <a:schemeClr val="accent2"/>
                </a:solidFill>
              </a:rPr>
              <a:t>Red: </a:t>
            </a:r>
            <a:pPr indent="0" marL="0">
              <a:buNone/>
            </a:pPr>
            <a:r>
              <a:rPr lang="en-US" sz="1300" dirty="0">
                <a:solidFill>
                  <a:srgbClr val="5A6478"/>
                </a:solidFill>
              </a:rPr>
              <a:t>6 scam types.  </a:t>
            </a:r>
            <a:pPr indent="0" marL="0">
              <a:buNone/>
            </a:pPr>
            <a:r>
              <a:rPr lang="en-US" sz="1300" b="1" dirty="0">
                <a:solidFill>
                  <a:srgbClr val="B7791F"/>
                </a:solidFill>
              </a:rPr>
              <a:t>Amber: </a:t>
            </a:r>
            <a:pPr indent="0" marL="0">
              <a:buNone/>
            </a:pPr>
            <a:r>
              <a:rPr lang="en-US" sz="1300" dirty="0">
                <a:solidFill>
                  <a:srgbClr val="5A6478"/>
                </a:solidFill>
              </a:rPr>
              <a:t>hard negatives, real warnings that use scam words.</a:t>
            </a:r>
            <a:endParaRPr lang="en-US" sz="1300" dirty="0"/>
          </a:p>
        </p:txBody>
      </p:sp>
      <p:sp>
        <p:nvSpPr>
          <p:cNvPr id="34" name="models card"/>
          <p:cNvSpPr/>
          <p:nvPr/>
        </p:nvSpPr>
        <p:spPr>
          <a:xfrm>
            <a:off x="6400800" y="1463040"/>
            <a:ext cx="5239512" cy="2240280"/>
          </a:xfrm>
          <a:prstGeom prst="roundRect">
            <a:avLst>
              <a:gd name="adj" fmla="val 4898"/>
            </a:avLst>
          </a:prstGeom>
          <a:solidFill>
            <a:schemeClr val="bg2"/>
          </a:solidFill>
          <a:ln w="12700">
            <a:solidFill>
              <a:schemeClr val="bg2"/>
            </a:solidFill>
            <a:prstDash val="solid"/>
          </a:ln>
        </p:spPr>
      </p:sp>
      <p:sp>
        <p:nvSpPr>
          <p:cNvPr id="35" name="Text 32"/>
          <p:cNvSpPr txBox="1"/>
          <p:nvPr/>
        </p:nvSpPr>
        <p:spPr>
          <a:xfrm>
            <a:off x="6675120" y="1645920"/>
            <a:ext cx="4754880" cy="365760"/>
          </a:xfrm>
          <a:prstGeom prst="rect">
            <a:avLst/>
          </a:prstGeom>
          <a:noFill/>
          <a:ln/>
        </p:spPr>
        <p:txBody>
          <a:bodyPr wrap="square" lIns="0" tIns="0" rIns="0" bIns="0" rtlCol="0" anchor="t"/>
          <a:lstStyle/>
          <a:p>
            <a:pPr indent="0" marL="0">
              <a:buNone/>
            </a:pPr>
            <a:r>
              <a:rPr lang="en-US" sz="1800" b="1" dirty="0">
                <a:solidFill>
                  <a:schemeClr val="tx2"/>
                </a:solidFill>
              </a:rPr>
              <a:t>Three detectors compared</a:t>
            </a:r>
            <a:endParaRPr lang="en-US" sz="1800" dirty="0"/>
          </a:p>
        </p:txBody>
      </p:sp>
      <p:sp>
        <p:nvSpPr>
          <p:cNvPr id="36" name="Text 33"/>
          <p:cNvSpPr txBox="1"/>
          <p:nvPr/>
        </p:nvSpPr>
        <p:spPr>
          <a:xfrm>
            <a:off x="6675120" y="2103120"/>
            <a:ext cx="475488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Keyword rules (3+ of 21 red-flag terms)</a:t>
            </a:r>
            <a:endParaRPr lang="en-US" sz="1600" dirty="0"/>
          </a:p>
          <a:p>
            <a:pPr marL="342900" indent="-342900">
              <a:spcAft>
                <a:spcPts val="600"/>
              </a:spcAft>
              <a:buSzPct val="100000"/>
              <a:buChar char="•"/>
            </a:pPr>
            <a:r>
              <a:rPr lang="en-US" sz="1600" dirty="0">
                <a:solidFill>
                  <a:schemeClr val="tx1"/>
                </a:solidFill>
              </a:rPr>
              <a:t>TF-IDF words + Naive Bayes</a:t>
            </a:r>
            <a:endParaRPr lang="en-US" sz="1600" dirty="0"/>
          </a:p>
          <a:p>
            <a:pPr marL="342900" indent="-342900">
              <a:spcAft>
                <a:spcPts val="600"/>
              </a:spcAft>
              <a:buSzPct val="100000"/>
              <a:buChar char="•"/>
            </a:pPr>
            <a:r>
              <a:rPr lang="en-US" sz="1600" dirty="0">
                <a:solidFill>
                  <a:schemeClr val="tx1"/>
                </a:solidFill>
              </a:rPr>
              <a:t>TF-IDF words and characters + logistic regression</a:t>
            </a:r>
            <a:endParaRPr lang="en-US" sz="1600" dirty="0"/>
          </a:p>
        </p:txBody>
      </p:sp>
      <p:sp>
        <p:nvSpPr>
          <p:cNvPr id="37" name="testing card"/>
          <p:cNvSpPr/>
          <p:nvPr/>
        </p:nvSpPr>
        <p:spPr>
          <a:xfrm>
            <a:off x="6400800" y="3886200"/>
            <a:ext cx="5239512" cy="2194560"/>
          </a:xfrm>
          <a:prstGeom prst="roundRect">
            <a:avLst>
              <a:gd name="adj" fmla="val 5000"/>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38" name="testing icon circle"/>
          <p:cNvSpPr/>
          <p:nvPr/>
        </p:nvSpPr>
        <p:spPr>
          <a:xfrm>
            <a:off x="6675120" y="4114800"/>
            <a:ext cx="640080" cy="640080"/>
          </a:xfrm>
          <a:prstGeom prst="ellipse">
            <a:avLst/>
          </a:prstGeom>
          <a:solidFill>
            <a:schemeClr val="accent1"/>
          </a:solidFill>
          <a:ln w="12700">
            <a:solidFill>
              <a:schemeClr val="accent1"/>
            </a:solidFill>
            <a:prstDash val="solid"/>
          </a:ln>
        </p:spPr>
      </p:sp>
      <p:pic>
        <p:nvPicPr>
          <p:cNvPr id="39" name="testing icon" descr="testing icon">    </p:cNvPr>
          <p:cNvPicPr>
            <a:picLocks noChangeAspect="1"/>
          </p:cNvPicPr>
          <p:nvPr/>
        </p:nvPicPr>
        <p:blipFill>
          <a:blip r:embed="rId1"/>
          <a:stretch>
            <a:fillRect/>
          </a:stretch>
        </p:blipFill>
        <p:spPr>
          <a:xfrm>
            <a:off x="6835140" y="4274820"/>
            <a:ext cx="320040" cy="320040"/>
          </a:xfrm>
          <a:prstGeom prst="rect">
            <a:avLst/>
          </a:prstGeom>
        </p:spPr>
      </p:pic>
      <p:sp>
        <p:nvSpPr>
          <p:cNvPr id="40" name="Text 36"/>
          <p:cNvSpPr txBox="1"/>
          <p:nvPr/>
        </p:nvSpPr>
        <p:spPr>
          <a:xfrm>
            <a:off x="7498080" y="4114800"/>
            <a:ext cx="3931920" cy="640080"/>
          </a:xfrm>
          <a:prstGeom prst="rect">
            <a:avLst/>
          </a:prstGeom>
          <a:noFill/>
          <a:ln/>
        </p:spPr>
        <p:txBody>
          <a:bodyPr wrap="square" lIns="0" tIns="0" rIns="0" bIns="0" rtlCol="0" anchor="ctr"/>
          <a:lstStyle/>
          <a:p>
            <a:pPr indent="0" marL="0">
              <a:buNone/>
            </a:pPr>
            <a:r>
              <a:rPr lang="en-US" sz="1800" b="1" dirty="0">
                <a:solidFill>
                  <a:schemeClr val="bg1"/>
                </a:solidFill>
              </a:rPr>
              <a:t>Leave-family-out testing</a:t>
            </a:r>
            <a:endParaRPr lang="en-US" sz="1800" dirty="0"/>
          </a:p>
        </p:txBody>
      </p:sp>
      <p:sp>
        <p:nvSpPr>
          <p:cNvPr id="41" name="Text 37"/>
          <p:cNvSpPr txBox="1"/>
          <p:nvPr/>
        </p:nvSpPr>
        <p:spPr>
          <a:xfrm>
            <a:off x="6675120" y="4846320"/>
            <a:ext cx="4754880" cy="1143000"/>
          </a:xfrm>
          <a:prstGeom prst="rect">
            <a:avLst/>
          </a:prstGeom>
          <a:noFill/>
          <a:ln/>
        </p:spPr>
        <p:txBody>
          <a:bodyPr wrap="square" lIns="0" tIns="0" rIns="0" bIns="0" rtlCol="0" anchor="t"/>
          <a:lstStyle/>
          <a:p>
            <a:pPr indent="0" marL="0">
              <a:buNone/>
            </a:pPr>
            <a:r>
              <a:rPr lang="en-US" sz="1500" dirty="0">
                <a:solidFill>
                  <a:srgbClr val="DCE3F0"/>
                </a:solidFill>
              </a:rPr>
              <a:t>Each round hides one whole scam family and one normal family from training. Every test message is a script the model has never seen, like a new scam variant. 7 rounds.</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Module B: a risk score for every big transfer</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Shivendra</a:t>
            </a:r>
            <a:endParaRPr lang="en-US" sz="1300" dirty="0"/>
          </a:p>
        </p:txBody>
      </p:sp>
      <p:graphicFrame>
        <p:nvGraphicFramePr>
          <p:cNvPr id="6" name="weights chart" descr=""/>
          <p:cNvGraphicFramePr/>
          <p:nvPr/>
        </p:nvGraphicFramePr>
        <p:xfrm>
          <a:off x="548640" y="1417320"/>
          <a:ext cx="6309360" cy="4663440"/>
        </p:xfrm>
        <a:graphic xmlns:a="http://schemas.openxmlformats.org/drawingml/2006/main">
          <a:graphicData uri="http://schemas.openxmlformats.org/drawingml/2006/chart">
            <c:chart xmlns:c="http://schemas.openxmlformats.org/drawingml/2006/chart" r:id="rId1"/>
          </a:graphicData>
        </a:graphic>
      </p:graphicFrame>
      <p:sp>
        <p:nvSpPr>
          <p:cNvPr id="7" name="band Allow"/>
          <p:cNvSpPr/>
          <p:nvPr/>
        </p:nvSpPr>
        <p:spPr>
          <a:xfrm>
            <a:off x="7178040" y="1508760"/>
            <a:ext cx="4462272" cy="1371600"/>
          </a:xfrm>
          <a:prstGeom prst="roundRect">
            <a:avLst>
              <a:gd name="adj" fmla="val 8000"/>
            </a:avLst>
          </a:prstGeom>
          <a:solidFill>
            <a:schemeClr val="bg2"/>
          </a:solidFill>
          <a:ln w="12700">
            <a:solidFill>
              <a:schemeClr val="bg2"/>
            </a:solidFill>
            <a:prstDash val="solid"/>
          </a:ln>
        </p:spPr>
      </p:sp>
      <p:sp>
        <p:nvSpPr>
          <p:cNvPr id="8" name="Text 4"/>
          <p:cNvSpPr txBox="1"/>
          <p:nvPr/>
        </p:nvSpPr>
        <p:spPr>
          <a:xfrm>
            <a:off x="7406640" y="1645920"/>
            <a:ext cx="4023360" cy="274320"/>
          </a:xfrm>
          <a:prstGeom prst="rect">
            <a:avLst/>
          </a:prstGeom>
          <a:noFill/>
          <a:ln/>
        </p:spPr>
        <p:txBody>
          <a:bodyPr wrap="square" lIns="0" tIns="0" rIns="0" bIns="0" rtlCol="0" anchor="t"/>
          <a:lstStyle/>
          <a:p>
            <a:pPr indent="0" marL="0">
              <a:buNone/>
            </a:pPr>
            <a:r>
              <a:rPr lang="en-US" sz="1200" b="1" spc="100" kern="0" dirty="0">
                <a:solidFill>
                  <a:srgbClr val="5A6478"/>
                </a:solidFill>
              </a:rPr>
              <a:t>SCORE BELOW 40</a:t>
            </a:r>
            <a:endParaRPr lang="en-US" sz="1200" dirty="0"/>
          </a:p>
        </p:txBody>
      </p:sp>
      <p:sp>
        <p:nvSpPr>
          <p:cNvPr id="9" name="Text 5"/>
          <p:cNvSpPr txBox="1"/>
          <p:nvPr/>
        </p:nvSpPr>
        <p:spPr>
          <a:xfrm>
            <a:off x="7406640" y="1892808"/>
            <a:ext cx="402336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Allow</a:t>
            </a:r>
            <a:endParaRPr lang="en-US" sz="2200" dirty="0"/>
          </a:p>
        </p:txBody>
      </p:sp>
      <p:sp>
        <p:nvSpPr>
          <p:cNvPr id="10" name="Text 6"/>
          <p:cNvSpPr txBox="1"/>
          <p:nvPr/>
        </p:nvSpPr>
        <p:spPr>
          <a:xfrm>
            <a:off x="7406640" y="2313432"/>
            <a:ext cx="4023360" cy="548640"/>
          </a:xfrm>
          <a:prstGeom prst="rect">
            <a:avLst/>
          </a:prstGeom>
          <a:noFill/>
          <a:ln/>
        </p:spPr>
        <p:txBody>
          <a:bodyPr wrap="square" lIns="0" tIns="0" rIns="0" bIns="0" rtlCol="0" anchor="t"/>
          <a:lstStyle/>
          <a:p>
            <a:pPr indent="0" marL="0">
              <a:buNone/>
            </a:pPr>
            <a:r>
              <a:rPr lang="en-US" sz="1400" dirty="0">
                <a:solidFill>
                  <a:srgbClr val="5A6478"/>
                </a:solidFill>
              </a:rPr>
              <a:t>Payment goes through as normal</a:t>
            </a:r>
            <a:endParaRPr lang="en-US" sz="1400" dirty="0"/>
          </a:p>
        </p:txBody>
      </p:sp>
      <p:sp>
        <p:nvSpPr>
          <p:cNvPr id="11" name="band Verify"/>
          <p:cNvSpPr/>
          <p:nvPr/>
        </p:nvSpPr>
        <p:spPr>
          <a:xfrm>
            <a:off x="7178040" y="3063240"/>
            <a:ext cx="4462272" cy="1371600"/>
          </a:xfrm>
          <a:prstGeom prst="roundRect">
            <a:avLst>
              <a:gd name="adj" fmla="val 8000"/>
            </a:avLst>
          </a:prstGeom>
          <a:solidFill>
            <a:srgbClr val="FDF3DD"/>
          </a:solidFill>
          <a:ln w="12700">
            <a:solidFill>
              <a:srgbClr val="FDF3DD"/>
            </a:solidFill>
            <a:prstDash val="solid"/>
          </a:ln>
        </p:spPr>
      </p:sp>
      <p:sp>
        <p:nvSpPr>
          <p:cNvPr id="12" name="Text 8"/>
          <p:cNvSpPr txBox="1"/>
          <p:nvPr/>
        </p:nvSpPr>
        <p:spPr>
          <a:xfrm>
            <a:off x="7406640" y="3200400"/>
            <a:ext cx="4023360" cy="274320"/>
          </a:xfrm>
          <a:prstGeom prst="rect">
            <a:avLst/>
          </a:prstGeom>
          <a:noFill/>
          <a:ln/>
        </p:spPr>
        <p:txBody>
          <a:bodyPr wrap="square" lIns="0" tIns="0" rIns="0" bIns="0" rtlCol="0" anchor="t"/>
          <a:lstStyle/>
          <a:p>
            <a:pPr indent="0" marL="0">
              <a:buNone/>
            </a:pPr>
            <a:r>
              <a:rPr lang="en-US" sz="1200" b="1" spc="100" kern="0" dirty="0">
                <a:solidFill>
                  <a:srgbClr val="5A6478"/>
                </a:solidFill>
              </a:rPr>
              <a:t>SCORE 40 TO 59</a:t>
            </a:r>
            <a:endParaRPr lang="en-US" sz="1200" dirty="0"/>
          </a:p>
        </p:txBody>
      </p:sp>
      <p:sp>
        <p:nvSpPr>
          <p:cNvPr id="13" name="Text 9"/>
          <p:cNvSpPr txBox="1"/>
          <p:nvPr/>
        </p:nvSpPr>
        <p:spPr>
          <a:xfrm>
            <a:off x="7406640" y="3447288"/>
            <a:ext cx="402336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Verify</a:t>
            </a:r>
            <a:endParaRPr lang="en-US" sz="2200" dirty="0"/>
          </a:p>
        </p:txBody>
      </p:sp>
      <p:sp>
        <p:nvSpPr>
          <p:cNvPr id="14" name="Text 10"/>
          <p:cNvSpPr txBox="1"/>
          <p:nvPr/>
        </p:nvSpPr>
        <p:spPr>
          <a:xfrm>
            <a:off x="7406640" y="3867912"/>
            <a:ext cx="4023360" cy="548640"/>
          </a:xfrm>
          <a:prstGeom prst="rect">
            <a:avLst/>
          </a:prstGeom>
          <a:noFill/>
          <a:ln/>
        </p:spPr>
        <p:txBody>
          <a:bodyPr wrap="square" lIns="0" tIns="0" rIns="0" bIns="0" rtlCol="0" anchor="t"/>
          <a:lstStyle/>
          <a:p>
            <a:pPr indent="0" marL="0">
              <a:buNone/>
            </a:pPr>
            <a:r>
              <a:rPr lang="en-US" sz="1400" dirty="0">
                <a:solidFill>
                  <a:schemeClr val="tx1"/>
                </a:solidFill>
              </a:rPr>
              <a:t>Teller asks: 'Has anyone on the phone told you to make this payment, or keep it secret?'</a:t>
            </a:r>
            <a:endParaRPr lang="en-US" sz="1400" dirty="0"/>
          </a:p>
        </p:txBody>
      </p:sp>
      <p:sp>
        <p:nvSpPr>
          <p:cNvPr id="15" name="band Hold 24 h"/>
          <p:cNvSpPr/>
          <p:nvPr/>
        </p:nvSpPr>
        <p:spPr>
          <a:xfrm>
            <a:off x="7178040" y="4617720"/>
            <a:ext cx="4462272" cy="1371600"/>
          </a:xfrm>
          <a:prstGeom prst="roundRect">
            <a:avLst>
              <a:gd name="adj" fmla="val 8000"/>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16" name="Text 12"/>
          <p:cNvSpPr txBox="1"/>
          <p:nvPr/>
        </p:nvSpPr>
        <p:spPr>
          <a:xfrm>
            <a:off x="7406640" y="4754880"/>
            <a:ext cx="4023360" cy="274320"/>
          </a:xfrm>
          <a:prstGeom prst="rect">
            <a:avLst/>
          </a:prstGeom>
          <a:noFill/>
          <a:ln/>
        </p:spPr>
        <p:txBody>
          <a:bodyPr wrap="square" lIns="0" tIns="0" rIns="0" bIns="0" rtlCol="0" anchor="t"/>
          <a:lstStyle/>
          <a:p>
            <a:pPr indent="0" marL="0">
              <a:buNone/>
            </a:pPr>
            <a:r>
              <a:rPr lang="en-US" sz="1200" b="1" spc="100" kern="0" dirty="0">
                <a:solidFill>
                  <a:srgbClr val="CADCFC"/>
                </a:solidFill>
              </a:rPr>
              <a:t>SCORE 60 OR MORE</a:t>
            </a:r>
            <a:endParaRPr lang="en-US" sz="1200" dirty="0"/>
          </a:p>
        </p:txBody>
      </p:sp>
      <p:sp>
        <p:nvSpPr>
          <p:cNvPr id="17" name="Text 13"/>
          <p:cNvSpPr txBox="1"/>
          <p:nvPr/>
        </p:nvSpPr>
        <p:spPr>
          <a:xfrm>
            <a:off x="7406640" y="5001768"/>
            <a:ext cx="4023360" cy="4114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Hold 24 h</a:t>
            </a:r>
            <a:endParaRPr lang="en-US" sz="2200" dirty="0"/>
          </a:p>
        </p:txBody>
      </p:sp>
      <p:sp>
        <p:nvSpPr>
          <p:cNvPr id="18" name="Text 14"/>
          <p:cNvSpPr txBox="1"/>
          <p:nvPr/>
        </p:nvSpPr>
        <p:spPr>
          <a:xfrm>
            <a:off x="7406640" y="5422392"/>
            <a:ext cx="4023360" cy="548640"/>
          </a:xfrm>
          <a:prstGeom prst="rect">
            <a:avLst/>
          </a:prstGeom>
          <a:noFill/>
          <a:ln/>
        </p:spPr>
        <p:txBody>
          <a:bodyPr wrap="square" lIns="0" tIns="0" rIns="0" bIns="0" rtlCol="0" anchor="t"/>
          <a:lstStyle/>
          <a:p>
            <a:pPr indent="0" marL="0">
              <a:buNone/>
            </a:pPr>
            <a:r>
              <a:rPr lang="en-US" sz="1400" dirty="0">
                <a:solidFill>
                  <a:srgbClr val="DCE3F0"/>
                </a:solidFill>
              </a:rPr>
              <a:t>Transfer paused and the bank calls a trusted family contact</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How we tested it</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Shivendra</a:t>
            </a:r>
            <a:endParaRPr lang="en-US" sz="1300" dirty="0"/>
          </a:p>
        </p:txBody>
      </p:sp>
      <p:sp>
        <p:nvSpPr>
          <p:cNvPr id="6" name="setup tile 1"/>
          <p:cNvSpPr/>
          <p:nvPr/>
        </p:nvSpPr>
        <p:spPr>
          <a:xfrm>
            <a:off x="548640" y="1508760"/>
            <a:ext cx="2606040" cy="2148840"/>
          </a:xfrm>
          <a:prstGeom prst="roundRect">
            <a:avLst>
              <a:gd name="adj" fmla="val 5106"/>
            </a:avLst>
          </a:prstGeom>
          <a:solidFill>
            <a:schemeClr val="bg2"/>
          </a:solidFill>
          <a:ln w="12700">
            <a:solidFill>
              <a:schemeClr val="bg2"/>
            </a:solidFill>
            <a:prstDash val="solid"/>
          </a:ln>
        </p:spPr>
      </p:sp>
      <p:sp>
        <p:nvSpPr>
          <p:cNvPr id="7" name="Text 4"/>
          <p:cNvSpPr txBox="1"/>
          <p:nvPr/>
        </p:nvSpPr>
        <p:spPr>
          <a:xfrm>
            <a:off x="777240" y="1691640"/>
            <a:ext cx="2194560"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910</a:t>
            </a:r>
            <a:endParaRPr lang="en-US" sz="4000" dirty="0"/>
          </a:p>
        </p:txBody>
      </p:sp>
      <p:sp>
        <p:nvSpPr>
          <p:cNvPr id="8" name="Text 5"/>
          <p:cNvSpPr txBox="1"/>
          <p:nvPr/>
        </p:nvSpPr>
        <p:spPr>
          <a:xfrm>
            <a:off x="777240" y="2560320"/>
            <a:ext cx="2194560" cy="1005840"/>
          </a:xfrm>
          <a:prstGeom prst="rect">
            <a:avLst/>
          </a:prstGeom>
          <a:noFill/>
          <a:ln/>
        </p:spPr>
        <p:txBody>
          <a:bodyPr wrap="square" lIns="0" tIns="0" rIns="0" bIns="0" rtlCol="0" anchor="t"/>
          <a:lstStyle/>
          <a:p>
            <a:pPr indent="0" marL="0">
              <a:buNone/>
            </a:pPr>
            <a:r>
              <a:rPr lang="en-US" sz="1500" dirty="0">
                <a:solidFill>
                  <a:srgbClr val="5A6478"/>
                </a:solidFill>
              </a:rPr>
              <a:t>messages for Module A, tested over 7 leave-family-out rounds</a:t>
            </a:r>
            <a:endParaRPr lang="en-US" sz="1500" dirty="0"/>
          </a:p>
        </p:txBody>
      </p:sp>
      <p:sp>
        <p:nvSpPr>
          <p:cNvPr id="9" name="setup tile 2"/>
          <p:cNvSpPr/>
          <p:nvPr/>
        </p:nvSpPr>
        <p:spPr>
          <a:xfrm>
            <a:off x="3364992" y="1508760"/>
            <a:ext cx="2606040" cy="2148840"/>
          </a:xfrm>
          <a:prstGeom prst="roundRect">
            <a:avLst>
              <a:gd name="adj" fmla="val 5106"/>
            </a:avLst>
          </a:prstGeom>
          <a:solidFill>
            <a:schemeClr val="bg2"/>
          </a:solidFill>
          <a:ln w="12700">
            <a:solidFill>
              <a:schemeClr val="bg2"/>
            </a:solidFill>
            <a:prstDash val="solid"/>
          </a:ln>
        </p:spPr>
      </p:sp>
      <p:sp>
        <p:nvSpPr>
          <p:cNvPr id="10" name="Text 7"/>
          <p:cNvSpPr txBox="1"/>
          <p:nvPr/>
        </p:nvSpPr>
        <p:spPr>
          <a:xfrm>
            <a:off x="3593592" y="1691640"/>
            <a:ext cx="2194560"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22,605</a:t>
            </a:r>
            <a:endParaRPr lang="en-US" sz="4000" dirty="0"/>
          </a:p>
        </p:txBody>
      </p:sp>
      <p:sp>
        <p:nvSpPr>
          <p:cNvPr id="11" name="Text 8"/>
          <p:cNvSpPr txBox="1"/>
          <p:nvPr/>
        </p:nvSpPr>
        <p:spPr>
          <a:xfrm>
            <a:off x="3593592" y="2560320"/>
            <a:ext cx="2194560" cy="1005840"/>
          </a:xfrm>
          <a:prstGeom prst="rect">
            <a:avLst/>
          </a:prstGeom>
          <a:noFill/>
          <a:ln/>
        </p:spPr>
        <p:txBody>
          <a:bodyPr wrap="square" lIns="0" tIns="0" rIns="0" bIns="0" rtlCol="0" anchor="t"/>
          <a:lstStyle/>
          <a:p>
            <a:pPr indent="0" marL="0">
              <a:buNone/>
            </a:pPr>
            <a:r>
              <a:rPr lang="en-US" sz="1500" dirty="0">
                <a:solidFill>
                  <a:srgbClr val="5A6478"/>
                </a:solidFill>
              </a:rPr>
              <a:t>simulated transfers by senior citizens for Module B</a:t>
            </a:r>
            <a:endParaRPr lang="en-US" sz="1500" dirty="0"/>
          </a:p>
        </p:txBody>
      </p:sp>
      <p:sp>
        <p:nvSpPr>
          <p:cNvPr id="12" name="setup tile 3"/>
          <p:cNvSpPr/>
          <p:nvPr/>
        </p:nvSpPr>
        <p:spPr>
          <a:xfrm>
            <a:off x="6181344" y="1508760"/>
            <a:ext cx="2606040" cy="2148840"/>
          </a:xfrm>
          <a:prstGeom prst="roundRect">
            <a:avLst>
              <a:gd name="adj" fmla="val 5106"/>
            </a:avLst>
          </a:prstGeom>
          <a:solidFill>
            <a:schemeClr val="bg2"/>
          </a:solidFill>
          <a:ln w="12700">
            <a:solidFill>
              <a:schemeClr val="bg2"/>
            </a:solidFill>
            <a:prstDash val="solid"/>
          </a:ln>
        </p:spPr>
      </p:sp>
      <p:sp>
        <p:nvSpPr>
          <p:cNvPr id="13" name="Text 10"/>
          <p:cNvSpPr txBox="1"/>
          <p:nvPr/>
        </p:nvSpPr>
        <p:spPr>
          <a:xfrm>
            <a:off x="6409944" y="1691640"/>
            <a:ext cx="2194560"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4,000</a:t>
            </a:r>
            <a:endParaRPr lang="en-US" sz="4000" dirty="0"/>
          </a:p>
        </p:txBody>
      </p:sp>
      <p:sp>
        <p:nvSpPr>
          <p:cNvPr id="14" name="Text 11"/>
          <p:cNvSpPr txBox="1"/>
          <p:nvPr/>
        </p:nvSpPr>
        <p:spPr>
          <a:xfrm>
            <a:off x="6409944" y="2560320"/>
            <a:ext cx="2194560" cy="1005840"/>
          </a:xfrm>
          <a:prstGeom prst="rect">
            <a:avLst/>
          </a:prstGeom>
          <a:noFill/>
          <a:ln/>
        </p:spPr>
        <p:txBody>
          <a:bodyPr wrap="square" lIns="0" tIns="0" rIns="0" bIns="0" rtlCol="0" anchor="t"/>
          <a:lstStyle/>
          <a:p>
            <a:pPr indent="0" marL="0">
              <a:buNone/>
            </a:pPr>
            <a:r>
              <a:rPr lang="en-US" sz="1500" dirty="0">
                <a:solidFill>
                  <a:srgbClr val="5A6478"/>
                </a:solidFill>
              </a:rPr>
              <a:t>genuine customers, including real large payments</a:t>
            </a:r>
            <a:endParaRPr lang="en-US" sz="1500" dirty="0"/>
          </a:p>
        </p:txBody>
      </p:sp>
      <p:sp>
        <p:nvSpPr>
          <p:cNvPr id="15" name="setup tile 4"/>
          <p:cNvSpPr/>
          <p:nvPr/>
        </p:nvSpPr>
        <p:spPr>
          <a:xfrm>
            <a:off x="8997696" y="1508760"/>
            <a:ext cx="2606040" cy="2148840"/>
          </a:xfrm>
          <a:prstGeom prst="roundRect">
            <a:avLst>
              <a:gd name="adj" fmla="val 5106"/>
            </a:avLst>
          </a:prstGeom>
          <a:solidFill>
            <a:schemeClr val="bg2"/>
          </a:solidFill>
          <a:ln w="12700">
            <a:solidFill>
              <a:schemeClr val="bg2"/>
            </a:solidFill>
            <a:prstDash val="solid"/>
          </a:ln>
        </p:spPr>
      </p:sp>
      <p:sp>
        <p:nvSpPr>
          <p:cNvPr id="16" name="Text 13"/>
          <p:cNvSpPr txBox="1"/>
          <p:nvPr/>
        </p:nvSpPr>
        <p:spPr>
          <a:xfrm>
            <a:off x="9226296" y="1691640"/>
            <a:ext cx="2194560"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150</a:t>
            </a:r>
            <a:endParaRPr lang="en-US" sz="4000" dirty="0"/>
          </a:p>
        </p:txBody>
      </p:sp>
      <p:sp>
        <p:nvSpPr>
          <p:cNvPr id="17" name="Text 14"/>
          <p:cNvSpPr txBox="1"/>
          <p:nvPr/>
        </p:nvSpPr>
        <p:spPr>
          <a:xfrm>
            <a:off x="9226296" y="2560320"/>
            <a:ext cx="2194560" cy="1005840"/>
          </a:xfrm>
          <a:prstGeom prst="rect">
            <a:avLst/>
          </a:prstGeom>
          <a:noFill/>
          <a:ln/>
        </p:spPr>
        <p:txBody>
          <a:bodyPr wrap="square" lIns="0" tIns="0" rIns="0" bIns="0" rtlCol="0" anchor="t"/>
          <a:lstStyle/>
          <a:p>
            <a:pPr indent="0" marL="0">
              <a:buNone/>
            </a:pPr>
            <a:r>
              <a:rPr lang="en-US" sz="1500" dirty="0">
                <a:solidFill>
                  <a:srgbClr val="5A6478"/>
                </a:solidFill>
              </a:rPr>
              <a:t>scam campaigns: 793 fraudulent transfers (3.5%)</a:t>
            </a:r>
            <a:endParaRPr lang="en-US" sz="1500" dirty="0"/>
          </a:p>
        </p:txBody>
      </p:sp>
      <p:sp>
        <p:nvSpPr>
          <p:cNvPr id="18" name="pipeline icon 1 circle"/>
          <p:cNvSpPr/>
          <p:nvPr/>
        </p:nvSpPr>
        <p:spPr>
          <a:xfrm>
            <a:off x="548640" y="4069080"/>
            <a:ext cx="685800" cy="685800"/>
          </a:xfrm>
          <a:prstGeom prst="ellipse">
            <a:avLst/>
          </a:prstGeom>
          <a:solidFill>
            <a:schemeClr val="accent1"/>
          </a:solidFill>
          <a:ln w="12700">
            <a:solidFill>
              <a:schemeClr val="accent1"/>
            </a:solidFill>
            <a:prstDash val="solid"/>
          </a:ln>
        </p:spPr>
      </p:sp>
      <p:pic>
        <p:nvPicPr>
          <p:cNvPr id="19" name="pipeline icon 1" descr="pipeline icon 1">    </p:cNvPr>
          <p:cNvPicPr>
            <a:picLocks noChangeAspect="1"/>
          </p:cNvPicPr>
          <p:nvPr/>
        </p:nvPicPr>
        <p:blipFill>
          <a:blip r:embed="rId1"/>
          <a:stretch>
            <a:fillRect/>
          </a:stretch>
        </p:blipFill>
        <p:spPr>
          <a:xfrm>
            <a:off x="720090" y="4240530"/>
            <a:ext cx="342900" cy="342900"/>
          </a:xfrm>
          <a:prstGeom prst="rect">
            <a:avLst/>
          </a:prstGeom>
        </p:spPr>
      </p:pic>
      <p:sp>
        <p:nvSpPr>
          <p:cNvPr id="20" name="pipeline arrow 1"/>
          <p:cNvSpPr/>
          <p:nvPr/>
        </p:nvSpPr>
        <p:spPr>
          <a:xfrm>
            <a:off x="1371600" y="4411980"/>
            <a:ext cx="1828800" cy="0"/>
          </a:xfrm>
          <a:prstGeom prst="line">
            <a:avLst/>
          </a:prstGeom>
          <a:noFill/>
          <a:ln w="19050">
            <a:solidFill>
              <a:schemeClr val="accent4"/>
            </a:solidFill>
            <a:prstDash val="dash"/>
            <a:tailEnd type="triangle"/>
          </a:ln>
        </p:spPr>
      </p:sp>
      <p:sp>
        <p:nvSpPr>
          <p:cNvPr id="21" name="Text 17"/>
          <p:cNvSpPr txBox="1"/>
          <p:nvPr/>
        </p:nvSpPr>
        <p:spPr>
          <a:xfrm>
            <a:off x="548640" y="4892040"/>
            <a:ext cx="2606040" cy="365760"/>
          </a:xfrm>
          <a:prstGeom prst="rect">
            <a:avLst/>
          </a:prstGeom>
          <a:noFill/>
          <a:ln/>
        </p:spPr>
        <p:txBody>
          <a:bodyPr wrap="square" lIns="0" tIns="0" rIns="0" bIns="0" rtlCol="0" anchor="t"/>
          <a:lstStyle/>
          <a:p>
            <a:pPr indent="0" marL="0">
              <a:buNone/>
            </a:pPr>
            <a:r>
              <a:rPr lang="en-US" sz="1700" b="1" dirty="0">
                <a:solidFill>
                  <a:schemeClr val="tx2"/>
                </a:solidFill>
              </a:rPr>
              <a:t>Generate data</a:t>
            </a:r>
            <a:endParaRPr lang="en-US" sz="1700" dirty="0"/>
          </a:p>
        </p:txBody>
      </p:sp>
      <p:sp>
        <p:nvSpPr>
          <p:cNvPr id="22" name="Text 18"/>
          <p:cNvSpPr txBox="1"/>
          <p:nvPr/>
        </p:nvSpPr>
        <p:spPr>
          <a:xfrm>
            <a:off x="548640" y="5257800"/>
            <a:ext cx="2606040" cy="731520"/>
          </a:xfrm>
          <a:prstGeom prst="rect">
            <a:avLst/>
          </a:prstGeom>
          <a:noFill/>
          <a:ln/>
        </p:spPr>
        <p:txBody>
          <a:bodyPr wrap="square" lIns="0" tIns="0" rIns="0" bIns="0" rtlCol="0" anchor="t"/>
          <a:lstStyle/>
          <a:p>
            <a:pPr indent="0" marL="0">
              <a:buNone/>
            </a:pPr>
            <a:r>
              <a:rPr lang="en-US" sz="1400" dirty="0">
                <a:solidFill>
                  <a:srgbClr val="5A6478"/>
                </a:solidFill>
              </a:rPr>
              <a:t>From documented scam patterns; no real personal data</a:t>
            </a:r>
            <a:endParaRPr lang="en-US" sz="1400" dirty="0"/>
          </a:p>
        </p:txBody>
      </p:sp>
      <p:sp>
        <p:nvSpPr>
          <p:cNvPr id="23" name="pipeline icon 2 circle"/>
          <p:cNvSpPr/>
          <p:nvPr/>
        </p:nvSpPr>
        <p:spPr>
          <a:xfrm>
            <a:off x="3364992" y="4069080"/>
            <a:ext cx="685800" cy="685800"/>
          </a:xfrm>
          <a:prstGeom prst="ellipse">
            <a:avLst/>
          </a:prstGeom>
          <a:solidFill>
            <a:schemeClr val="accent1"/>
          </a:solidFill>
          <a:ln w="12700">
            <a:solidFill>
              <a:schemeClr val="accent1"/>
            </a:solidFill>
            <a:prstDash val="solid"/>
          </a:ln>
        </p:spPr>
      </p:sp>
      <p:pic>
        <p:nvPicPr>
          <p:cNvPr id="24" name="pipeline icon 2" descr="pipeline icon 2">    </p:cNvPr>
          <p:cNvPicPr>
            <a:picLocks noChangeAspect="1"/>
          </p:cNvPicPr>
          <p:nvPr/>
        </p:nvPicPr>
        <p:blipFill>
          <a:blip r:embed="rId2"/>
          <a:stretch>
            <a:fillRect/>
          </a:stretch>
        </p:blipFill>
        <p:spPr>
          <a:xfrm>
            <a:off x="3536442" y="4240530"/>
            <a:ext cx="342900" cy="342900"/>
          </a:xfrm>
          <a:prstGeom prst="rect">
            <a:avLst/>
          </a:prstGeom>
        </p:spPr>
      </p:pic>
      <p:sp>
        <p:nvSpPr>
          <p:cNvPr id="25" name="pipeline arrow 2"/>
          <p:cNvSpPr/>
          <p:nvPr/>
        </p:nvSpPr>
        <p:spPr>
          <a:xfrm>
            <a:off x="4187952" y="4411980"/>
            <a:ext cx="1828800" cy="0"/>
          </a:xfrm>
          <a:prstGeom prst="line">
            <a:avLst/>
          </a:prstGeom>
          <a:noFill/>
          <a:ln w="19050">
            <a:solidFill>
              <a:schemeClr val="accent4"/>
            </a:solidFill>
            <a:prstDash val="dash"/>
            <a:tailEnd type="triangle"/>
          </a:ln>
        </p:spPr>
      </p:sp>
      <p:sp>
        <p:nvSpPr>
          <p:cNvPr id="26" name="Text 21"/>
          <p:cNvSpPr txBox="1"/>
          <p:nvPr/>
        </p:nvSpPr>
        <p:spPr>
          <a:xfrm>
            <a:off x="3364992" y="4892040"/>
            <a:ext cx="2606040" cy="365760"/>
          </a:xfrm>
          <a:prstGeom prst="rect">
            <a:avLst/>
          </a:prstGeom>
          <a:noFill/>
          <a:ln/>
        </p:spPr>
        <p:txBody>
          <a:bodyPr wrap="square" lIns="0" tIns="0" rIns="0" bIns="0" rtlCol="0" anchor="t"/>
          <a:lstStyle/>
          <a:p>
            <a:pPr indent="0" marL="0">
              <a:buNone/>
            </a:pPr>
            <a:r>
              <a:rPr lang="en-US" sz="1700" b="1" dirty="0">
                <a:solidFill>
                  <a:schemeClr val="tx2"/>
                </a:solidFill>
              </a:rPr>
              <a:t>Train and score</a:t>
            </a:r>
            <a:endParaRPr lang="en-US" sz="1700" dirty="0"/>
          </a:p>
        </p:txBody>
      </p:sp>
      <p:sp>
        <p:nvSpPr>
          <p:cNvPr id="27" name="Text 22"/>
          <p:cNvSpPr txBox="1"/>
          <p:nvPr/>
        </p:nvSpPr>
        <p:spPr>
          <a:xfrm>
            <a:off x="3364992" y="5257800"/>
            <a:ext cx="2606040" cy="731520"/>
          </a:xfrm>
          <a:prstGeom prst="rect">
            <a:avLst/>
          </a:prstGeom>
          <a:noFill/>
          <a:ln/>
        </p:spPr>
        <p:txBody>
          <a:bodyPr wrap="square" lIns="0" tIns="0" rIns="0" bIns="0" rtlCol="0" anchor="t"/>
          <a:lstStyle/>
          <a:p>
            <a:pPr indent="0" marL="0">
              <a:buNone/>
            </a:pPr>
            <a:r>
              <a:rPr lang="en-US" sz="1400" dirty="0">
                <a:solidFill>
                  <a:srgbClr val="5A6478"/>
                </a:solidFill>
              </a:rPr>
              <a:t>scikit-learn models and the rule engine</a:t>
            </a:r>
            <a:endParaRPr lang="en-US" sz="1400" dirty="0"/>
          </a:p>
        </p:txBody>
      </p:sp>
      <p:sp>
        <p:nvSpPr>
          <p:cNvPr id="28" name="pipeline icon 3 circle"/>
          <p:cNvSpPr/>
          <p:nvPr/>
        </p:nvSpPr>
        <p:spPr>
          <a:xfrm>
            <a:off x="6181344" y="4069080"/>
            <a:ext cx="685800" cy="685800"/>
          </a:xfrm>
          <a:prstGeom prst="ellipse">
            <a:avLst/>
          </a:prstGeom>
          <a:solidFill>
            <a:schemeClr val="accent1"/>
          </a:solidFill>
          <a:ln w="12700">
            <a:solidFill>
              <a:schemeClr val="accent1"/>
            </a:solidFill>
            <a:prstDash val="solid"/>
          </a:ln>
        </p:spPr>
      </p:sp>
      <p:pic>
        <p:nvPicPr>
          <p:cNvPr id="29" name="pipeline icon 3" descr="pipeline icon 3">    </p:cNvPr>
          <p:cNvPicPr>
            <a:picLocks noChangeAspect="1"/>
          </p:cNvPicPr>
          <p:nvPr/>
        </p:nvPicPr>
        <p:blipFill>
          <a:blip r:embed="rId3"/>
          <a:stretch>
            <a:fillRect/>
          </a:stretch>
        </p:blipFill>
        <p:spPr>
          <a:xfrm>
            <a:off x="6352794" y="4240530"/>
            <a:ext cx="342900" cy="342900"/>
          </a:xfrm>
          <a:prstGeom prst="rect">
            <a:avLst/>
          </a:prstGeom>
        </p:spPr>
      </p:pic>
      <p:sp>
        <p:nvSpPr>
          <p:cNvPr id="30" name="pipeline arrow 3"/>
          <p:cNvSpPr/>
          <p:nvPr/>
        </p:nvSpPr>
        <p:spPr>
          <a:xfrm>
            <a:off x="7004304" y="4411980"/>
            <a:ext cx="1828800" cy="0"/>
          </a:xfrm>
          <a:prstGeom prst="line">
            <a:avLst/>
          </a:prstGeom>
          <a:noFill/>
          <a:ln w="19050">
            <a:solidFill>
              <a:schemeClr val="accent4"/>
            </a:solidFill>
            <a:prstDash val="dash"/>
            <a:tailEnd type="triangle"/>
          </a:ln>
        </p:spPr>
      </p:sp>
      <p:sp>
        <p:nvSpPr>
          <p:cNvPr id="31" name="Text 25"/>
          <p:cNvSpPr txBox="1"/>
          <p:nvPr/>
        </p:nvSpPr>
        <p:spPr>
          <a:xfrm>
            <a:off x="6181344" y="4892040"/>
            <a:ext cx="2606040" cy="365760"/>
          </a:xfrm>
          <a:prstGeom prst="rect">
            <a:avLst/>
          </a:prstGeom>
          <a:noFill/>
          <a:ln/>
        </p:spPr>
        <p:txBody>
          <a:bodyPr wrap="square" lIns="0" tIns="0" rIns="0" bIns="0" rtlCol="0" anchor="t"/>
          <a:lstStyle/>
          <a:p>
            <a:pPr indent="0" marL="0">
              <a:buNone/>
            </a:pPr>
            <a:r>
              <a:rPr lang="en-US" sz="1700" b="1" dirty="0">
                <a:solidFill>
                  <a:schemeClr val="tx2"/>
                </a:solidFill>
              </a:rPr>
              <a:t>Evaluate</a:t>
            </a:r>
            <a:endParaRPr lang="en-US" sz="1700" dirty="0"/>
          </a:p>
        </p:txBody>
      </p:sp>
      <p:sp>
        <p:nvSpPr>
          <p:cNvPr id="32" name="Text 26"/>
          <p:cNvSpPr txBox="1"/>
          <p:nvPr/>
        </p:nvSpPr>
        <p:spPr>
          <a:xfrm>
            <a:off x="6181344" y="5257800"/>
            <a:ext cx="2606040" cy="731520"/>
          </a:xfrm>
          <a:prstGeom prst="rect">
            <a:avLst/>
          </a:prstGeom>
          <a:noFill/>
          <a:ln/>
        </p:spPr>
        <p:txBody>
          <a:bodyPr wrap="square" lIns="0" tIns="0" rIns="0" bIns="0" rtlCol="0" anchor="t"/>
          <a:lstStyle/>
          <a:p>
            <a:pPr indent="0" marL="0">
              <a:buNone/>
            </a:pPr>
            <a:r>
              <a:rPr lang="en-US" sz="1400" dirty="0">
                <a:solidFill>
                  <a:srgbClr val="5A6478"/>
                </a:solidFill>
              </a:rPr>
              <a:t>Precision, recall, F1, false-positive rate</a:t>
            </a:r>
            <a:endParaRPr lang="en-US" sz="1400" dirty="0"/>
          </a:p>
        </p:txBody>
      </p:sp>
      <p:sp>
        <p:nvSpPr>
          <p:cNvPr id="33" name="pipeline icon 4 circle"/>
          <p:cNvSpPr/>
          <p:nvPr/>
        </p:nvSpPr>
        <p:spPr>
          <a:xfrm>
            <a:off x="8997696" y="4069080"/>
            <a:ext cx="685800" cy="685800"/>
          </a:xfrm>
          <a:prstGeom prst="ellipse">
            <a:avLst/>
          </a:prstGeom>
          <a:solidFill>
            <a:schemeClr val="accent1"/>
          </a:solidFill>
          <a:ln w="12700">
            <a:solidFill>
              <a:schemeClr val="accent1"/>
            </a:solidFill>
            <a:prstDash val="solid"/>
          </a:ln>
        </p:spPr>
      </p:sp>
      <p:pic>
        <p:nvPicPr>
          <p:cNvPr id="34" name="pipeline icon 4" descr="pipeline icon 4">    </p:cNvPr>
          <p:cNvPicPr>
            <a:picLocks noChangeAspect="1"/>
          </p:cNvPicPr>
          <p:nvPr/>
        </p:nvPicPr>
        <p:blipFill>
          <a:blip r:embed="rId4"/>
          <a:stretch>
            <a:fillRect/>
          </a:stretch>
        </p:blipFill>
        <p:spPr>
          <a:xfrm>
            <a:off x="9169146" y="4240530"/>
            <a:ext cx="342900" cy="342900"/>
          </a:xfrm>
          <a:prstGeom prst="rect">
            <a:avLst/>
          </a:prstGeom>
        </p:spPr>
      </p:pic>
      <p:sp>
        <p:nvSpPr>
          <p:cNvPr id="35" name="Text 28"/>
          <p:cNvSpPr txBox="1"/>
          <p:nvPr/>
        </p:nvSpPr>
        <p:spPr>
          <a:xfrm>
            <a:off x="8997696" y="4892040"/>
            <a:ext cx="2606040" cy="365760"/>
          </a:xfrm>
          <a:prstGeom prst="rect">
            <a:avLst/>
          </a:prstGeom>
          <a:noFill/>
          <a:ln/>
        </p:spPr>
        <p:txBody>
          <a:bodyPr wrap="square" lIns="0" tIns="0" rIns="0" bIns="0" rtlCol="0" anchor="t"/>
          <a:lstStyle/>
          <a:p>
            <a:pPr indent="0" marL="0">
              <a:buNone/>
            </a:pPr>
            <a:r>
              <a:rPr lang="en-US" sz="1700" b="1" dirty="0">
                <a:solidFill>
                  <a:schemeClr val="tx2"/>
                </a:solidFill>
              </a:rPr>
              <a:t>Replay the case</a:t>
            </a:r>
            <a:endParaRPr lang="en-US" sz="1700" dirty="0"/>
          </a:p>
        </p:txBody>
      </p:sp>
      <p:sp>
        <p:nvSpPr>
          <p:cNvPr id="36" name="Text 29"/>
          <p:cNvSpPr txBox="1"/>
          <p:nvPr/>
        </p:nvSpPr>
        <p:spPr>
          <a:xfrm>
            <a:off x="8997696" y="5257800"/>
            <a:ext cx="2606040" cy="731520"/>
          </a:xfrm>
          <a:prstGeom prst="rect">
            <a:avLst/>
          </a:prstGeom>
          <a:noFill/>
          <a:ln/>
        </p:spPr>
        <p:txBody>
          <a:bodyPr wrap="square" lIns="0" tIns="0" rIns="0" bIns="0" rtlCol="0" anchor="t"/>
          <a:lstStyle/>
          <a:p>
            <a:pPr indent="0" marL="0">
              <a:buNone/>
            </a:pPr>
            <a:r>
              <a:rPr lang="en-US" sz="1400" dirty="0">
                <a:solidFill>
                  <a:srgbClr val="5A6478"/>
                </a:solidFill>
              </a:rPr>
              <a:t>Score each transfer of the Pune scam</a:t>
            </a:r>
            <a:endParaRPr lang="en-US" sz="1400" dirty="0"/>
          </a:p>
        </p:txBody>
      </p:sp>
      <p:sp>
        <p:nvSpPr>
          <p:cNvPr id="37" name="Text 30"/>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200" i="1" dirty="0">
                <a:solidFill>
                  <a:srgbClr val="5A6478"/>
                </a:solidFill>
              </a:rPr>
              <a:t>Python 3, scikit-learn, NumPy, Matplotlib. Fixed random seed, so every number is reproducible.</a:t>
            </a:r>
            <a:endParaRPr lang="en-US" sz="12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Module A caught 95% of unseen scam scripts</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Pranjal</a:t>
            </a:r>
            <a:endParaRPr lang="en-US" sz="1300" dirty="0"/>
          </a:p>
        </p:txBody>
      </p:sp>
      <p:graphicFrame>
        <p:nvGraphicFramePr>
          <p:cNvPr id="6" name="module A chart" descr=""/>
          <p:cNvGraphicFramePr/>
          <p:nvPr/>
        </p:nvGraphicFramePr>
        <p:xfrm>
          <a:off x="54864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7" name="A stat 1"/>
          <p:cNvSpPr/>
          <p:nvPr/>
        </p:nvSpPr>
        <p:spPr>
          <a:xfrm>
            <a:off x="7863840" y="1508760"/>
            <a:ext cx="3776472" cy="1371600"/>
          </a:xfrm>
          <a:prstGeom prst="roundRect">
            <a:avLst>
              <a:gd name="adj" fmla="val 8000"/>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8092440" y="1645920"/>
            <a:ext cx="338328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0.84</a:t>
            </a:r>
            <a:endParaRPr lang="en-US" sz="3800" dirty="0"/>
          </a:p>
        </p:txBody>
      </p:sp>
      <p:sp>
        <p:nvSpPr>
          <p:cNvPr id="9" name="Text 5"/>
          <p:cNvSpPr txBox="1"/>
          <p:nvPr/>
        </p:nvSpPr>
        <p:spPr>
          <a:xfrm>
            <a:off x="8092440" y="2331720"/>
            <a:ext cx="3383280" cy="457200"/>
          </a:xfrm>
          <a:prstGeom prst="rect">
            <a:avLst/>
          </a:prstGeom>
          <a:noFill/>
          <a:ln/>
        </p:spPr>
        <p:txBody>
          <a:bodyPr wrap="square" lIns="0" tIns="0" rIns="0" bIns="0" rtlCol="0" anchor="t"/>
          <a:lstStyle/>
          <a:p>
            <a:pPr indent="0" marL="0">
              <a:buNone/>
            </a:pPr>
            <a:r>
              <a:rPr lang="en-US" sz="1400" dirty="0">
                <a:solidFill>
                  <a:srgbClr val="DCE3F0"/>
                </a:solidFill>
              </a:rPr>
              <a:t>F1-score, logistic regression (best balance)</a:t>
            </a:r>
            <a:endParaRPr lang="en-US" sz="1400" dirty="0"/>
          </a:p>
        </p:txBody>
      </p:sp>
      <p:sp>
        <p:nvSpPr>
          <p:cNvPr id="10" name="A stat 2"/>
          <p:cNvSpPr/>
          <p:nvPr/>
        </p:nvSpPr>
        <p:spPr>
          <a:xfrm>
            <a:off x="7863840" y="3063240"/>
            <a:ext cx="3776472" cy="1371600"/>
          </a:xfrm>
          <a:prstGeom prst="roundRect">
            <a:avLst>
              <a:gd name="adj" fmla="val 8000"/>
            </a:avLst>
          </a:prstGeom>
          <a:solidFill>
            <a:schemeClr val="bg2"/>
          </a:solidFill>
          <a:ln w="12700">
            <a:solidFill>
              <a:schemeClr val="bg2"/>
            </a:solidFill>
            <a:prstDash val="solid"/>
          </a:ln>
        </p:spPr>
      </p:sp>
      <p:sp>
        <p:nvSpPr>
          <p:cNvPr id="11" name="Text 7"/>
          <p:cNvSpPr txBox="1"/>
          <p:nvPr/>
        </p:nvSpPr>
        <p:spPr>
          <a:xfrm>
            <a:off x="8092440" y="3200400"/>
            <a:ext cx="3383280" cy="68580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95.5%</a:t>
            </a:r>
            <a:endParaRPr lang="en-US" sz="3800" dirty="0"/>
          </a:p>
        </p:txBody>
      </p:sp>
      <p:sp>
        <p:nvSpPr>
          <p:cNvPr id="12" name="Text 8"/>
          <p:cNvSpPr txBox="1"/>
          <p:nvPr/>
        </p:nvSpPr>
        <p:spPr>
          <a:xfrm>
            <a:off x="8092440" y="3886200"/>
            <a:ext cx="3383280" cy="457200"/>
          </a:xfrm>
          <a:prstGeom prst="rect">
            <a:avLst/>
          </a:prstGeom>
          <a:noFill/>
          <a:ln/>
        </p:spPr>
        <p:txBody>
          <a:bodyPr wrap="square" lIns="0" tIns="0" rIns="0" bIns="0" rtlCol="0" anchor="t"/>
          <a:lstStyle/>
          <a:p>
            <a:pPr indent="0" marL="0">
              <a:buNone/>
            </a:pPr>
            <a:r>
              <a:rPr lang="en-US" sz="1400" dirty="0">
                <a:solidFill>
                  <a:srgbClr val="5A6478"/>
                </a:solidFill>
              </a:rPr>
              <a:t>of scam messages caught (468 of 490)</a:t>
            </a:r>
            <a:endParaRPr lang="en-US" sz="1400" dirty="0"/>
          </a:p>
        </p:txBody>
      </p:sp>
      <p:sp>
        <p:nvSpPr>
          <p:cNvPr id="13" name="A stat 3"/>
          <p:cNvSpPr/>
          <p:nvPr/>
        </p:nvSpPr>
        <p:spPr>
          <a:xfrm>
            <a:off x="7863840" y="4617720"/>
            <a:ext cx="3776472" cy="1371600"/>
          </a:xfrm>
          <a:prstGeom prst="roundRect">
            <a:avLst>
              <a:gd name="adj" fmla="val 8000"/>
            </a:avLst>
          </a:prstGeom>
          <a:solidFill>
            <a:schemeClr val="bg2"/>
          </a:solidFill>
          <a:ln w="12700">
            <a:solidFill>
              <a:schemeClr val="bg2"/>
            </a:solidFill>
            <a:prstDash val="solid"/>
          </a:ln>
        </p:spPr>
      </p:sp>
      <p:sp>
        <p:nvSpPr>
          <p:cNvPr id="14" name="Text 10"/>
          <p:cNvSpPr txBox="1"/>
          <p:nvPr/>
        </p:nvSpPr>
        <p:spPr>
          <a:xfrm>
            <a:off x="8092440" y="4754880"/>
            <a:ext cx="3383280" cy="685800"/>
          </a:xfrm>
          <a:prstGeom prst="rect">
            <a:avLst/>
          </a:prstGeom>
          <a:noFill/>
          <a:ln/>
        </p:spPr>
        <p:txBody>
          <a:bodyPr wrap="square" lIns="0" tIns="0" rIns="0" bIns="0" rtlCol="0" anchor="t"/>
          <a:lstStyle/>
          <a:p>
            <a:pPr indent="0" marL="0">
              <a:buNone/>
            </a:pPr>
            <a:r>
              <a:rPr lang="en-US" sz="3800" b="1" dirty="0">
                <a:solidFill>
                  <a:schemeClr val="accent2"/>
                </a:solidFill>
                <a:latin typeface="Cambria" pitchFamily="34" charset="0"/>
                <a:ea typeface="Cambria" pitchFamily="34" charset="-122"/>
                <a:cs typeface="Cambria" pitchFamily="34" charset="-120"/>
              </a:rPr>
              <a:t>57%</a:t>
            </a:r>
            <a:endParaRPr lang="en-US" sz="3800" dirty="0"/>
          </a:p>
        </p:txBody>
      </p:sp>
      <p:sp>
        <p:nvSpPr>
          <p:cNvPr id="15" name="Text 11"/>
          <p:cNvSpPr txBox="1"/>
          <p:nvPr/>
        </p:nvSpPr>
        <p:spPr>
          <a:xfrm>
            <a:off x="8092440" y="5440680"/>
            <a:ext cx="3383280" cy="457200"/>
          </a:xfrm>
          <a:prstGeom prst="rect">
            <a:avLst/>
          </a:prstGeom>
          <a:noFill/>
          <a:ln/>
        </p:spPr>
        <p:txBody>
          <a:bodyPr wrap="square" lIns="0" tIns="0" rIns="0" bIns="0" rtlCol="0" anchor="t"/>
          <a:lstStyle/>
          <a:p>
            <a:pPr indent="0" marL="0">
              <a:buNone/>
            </a:pPr>
            <a:r>
              <a:rPr lang="en-US" sz="1400" dirty="0">
                <a:solidFill>
                  <a:srgbClr val="5A6478"/>
                </a:solidFill>
              </a:rPr>
              <a:t>caught by keyword rules alone</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Hard cases: secrecy scripts and real warnings</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Pranjal</a:t>
            </a:r>
            <a:endParaRPr lang="en-US" sz="1300" dirty="0"/>
          </a:p>
        </p:txBody>
      </p:sp>
      <p:graphicFrame>
        <p:nvGraphicFramePr>
          <p:cNvPr id="6" name="fold chart" descr=""/>
          <p:cNvGraphicFramePr/>
          <p:nvPr/>
        </p:nvGraphicFramePr>
        <p:xfrm>
          <a:off x="548640" y="1417320"/>
          <a:ext cx="7040880" cy="46634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7955280" y="1508760"/>
            <a:ext cx="3749040" cy="640080"/>
          </a:xfrm>
          <a:prstGeom prst="rect">
            <a:avLst/>
          </a:prstGeom>
          <a:noFill/>
          <a:ln/>
        </p:spPr>
        <p:txBody>
          <a:bodyPr wrap="square" lIns="0" tIns="0" rIns="0" bIns="0" rtlCol="0" anchor="t"/>
          <a:lstStyle/>
          <a:p>
            <a:pPr indent="0" marL="0">
              <a:buNone/>
            </a:pPr>
            <a:r>
              <a:rPr lang="en-US" sz="1600" b="1" dirty="0">
                <a:solidFill>
                  <a:schemeClr val="tx2"/>
                </a:solidFill>
              </a:rPr>
              <a:t>Logistic regression: what it got right and wrong</a:t>
            </a:r>
            <a:endParaRPr lang="en-US" sz="1600" dirty="0"/>
          </a:p>
        </p:txBody>
      </p:sp>
      <p:graphicFrame>
        <p:nvGraphicFramePr>
          <p:cNvPr id="15" name="confusion matrix"/>
          <p:cNvGraphicFramePr>
            <a:graphicFrameLocks noGrp="1"/>
          </p:cNvGraphicFramePr>
          <p:nvPr>
            <p:extLst>
              <p:ext uri="{D42A27DB-BD31-4B8C-83A1-F6EECF244321}">
                <p14:modId xmlns:p14="http://schemas.microsoft.com/office/powerpoint/2010/main" val="1579011935"/>
              </p:ext>
            </p:extLst>
          </p:nvPr>
        </p:nvGraphicFramePr>
        <p:xfrm>
          <a:off x="7955280" y="2194560"/>
          <a:ext cx="3685032" cy="914400"/>
        </p:xfrm>
        <a:graphic>
          <a:graphicData uri="http://schemas.openxmlformats.org/drawingml/2006/table">
            <a:tbl>
              <a:tblPr/>
              <a:tblGrid>
                <a:gridCol w="1033272"/>
                <a:gridCol w="1325880"/>
                <a:gridCol w="1325880"/>
              </a:tblGrid>
              <a:tr h="457200">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Flagged normal</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Flagged scam</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bg2"/>
                    </a:solidFill>
                  </a:tcPr>
                </a:tc>
              </a:tr>
              <a:tr h="457200">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Normal</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bg2"/>
                    </a:solidFill>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335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155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r h="457200">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Scam</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468</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bl>
          </a:graphicData>
        </a:graphic>
      </p:graphicFrame>
      <p:sp>
        <p:nvSpPr>
          <p:cNvPr id="9" name="error note"/>
          <p:cNvSpPr/>
          <p:nvPr/>
        </p:nvSpPr>
        <p:spPr>
          <a:xfrm>
            <a:off x="7955280" y="3794760"/>
            <a:ext cx="3685032" cy="2240280"/>
          </a:xfrm>
          <a:prstGeom prst="roundRect">
            <a:avLst>
              <a:gd name="adj" fmla="val 4898"/>
            </a:avLst>
          </a:prstGeom>
          <a:solidFill>
            <a:srgbClr val="FDF3DD"/>
          </a:solidFill>
          <a:ln w="12700">
            <a:solidFill>
              <a:srgbClr val="FDF3DD"/>
            </a:solidFill>
            <a:prstDash val="solid"/>
          </a:ln>
        </p:spPr>
      </p:sp>
      <p:sp>
        <p:nvSpPr>
          <p:cNvPr id="10" name="Text 5"/>
          <p:cNvSpPr txBox="1"/>
          <p:nvPr/>
        </p:nvSpPr>
        <p:spPr>
          <a:xfrm>
            <a:off x="8183880" y="3977640"/>
            <a:ext cx="3246120" cy="1920240"/>
          </a:xfrm>
          <a:prstGeom prst="rect">
            <a:avLst/>
          </a:prstGeom>
          <a:noFill/>
          <a:ln/>
        </p:spPr>
        <p:txBody>
          <a:bodyPr wrap="square" lIns="0" tIns="0" rIns="0" bIns="0" rtlCol="0" anchor="t"/>
          <a:lstStyle/>
          <a:p>
            <a:pPr indent="0" marL="0">
              <a:buNone/>
            </a:pPr>
            <a:r>
              <a:rPr lang="en-US" sz="1500" b="1" dirty="0">
                <a:solidFill>
                  <a:schemeClr val="tx2"/>
                </a:solidFill>
              </a:rPr>
              <a:t>111 of 155 </a:t>
            </a:r>
            <a:pPr indent="0" marL="0">
              <a:buNone/>
            </a:pPr>
            <a:r>
              <a:rPr lang="en-US" sz="1500" dirty="0">
                <a:solidFill>
                  <a:schemeClr val="tx1"/>
                </a:solidFill>
              </a:rPr>
              <a:t>false alarms were genuine police advisories or news about digital arrest.</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2"/>
                </a:solidFill>
              </a:rPr>
              <a:t>Fix: </a:t>
            </a:r>
            <a:pPr indent="0" marL="0">
              <a:buNone/>
            </a:pPr>
            <a:r>
              <a:rPr lang="en-US" sz="1500" dirty="0">
                <a:solidFill>
                  <a:schemeClr val="tx1"/>
                </a:solidFill>
              </a:rPr>
              <a:t>verify official senders (police, banks, I4C) and train on real advisories.</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Module B held 95% of scam transfers</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Pranjal</a:t>
            </a:r>
            <a:endParaRPr lang="en-US" sz="1300" dirty="0"/>
          </a:p>
        </p:txBody>
      </p:sp>
      <p:graphicFrame>
        <p:nvGraphicFramePr>
          <p:cNvPr id="6" name="module B chart" descr=""/>
          <p:cNvGraphicFramePr/>
          <p:nvPr/>
        </p:nvGraphicFramePr>
        <p:xfrm>
          <a:off x="548640" y="141732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7" name="B stat 1"/>
          <p:cNvSpPr/>
          <p:nvPr/>
        </p:nvSpPr>
        <p:spPr>
          <a:xfrm>
            <a:off x="7635240" y="1508760"/>
            <a:ext cx="1956816" cy="2103120"/>
          </a:xfrm>
          <a:prstGeom prst="roundRect">
            <a:avLst>
              <a:gd name="adj" fmla="val 5607"/>
            </a:avLst>
          </a:prstGeom>
          <a:solidFill>
            <a:schemeClr val="bg2"/>
          </a:solidFill>
          <a:ln w="12700">
            <a:solidFill>
              <a:schemeClr val="bg2"/>
            </a:solidFill>
            <a:prstDash val="solid"/>
          </a:ln>
        </p:spPr>
      </p:sp>
      <p:sp>
        <p:nvSpPr>
          <p:cNvPr id="8" name="Text 4"/>
          <p:cNvSpPr txBox="1"/>
          <p:nvPr/>
        </p:nvSpPr>
        <p:spPr>
          <a:xfrm>
            <a:off x="7799832" y="1691640"/>
            <a:ext cx="1691640" cy="7315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95.0%</a:t>
            </a:r>
            <a:endParaRPr lang="en-US" sz="2800" dirty="0"/>
          </a:p>
        </p:txBody>
      </p:sp>
      <p:sp>
        <p:nvSpPr>
          <p:cNvPr id="9" name="Text 5"/>
          <p:cNvSpPr txBox="1"/>
          <p:nvPr/>
        </p:nvSpPr>
        <p:spPr>
          <a:xfrm>
            <a:off x="7799832" y="2468880"/>
            <a:ext cx="1691640" cy="1051560"/>
          </a:xfrm>
          <a:prstGeom prst="rect">
            <a:avLst/>
          </a:prstGeom>
          <a:noFill/>
          <a:ln/>
        </p:spPr>
        <p:txBody>
          <a:bodyPr wrap="square" lIns="0" tIns="0" rIns="0" bIns="0" rtlCol="0" anchor="t"/>
          <a:lstStyle/>
          <a:p>
            <a:pPr indent="0" marL="0">
              <a:buNone/>
            </a:pPr>
            <a:r>
              <a:rPr lang="en-US" sz="1400" dirty="0">
                <a:solidFill>
                  <a:srgbClr val="5A6478"/>
                </a:solidFill>
              </a:rPr>
              <a:t>of scam transfers held</a:t>
            </a:r>
            <a:endParaRPr lang="en-US" sz="1400" dirty="0"/>
          </a:p>
        </p:txBody>
      </p:sp>
      <p:sp>
        <p:nvSpPr>
          <p:cNvPr id="10" name="B stat 2"/>
          <p:cNvSpPr/>
          <p:nvPr/>
        </p:nvSpPr>
        <p:spPr>
          <a:xfrm>
            <a:off x="9683496" y="1508760"/>
            <a:ext cx="1956816" cy="2103120"/>
          </a:xfrm>
          <a:prstGeom prst="roundRect">
            <a:avLst>
              <a:gd name="adj" fmla="val 5607"/>
            </a:avLst>
          </a:prstGeom>
          <a:solidFill>
            <a:schemeClr val="bg2"/>
          </a:solidFill>
          <a:ln w="12700">
            <a:solidFill>
              <a:schemeClr val="bg2"/>
            </a:solidFill>
            <a:prstDash val="solid"/>
          </a:ln>
        </p:spPr>
      </p:sp>
      <p:sp>
        <p:nvSpPr>
          <p:cNvPr id="11" name="Text 7"/>
          <p:cNvSpPr txBox="1"/>
          <p:nvPr/>
        </p:nvSpPr>
        <p:spPr>
          <a:xfrm>
            <a:off x="9848088" y="1691640"/>
            <a:ext cx="1691640" cy="7315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1.07%</a:t>
            </a:r>
            <a:endParaRPr lang="en-US" sz="2800" dirty="0"/>
          </a:p>
        </p:txBody>
      </p:sp>
      <p:sp>
        <p:nvSpPr>
          <p:cNvPr id="12" name="Text 8"/>
          <p:cNvSpPr txBox="1"/>
          <p:nvPr/>
        </p:nvSpPr>
        <p:spPr>
          <a:xfrm>
            <a:off x="9848088" y="2468880"/>
            <a:ext cx="1691640" cy="1051560"/>
          </a:xfrm>
          <a:prstGeom prst="rect">
            <a:avLst/>
          </a:prstGeom>
          <a:noFill/>
          <a:ln/>
        </p:spPr>
        <p:txBody>
          <a:bodyPr wrap="square" lIns="0" tIns="0" rIns="0" bIns="0" rtlCol="0" anchor="t"/>
          <a:lstStyle/>
          <a:p>
            <a:pPr indent="0" marL="0">
              <a:buNone/>
            </a:pPr>
            <a:r>
              <a:rPr lang="en-US" sz="1400" dirty="0">
                <a:solidFill>
                  <a:srgbClr val="5A6478"/>
                </a:solidFill>
              </a:rPr>
              <a:t>of genuine transfers delayed</a:t>
            </a:r>
            <a:endParaRPr lang="en-US" sz="1400" dirty="0"/>
          </a:p>
        </p:txBody>
      </p:sp>
      <p:sp>
        <p:nvSpPr>
          <p:cNvPr id="13" name="B stat 3"/>
          <p:cNvSpPr/>
          <p:nvPr/>
        </p:nvSpPr>
        <p:spPr>
          <a:xfrm>
            <a:off x="7635240" y="3794760"/>
            <a:ext cx="1956816" cy="2103120"/>
          </a:xfrm>
          <a:prstGeom prst="roundRect">
            <a:avLst>
              <a:gd name="adj" fmla="val 560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14" name="Text 10"/>
          <p:cNvSpPr txBox="1"/>
          <p:nvPr/>
        </p:nvSpPr>
        <p:spPr>
          <a:xfrm>
            <a:off x="7799832" y="3977640"/>
            <a:ext cx="1691640" cy="7315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122 / 150</a:t>
            </a:r>
            <a:endParaRPr lang="en-US" sz="2800" dirty="0"/>
          </a:p>
        </p:txBody>
      </p:sp>
      <p:sp>
        <p:nvSpPr>
          <p:cNvPr id="15" name="Text 11"/>
          <p:cNvSpPr txBox="1"/>
          <p:nvPr/>
        </p:nvSpPr>
        <p:spPr>
          <a:xfrm>
            <a:off x="7799832" y="4754880"/>
            <a:ext cx="1691640" cy="1051560"/>
          </a:xfrm>
          <a:prstGeom prst="rect">
            <a:avLst/>
          </a:prstGeom>
          <a:noFill/>
          <a:ln/>
        </p:spPr>
        <p:txBody>
          <a:bodyPr wrap="square" lIns="0" tIns="0" rIns="0" bIns="0" rtlCol="0" anchor="t"/>
          <a:lstStyle/>
          <a:p>
            <a:pPr indent="0" marL="0">
              <a:buNone/>
            </a:pPr>
            <a:r>
              <a:rPr lang="en-US" sz="1400" dirty="0">
                <a:solidFill>
                  <a:srgbClr val="DCE3F0"/>
                </a:solidFill>
              </a:rPr>
              <a:t>scams stopped at the first instalment</a:t>
            </a:r>
            <a:endParaRPr lang="en-US" sz="1400" dirty="0"/>
          </a:p>
        </p:txBody>
      </p:sp>
      <p:sp>
        <p:nvSpPr>
          <p:cNvPr id="16" name="B stat 4"/>
          <p:cNvSpPr/>
          <p:nvPr/>
        </p:nvSpPr>
        <p:spPr>
          <a:xfrm>
            <a:off x="9683496" y="3794760"/>
            <a:ext cx="1956816" cy="2103120"/>
          </a:xfrm>
          <a:prstGeom prst="roundRect">
            <a:avLst>
              <a:gd name="adj" fmla="val 5607"/>
            </a:avLst>
          </a:prstGeom>
          <a:solidFill>
            <a:schemeClr val="bg2"/>
          </a:solidFill>
          <a:ln w="12700">
            <a:solidFill>
              <a:schemeClr val="bg2"/>
            </a:solidFill>
            <a:prstDash val="solid"/>
          </a:ln>
        </p:spPr>
      </p:sp>
      <p:sp>
        <p:nvSpPr>
          <p:cNvPr id="17" name="Text 13"/>
          <p:cNvSpPr txBox="1"/>
          <p:nvPr/>
        </p:nvSpPr>
        <p:spPr>
          <a:xfrm>
            <a:off x="9848088" y="3977640"/>
            <a:ext cx="1691640" cy="7315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₹484 cr</a:t>
            </a:r>
            <a:endParaRPr lang="en-US" sz="2800" dirty="0"/>
          </a:p>
        </p:txBody>
      </p:sp>
      <p:sp>
        <p:nvSpPr>
          <p:cNvPr id="18" name="Text 14"/>
          <p:cNvSpPr txBox="1"/>
          <p:nvPr/>
        </p:nvSpPr>
        <p:spPr>
          <a:xfrm>
            <a:off x="9848088" y="4754880"/>
            <a:ext cx="1691640" cy="1051560"/>
          </a:xfrm>
          <a:prstGeom prst="rect">
            <a:avLst/>
          </a:prstGeom>
          <a:noFill/>
          <a:ln/>
        </p:spPr>
        <p:txBody>
          <a:bodyPr wrap="square" lIns="0" tIns="0" rIns="0" bIns="0" rtlCol="0" anchor="t"/>
          <a:lstStyle/>
          <a:p>
            <a:pPr indent="0" marL="0">
              <a:buNone/>
            </a:pPr>
            <a:r>
              <a:rPr lang="en-US" sz="1400" dirty="0">
                <a:solidFill>
                  <a:srgbClr val="5A6478"/>
                </a:solidFill>
              </a:rPr>
              <a:t>of ₹503 cr targeted kept safe (96%)</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Replaying the Pune case: held at transfer 1</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Pranjal</a:t>
            </a:r>
            <a:endParaRPr lang="en-US" sz="1300" dirty="0"/>
          </a:p>
        </p:txBody>
      </p:sp>
      <p:graphicFrame>
        <p:nvGraphicFramePr>
          <p:cNvPr id="6" name="case replay chart" descr=""/>
          <p:cNvGraphicFramePr/>
          <p:nvPr/>
        </p:nvGraphicFramePr>
        <p:xfrm>
          <a:off x="548640" y="1417320"/>
          <a:ext cx="6035040" cy="4663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replay table"/>
          <p:cNvGraphicFramePr>
            <a:graphicFrameLocks noGrp="1"/>
          </p:cNvGraphicFramePr>
          <p:nvPr>
            <p:extLst>
              <p:ext uri="{D42A27DB-BD31-4B8C-83A1-F6EECF244321}">
                <p14:modId xmlns:p14="http://schemas.microsoft.com/office/powerpoint/2010/main" val="1579011935"/>
              </p:ext>
            </p:extLst>
          </p:nvPr>
        </p:nvGraphicFramePr>
        <p:xfrm>
          <a:off x="6903720" y="1508760"/>
          <a:ext cx="4736592" cy="914400"/>
        </p:xfrm>
        <a:graphic>
          <a:graphicData uri="http://schemas.openxmlformats.org/drawingml/2006/table">
            <a:tbl>
              <a:tblPr/>
              <a:tblGrid>
                <a:gridCol w="987552"/>
                <a:gridCol w="685800"/>
                <a:gridCol w="960120"/>
                <a:gridCol w="868680"/>
                <a:gridCol w="1234440"/>
              </a:tblGrid>
              <a:tr h="36576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Transfer</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Day</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 lakh</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Score</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chemeClr val="tx2"/>
                    </a:solidFill>
                  </a:tcPr>
                </a:tc>
              </a:tr>
              <a:tr h="365760">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HOLD</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r h="365760">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HOLD</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r h="365760">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72</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HOLD</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r h="365760">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95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HOLD</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r h="365760">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HOLD</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r h="365760">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85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dirty="0">
                          <a:solidFill>
                            <a:srgbClr val="1B1F2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c>
                  <a:txBody>
                    <a:bodyPr/>
                    <a:lstStyle/>
                    <a:p>
                      <a:pPr algn="ctr" indent="0" marL="0">
                        <a:buNone/>
                      </a:pPr>
                      <a:r>
                        <a:rPr lang="en-US" sz="1400" b="1" dirty="0">
                          <a:solidFill>
                            <a:schemeClr val="accent2"/>
                          </a:solidFill>
                          <a:latin typeface="Calibri" pitchFamily="34" charset="0"/>
                          <a:ea typeface="Calibri" pitchFamily="34" charset="-122"/>
                          <a:cs typeface="Calibri" pitchFamily="34" charset="-120"/>
                        </a:rPr>
                        <a:t>HOLD</a:t>
                      </a:r>
                      <a:endParaRPr lang="en-US" sz="1400" dirty="0">
                        <a:latin typeface="Calibri" charset="0"/>
                        <a:ea typeface="Calibri" charset="0"/>
                        <a:cs typeface="Calibri" charset="0"/>
                      </a:endParaRPr>
                    </a:p>
                  </a:txBody>
                  <a:tcPr marL="91440" marR="91440" marT="45720" marB="4572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tcPr>
                </a:tc>
              </a:tr>
            </a:tbl>
          </a:graphicData>
        </a:graphic>
      </p:graphicFrame>
      <p:sp>
        <p:nvSpPr>
          <p:cNvPr id="8" name="replay callout"/>
          <p:cNvSpPr/>
          <p:nvPr/>
        </p:nvSpPr>
        <p:spPr>
          <a:xfrm>
            <a:off x="6903720" y="4343400"/>
            <a:ext cx="4736592"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9" name="Text 4"/>
          <p:cNvSpPr txBox="1"/>
          <p:nvPr/>
        </p:nvSpPr>
        <p:spPr>
          <a:xfrm>
            <a:off x="7132320" y="4480560"/>
            <a:ext cx="4297680" cy="15087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≥94% protected</a:t>
            </a:r>
            <a:endParaRPr lang="en-US" sz="1600" dirty="0"/>
          </a:p>
          <a:p>
            <a:pPr indent="0" marL="0">
              <a:buNone/>
            </a:pPr>
            <a:r>
              <a:rPr lang="en-US" sz="1500" dirty="0">
                <a:solidFill>
                  <a:srgbClr val="DCE3F0"/>
                </a:solidFill>
              </a:rPr>
              <a:t>Transfer 1 (₹25 lakh) scored 75 and would be held for 24 h with a call to her family. Worst case, ₹4.12 crore stays safe.</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0525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Conclusion and recommendation</a:t>
            </a:r>
            <a:endParaRPr lang="en-US" sz="3400" dirty="0"/>
          </a:p>
        </p:txBody>
      </p:sp>
      <p:sp>
        <p:nvSpPr>
          <p:cNvPr id="3" name="speaker chip"/>
          <p:cNvSpPr/>
          <p:nvPr/>
        </p:nvSpPr>
        <p:spPr>
          <a:xfrm>
            <a:off x="9829800" y="566928"/>
            <a:ext cx="1810512" cy="457200"/>
          </a:xfrm>
          <a:prstGeom prst="roundRect">
            <a:avLst>
              <a:gd name="adj" fmla="val 50000"/>
            </a:avLst>
          </a:prstGeom>
          <a:solidFill>
            <a:schemeClr val="bg2"/>
          </a:solidFill>
          <a:ln w="12700">
            <a:solidFill>
              <a:schemeClr val="bg2"/>
            </a:solidFill>
            <a:prstDash val="solid"/>
          </a:ln>
        </p:spPr>
      </p:sp>
      <p:sp>
        <p:nvSpPr>
          <p:cNvPr id="4" name="speaker name"/>
          <p:cNvSpPr txBox="1"/>
          <p:nvPr/>
        </p:nvSpPr>
        <p:spPr>
          <a:xfrm>
            <a:off x="9829800" y="566928"/>
            <a:ext cx="1810512" cy="457200"/>
          </a:xfrm>
          <a:prstGeom prst="rect">
            <a:avLst/>
          </a:prstGeom>
          <a:noFill/>
          <a:ln/>
        </p:spPr>
        <p:txBody>
          <a:bodyPr wrap="square" lIns="0" tIns="0" rIns="0" bIns="0" rtlCol="0" anchor="ctr"/>
          <a:lstStyle/>
          <a:p>
            <a:pPr algn="ctr" indent="0" marL="0">
              <a:buNone/>
            </a:pPr>
            <a:r>
              <a:rPr lang="en-US" sz="1300" dirty="0">
                <a:solidFill>
                  <a:schemeClr val="accent4"/>
                </a:solidFill>
              </a:rPr>
              <a:t>Speaker  </a:t>
            </a:r>
            <a:pPr algn="ctr" indent="0" marL="0">
              <a:buNone/>
            </a:pPr>
            <a:r>
              <a:rPr lang="en-US" sz="1300" b="1" dirty="0">
                <a:solidFill>
                  <a:schemeClr val="tx2"/>
                </a:solidFill>
              </a:rPr>
              <a:t>Pranjal</a:t>
            </a:r>
            <a:endParaRPr lang="en-US" sz="1300" dirty="0"/>
          </a:p>
        </p:txBody>
      </p:sp>
      <p:sp>
        <p:nvSpPr>
          <p:cNvPr id="6" name="limitations card"/>
          <p:cNvSpPr/>
          <p:nvPr/>
        </p:nvSpPr>
        <p:spPr>
          <a:xfrm>
            <a:off x="548640" y="1508760"/>
            <a:ext cx="4206240" cy="4526280"/>
          </a:xfrm>
          <a:prstGeom prst="roundRect">
            <a:avLst>
              <a:gd name="adj" fmla="val 2609"/>
            </a:avLst>
          </a:prstGeom>
          <a:solidFill>
            <a:schemeClr val="bg2"/>
          </a:solidFill>
          <a:ln w="12700">
            <a:solidFill>
              <a:schemeClr val="bg2"/>
            </a:solidFill>
            <a:prstDash val="solid"/>
          </a:ln>
        </p:spPr>
      </p:sp>
      <p:sp>
        <p:nvSpPr>
          <p:cNvPr id="7" name="Text 4"/>
          <p:cNvSpPr txBox="1"/>
          <p:nvPr/>
        </p:nvSpPr>
        <p:spPr>
          <a:xfrm>
            <a:off x="822960" y="1737360"/>
            <a:ext cx="3657600" cy="411480"/>
          </a:xfrm>
          <a:prstGeom prst="rect">
            <a:avLst/>
          </a:prstGeom>
          <a:noFill/>
          <a:ln/>
        </p:spPr>
        <p:txBody>
          <a:bodyPr wrap="square" lIns="0" tIns="0" rIns="0" bIns="0" rtlCol="0" anchor="t"/>
          <a:lstStyle/>
          <a:p>
            <a:pPr indent="0" marL="0">
              <a:buNone/>
            </a:pPr>
            <a:r>
              <a:rPr lang="en-US" sz="2000" b="1" dirty="0">
                <a:solidFill>
                  <a:schemeClr val="tx2"/>
                </a:solidFill>
              </a:rPr>
              <a:t>Limitations</a:t>
            </a:r>
            <a:endParaRPr lang="en-US" sz="2000" dirty="0"/>
          </a:p>
        </p:txBody>
      </p:sp>
      <p:sp>
        <p:nvSpPr>
          <p:cNvPr id="8" name="Text 5"/>
          <p:cNvSpPr txBox="1"/>
          <p:nvPr/>
        </p:nvSpPr>
        <p:spPr>
          <a:xfrm>
            <a:off x="822960" y="2331720"/>
            <a:ext cx="3703320" cy="356616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Message and transaction data are synthetic</a:t>
            </a:r>
            <a:endParaRPr lang="en-US" sz="1700" dirty="0"/>
          </a:p>
          <a:p>
            <a:pPr marL="342900" indent="-342900">
              <a:spcAft>
                <a:spcPts val="1600"/>
              </a:spcAft>
              <a:buSzPct val="100000"/>
              <a:buChar char="•"/>
            </a:pPr>
            <a:r>
              <a:rPr lang="en-US" sz="1700" dirty="0">
                <a:solidFill>
                  <a:schemeClr val="tx1"/>
                </a:solidFill>
              </a:rPr>
              <a:t>Case timeline is reconstructed, not reported</a:t>
            </a:r>
            <a:endParaRPr lang="en-US" sz="1700" dirty="0"/>
          </a:p>
          <a:p>
            <a:pPr marL="342900" indent="-342900">
              <a:spcAft>
                <a:spcPts val="1600"/>
              </a:spcAft>
              <a:buSzPct val="100000"/>
              <a:buChar char="•"/>
            </a:pPr>
            <a:r>
              <a:rPr lang="en-US" sz="1700" dirty="0">
                <a:solidFill>
                  <a:schemeClr val="tx1"/>
                </a:solidFill>
              </a:rPr>
              <a:t>Module A reads text, not voice calls</a:t>
            </a:r>
            <a:endParaRPr lang="en-US" sz="1700" dirty="0"/>
          </a:p>
          <a:p>
            <a:pPr marL="342900" indent="-342900">
              <a:spcAft>
                <a:spcPts val="1600"/>
              </a:spcAft>
              <a:buSzPct val="100000"/>
              <a:buChar char="•"/>
            </a:pPr>
            <a:r>
              <a:rPr lang="en-US" sz="1700" dirty="0">
                <a:solidFill>
                  <a:schemeClr val="tx1"/>
                </a:solidFill>
              </a:rPr>
              <a:t>Rule weights need tuning on real bank data</a:t>
            </a:r>
            <a:endParaRPr lang="en-US" sz="1700" dirty="0"/>
          </a:p>
        </p:txBody>
      </p:sp>
      <p:sp>
        <p:nvSpPr>
          <p:cNvPr id="9" name="conclusion card"/>
          <p:cNvSpPr/>
          <p:nvPr/>
        </p:nvSpPr>
        <p:spPr>
          <a:xfrm>
            <a:off x="5029200" y="1508760"/>
            <a:ext cx="6611112" cy="2606040"/>
          </a:xfrm>
          <a:prstGeom prst="roundRect">
            <a:avLst>
              <a:gd name="adj" fmla="val 4211"/>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10" name="quote icon circle"/>
          <p:cNvSpPr/>
          <p:nvPr/>
        </p:nvSpPr>
        <p:spPr>
          <a:xfrm>
            <a:off x="5349240" y="1783080"/>
            <a:ext cx="640080" cy="640080"/>
          </a:xfrm>
          <a:prstGeom prst="ellipse">
            <a:avLst/>
          </a:prstGeom>
          <a:solidFill>
            <a:schemeClr val="accent1"/>
          </a:solidFill>
          <a:ln w="12700">
            <a:solidFill>
              <a:schemeClr val="accent1"/>
            </a:solidFill>
            <a:prstDash val="solid"/>
          </a:ln>
        </p:spPr>
      </p:sp>
      <p:pic>
        <p:nvPicPr>
          <p:cNvPr id="11" name="quote icon" descr="quote icon">    </p:cNvPr>
          <p:cNvPicPr>
            <a:picLocks noChangeAspect="1"/>
          </p:cNvPicPr>
          <p:nvPr/>
        </p:nvPicPr>
        <p:blipFill>
          <a:blip r:embed="rId1"/>
          <a:stretch>
            <a:fillRect/>
          </a:stretch>
        </p:blipFill>
        <p:spPr>
          <a:xfrm>
            <a:off x="5509260" y="1943100"/>
            <a:ext cx="320040" cy="320040"/>
          </a:xfrm>
          <a:prstGeom prst="rect">
            <a:avLst/>
          </a:prstGeom>
        </p:spPr>
      </p:pic>
      <p:sp>
        <p:nvSpPr>
          <p:cNvPr id="12" name="Text 8"/>
          <p:cNvSpPr txBox="1"/>
          <p:nvPr/>
        </p:nvSpPr>
        <p:spPr>
          <a:xfrm>
            <a:off x="6172200" y="1783080"/>
            <a:ext cx="5212080" cy="2148840"/>
          </a:xfrm>
          <a:prstGeom prst="rect">
            <a:avLst/>
          </a:prstGeom>
          <a:noFill/>
          <a:ln/>
        </p:spPr>
        <p:txBody>
          <a:bodyPr wrap="square" lIns="0" tIns="0" rIns="0" bIns="0" rtlCol="0" anchor="t"/>
          <a:lstStyle/>
          <a:p>
            <a:pPr indent="0" marL="0">
              <a:buNone/>
            </a:pPr>
            <a:r>
              <a:rPr lang="en-US" sz="2300" i="1" dirty="0">
                <a:solidFill>
                  <a:schemeClr val="bg1"/>
                </a:solidFill>
                <a:latin typeface="Cambria" pitchFamily="34" charset="0"/>
                <a:ea typeface="Cambria" pitchFamily="34" charset="-122"/>
                <a:cs typeface="Cambria" pitchFamily="34" charset="-120"/>
              </a:rPr>
              <a:t>A person controlled by a fake officer cannot be expected to spot the scam alone. The system around her has to create a pause and bring in someone she trusts.</a:t>
            </a:r>
            <a:endParaRPr lang="en-US" sz="2300" dirty="0"/>
          </a:p>
        </p:txBody>
      </p:sp>
      <p:sp>
        <p:nvSpPr>
          <p:cNvPr id="13" name="recommendation card"/>
          <p:cNvSpPr/>
          <p:nvPr/>
        </p:nvSpPr>
        <p:spPr>
          <a:xfrm>
            <a:off x="5029200" y="4343400"/>
            <a:ext cx="6611112" cy="1691640"/>
          </a:xfrm>
          <a:prstGeom prst="roundRect">
            <a:avLst>
              <a:gd name="adj" fmla="val 6486"/>
            </a:avLst>
          </a:prstGeom>
          <a:solidFill>
            <a:srgbClr val="FDF3DD"/>
          </a:solidFill>
          <a:ln w="12700">
            <a:solidFill>
              <a:srgbClr val="FDF3DD"/>
            </a:solidFill>
            <a:prstDash val="solid"/>
          </a:ln>
        </p:spPr>
      </p:sp>
      <p:sp>
        <p:nvSpPr>
          <p:cNvPr id="14" name="recommendation icon circle"/>
          <p:cNvSpPr/>
          <p:nvPr/>
        </p:nvSpPr>
        <p:spPr>
          <a:xfrm>
            <a:off x="5303520" y="4572000"/>
            <a:ext cx="640080" cy="640080"/>
          </a:xfrm>
          <a:prstGeom prst="ellipse">
            <a:avLst/>
          </a:prstGeom>
          <a:solidFill>
            <a:schemeClr val="tx2"/>
          </a:solidFill>
          <a:ln w="12700">
            <a:solidFill>
              <a:schemeClr val="tx2"/>
            </a:solidFill>
            <a:prstDash val="solid"/>
          </a:ln>
        </p:spPr>
      </p:sp>
      <p:pic>
        <p:nvPicPr>
          <p:cNvPr id="15" name="recommendation icon" descr="recommendation icon">    </p:cNvPr>
          <p:cNvPicPr>
            <a:picLocks noChangeAspect="1"/>
          </p:cNvPicPr>
          <p:nvPr/>
        </p:nvPicPr>
        <p:blipFill>
          <a:blip r:embed="rId2"/>
          <a:stretch>
            <a:fillRect/>
          </a:stretch>
        </p:blipFill>
        <p:spPr>
          <a:xfrm>
            <a:off x="5463540" y="4732020"/>
            <a:ext cx="320040" cy="320040"/>
          </a:xfrm>
          <a:prstGeom prst="rect">
            <a:avLst/>
          </a:prstGeom>
        </p:spPr>
      </p:pic>
      <p:sp>
        <p:nvSpPr>
          <p:cNvPr id="16" name="Text 11"/>
          <p:cNvSpPr txBox="1"/>
          <p:nvPr/>
        </p:nvSpPr>
        <p:spPr>
          <a:xfrm>
            <a:off x="6126480" y="4526280"/>
            <a:ext cx="5303520" cy="1371600"/>
          </a:xfrm>
          <a:prstGeom prst="rect">
            <a:avLst/>
          </a:prstGeom>
          <a:noFill/>
          <a:ln/>
        </p:spPr>
        <p:txBody>
          <a:bodyPr wrap="square" lIns="0" tIns="0" rIns="0" bIns="0" rtlCol="0" anchor="t"/>
          <a:lstStyle/>
          <a:p>
            <a:pPr indent="0" marL="0">
              <a:buNone/>
            </a:pPr>
            <a:r>
              <a:rPr lang="en-US" sz="1600" b="1" dirty="0">
                <a:solidFill>
                  <a:schemeClr val="tx2"/>
                </a:solidFill>
              </a:rPr>
              <a:t>Recommendation  </a:t>
            </a:r>
            <a:endParaRPr lang="en-US" sz="1600" dirty="0"/>
          </a:p>
          <a:p>
            <a:pPr indent="0" marL="0">
              <a:buNone/>
            </a:pPr>
            <a:r>
              <a:rPr lang="en-US" sz="1600" dirty="0">
                <a:solidFill>
                  <a:schemeClr val="tx1"/>
                </a:solidFill>
              </a:rPr>
              <a:t>Banks should offer senior citizens a 24-hour cooling-off hold with a trusted-contact callback on high-risk transfers.</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914400"/>
            <a:ext cx="10881360" cy="914400"/>
          </a:xfrm>
          <a:prstGeom prst="rect">
            <a:avLst/>
          </a:prstGeom>
          <a:noFill/>
          <a:ln/>
        </p:spPr>
        <p:txBody>
          <a:bodyPr wrap="square" lIns="0" tIns="0" rIns="0" bIns="0" rtlCol="0" anchor="t"/>
          <a:lstStyle/>
          <a:p>
            <a:pPr algn="ctr" indent="0" marL="0">
              <a:buNone/>
            </a:pPr>
            <a:r>
              <a:rPr lang="en-US" sz="4000" b="1" dirty="0">
                <a:solidFill>
                  <a:schemeClr val="bg1"/>
                </a:solidFill>
                <a:latin typeface="Cambria" pitchFamily="34" charset="0"/>
                <a:ea typeface="Cambria" pitchFamily="34" charset="-122"/>
                <a:cs typeface="Cambria" pitchFamily="34" charset="-120"/>
              </a:rPr>
              <a:t>There is no such thing as 'digital arrest'</a:t>
            </a:r>
            <a:endParaRPr lang="en-US" sz="4000" dirty="0"/>
          </a:p>
        </p:txBody>
      </p:sp>
      <p:sp>
        <p:nvSpPr>
          <p:cNvPr id="3" name="action icon 1 circle"/>
          <p:cNvSpPr/>
          <p:nvPr/>
        </p:nvSpPr>
        <p:spPr>
          <a:xfrm>
            <a:off x="2560320" y="2331720"/>
            <a:ext cx="1005840" cy="1005840"/>
          </a:xfrm>
          <a:prstGeom prst="ellipse">
            <a:avLst/>
          </a:prstGeom>
          <a:solidFill>
            <a:schemeClr val="accent1"/>
          </a:solidFill>
          <a:ln w="12700">
            <a:solidFill>
              <a:schemeClr val="accent1"/>
            </a:solidFill>
            <a:prstDash val="solid"/>
          </a:ln>
        </p:spPr>
      </p:sp>
      <p:pic>
        <p:nvPicPr>
          <p:cNvPr id="4" name="action icon 1" descr="action icon 1">    </p:cNvPr>
          <p:cNvPicPr>
            <a:picLocks noChangeAspect="1"/>
          </p:cNvPicPr>
          <p:nvPr/>
        </p:nvPicPr>
        <p:blipFill>
          <a:blip r:embed="rId1"/>
          <a:stretch>
            <a:fillRect/>
          </a:stretch>
        </p:blipFill>
        <p:spPr>
          <a:xfrm>
            <a:off x="2811780" y="2583180"/>
            <a:ext cx="502920" cy="502920"/>
          </a:xfrm>
          <a:prstGeom prst="rect">
            <a:avLst/>
          </a:prstGeom>
        </p:spPr>
      </p:pic>
      <p:sp>
        <p:nvSpPr>
          <p:cNvPr id="5" name="Text 2"/>
          <p:cNvSpPr txBox="1"/>
          <p:nvPr/>
        </p:nvSpPr>
        <p:spPr>
          <a:xfrm>
            <a:off x="1645920" y="3474720"/>
            <a:ext cx="2834640" cy="457200"/>
          </a:xfrm>
          <a:prstGeom prst="rect">
            <a:avLst/>
          </a:prstGeom>
          <a:noFill/>
          <a:ln/>
        </p:spPr>
        <p:txBody>
          <a:bodyPr wrap="square" lIns="0" tIns="0" rIns="0" bIns="0" rtlCol="0" anchor="t"/>
          <a:lstStyle/>
          <a:p>
            <a:pPr algn="ctr" indent="0" marL="0">
              <a:buNone/>
            </a:pPr>
            <a:r>
              <a:rPr lang="en-US" sz="2200" b="1" dirty="0">
                <a:solidFill>
                  <a:schemeClr val="bg1"/>
                </a:solidFill>
              </a:rPr>
              <a:t>Hang up</a:t>
            </a:r>
            <a:endParaRPr lang="en-US" sz="2200" dirty="0"/>
          </a:p>
        </p:txBody>
      </p:sp>
      <p:sp>
        <p:nvSpPr>
          <p:cNvPr id="6" name="action icon 2 circle"/>
          <p:cNvSpPr/>
          <p:nvPr/>
        </p:nvSpPr>
        <p:spPr>
          <a:xfrm>
            <a:off x="5532120" y="2331720"/>
            <a:ext cx="1005840" cy="1005840"/>
          </a:xfrm>
          <a:prstGeom prst="ellipse">
            <a:avLst/>
          </a:prstGeom>
          <a:solidFill>
            <a:schemeClr val="accent1"/>
          </a:solidFill>
          <a:ln w="12700">
            <a:solidFill>
              <a:schemeClr val="accent1"/>
            </a:solidFill>
            <a:prstDash val="solid"/>
          </a:ln>
        </p:spPr>
      </p:sp>
      <p:pic>
        <p:nvPicPr>
          <p:cNvPr id="7" name="action icon 2" descr="action icon 2">    </p:cNvPr>
          <p:cNvPicPr>
            <a:picLocks noChangeAspect="1"/>
          </p:cNvPicPr>
          <p:nvPr/>
        </p:nvPicPr>
        <p:blipFill>
          <a:blip r:embed="rId2"/>
          <a:stretch>
            <a:fillRect/>
          </a:stretch>
        </p:blipFill>
        <p:spPr>
          <a:xfrm>
            <a:off x="5783580" y="2583180"/>
            <a:ext cx="502920" cy="502920"/>
          </a:xfrm>
          <a:prstGeom prst="rect">
            <a:avLst/>
          </a:prstGeom>
        </p:spPr>
      </p:pic>
      <p:sp>
        <p:nvSpPr>
          <p:cNvPr id="8" name="Text 4"/>
          <p:cNvSpPr txBox="1"/>
          <p:nvPr/>
        </p:nvSpPr>
        <p:spPr>
          <a:xfrm>
            <a:off x="4617720" y="3474720"/>
            <a:ext cx="2834640" cy="457200"/>
          </a:xfrm>
          <a:prstGeom prst="rect">
            <a:avLst/>
          </a:prstGeom>
          <a:noFill/>
          <a:ln/>
        </p:spPr>
        <p:txBody>
          <a:bodyPr wrap="square" lIns="0" tIns="0" rIns="0" bIns="0" rtlCol="0" anchor="t"/>
          <a:lstStyle/>
          <a:p>
            <a:pPr algn="ctr" indent="0" marL="0">
              <a:buNone/>
            </a:pPr>
            <a:r>
              <a:rPr lang="en-US" sz="2200" b="1" dirty="0">
                <a:solidFill>
                  <a:schemeClr val="bg1"/>
                </a:solidFill>
              </a:rPr>
              <a:t>Call your family</a:t>
            </a:r>
            <a:endParaRPr lang="en-US" sz="2200" dirty="0"/>
          </a:p>
        </p:txBody>
      </p:sp>
      <p:sp>
        <p:nvSpPr>
          <p:cNvPr id="9" name="action icon 3 circle"/>
          <p:cNvSpPr/>
          <p:nvPr/>
        </p:nvSpPr>
        <p:spPr>
          <a:xfrm>
            <a:off x="8503920" y="2331720"/>
            <a:ext cx="1005840" cy="1005840"/>
          </a:xfrm>
          <a:prstGeom prst="ellipse">
            <a:avLst/>
          </a:prstGeom>
          <a:solidFill>
            <a:schemeClr val="accent1"/>
          </a:solidFill>
          <a:ln w="12700">
            <a:solidFill>
              <a:schemeClr val="accent1"/>
            </a:solidFill>
            <a:prstDash val="solid"/>
          </a:ln>
        </p:spPr>
      </p:sp>
      <p:pic>
        <p:nvPicPr>
          <p:cNvPr id="10" name="action icon 3" descr="action icon 3">    </p:cNvPr>
          <p:cNvPicPr>
            <a:picLocks noChangeAspect="1"/>
          </p:cNvPicPr>
          <p:nvPr/>
        </p:nvPicPr>
        <p:blipFill>
          <a:blip r:embed="rId3"/>
          <a:stretch>
            <a:fillRect/>
          </a:stretch>
        </p:blipFill>
        <p:spPr>
          <a:xfrm>
            <a:off x="8755380" y="2583180"/>
            <a:ext cx="502920" cy="502920"/>
          </a:xfrm>
          <a:prstGeom prst="rect">
            <a:avLst/>
          </a:prstGeom>
        </p:spPr>
      </p:pic>
      <p:sp>
        <p:nvSpPr>
          <p:cNvPr id="11" name="Text 6"/>
          <p:cNvSpPr txBox="1"/>
          <p:nvPr/>
        </p:nvSpPr>
        <p:spPr>
          <a:xfrm>
            <a:off x="7589520" y="3474720"/>
            <a:ext cx="2834640" cy="457200"/>
          </a:xfrm>
          <a:prstGeom prst="rect">
            <a:avLst/>
          </a:prstGeom>
          <a:noFill/>
          <a:ln/>
        </p:spPr>
        <p:txBody>
          <a:bodyPr wrap="square" lIns="0" tIns="0" rIns="0" bIns="0" rtlCol="0" anchor="t"/>
          <a:lstStyle/>
          <a:p>
            <a:pPr algn="ctr" indent="0" marL="0">
              <a:buNone/>
            </a:pPr>
            <a:r>
              <a:rPr lang="en-US" sz="2200" b="1" dirty="0">
                <a:solidFill>
                  <a:schemeClr val="bg1"/>
                </a:solidFill>
              </a:rPr>
              <a:t>Report on 1930</a:t>
            </a:r>
            <a:endParaRPr lang="en-US" sz="2200" dirty="0"/>
          </a:p>
        </p:txBody>
      </p:sp>
      <p:sp>
        <p:nvSpPr>
          <p:cNvPr id="12" name="Text 7"/>
          <p:cNvSpPr txBox="1"/>
          <p:nvPr/>
        </p:nvSpPr>
        <p:spPr>
          <a:xfrm>
            <a:off x="640080" y="4114800"/>
            <a:ext cx="10881360" cy="411480"/>
          </a:xfrm>
          <a:prstGeom prst="rect">
            <a:avLst/>
          </a:prstGeom>
          <a:noFill/>
          <a:ln/>
        </p:spPr>
        <p:txBody>
          <a:bodyPr wrap="square" lIns="0" tIns="0" rIns="0" bIns="0" rtlCol="0" anchor="t"/>
          <a:lstStyle/>
          <a:p>
            <a:pPr algn="ctr" indent="0" marL="0">
              <a:buNone/>
            </a:pPr>
            <a:r>
              <a:rPr lang="en-US" sz="1800" dirty="0">
                <a:solidFill>
                  <a:srgbClr val="CADCFC"/>
                </a:solidFill>
              </a:rPr>
              <a:t>National Cyber Crime Helpline 1930  |  cybercrime.gov.in</a:t>
            </a:r>
            <a:endParaRPr lang="en-US" sz="1800" dirty="0"/>
          </a:p>
        </p:txBody>
      </p:sp>
      <p:sp>
        <p:nvSpPr>
          <p:cNvPr id="13" name="Text 8"/>
          <p:cNvSpPr txBox="1"/>
          <p:nvPr/>
        </p:nvSpPr>
        <p:spPr>
          <a:xfrm>
            <a:off x="640080" y="4892040"/>
            <a:ext cx="10881360" cy="73152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Thank you</a:t>
            </a:r>
            <a:endParaRPr lang="en-US" sz="3600" dirty="0"/>
          </a:p>
        </p:txBody>
      </p:sp>
      <p:sp>
        <p:nvSpPr>
          <p:cNvPr id="14" name="Text 9"/>
          <p:cNvSpPr txBox="1"/>
          <p:nvPr/>
        </p:nvSpPr>
        <p:spPr>
          <a:xfrm>
            <a:off x="640080" y="5669280"/>
            <a:ext cx="10881360" cy="365760"/>
          </a:xfrm>
          <a:prstGeom prst="rect">
            <a:avLst/>
          </a:prstGeom>
          <a:noFill/>
          <a:ln/>
        </p:spPr>
        <p:txBody>
          <a:bodyPr wrap="square" lIns="0" tIns="0" rIns="0" bIns="0" rtlCol="0" anchor="t"/>
          <a:lstStyle/>
          <a:p>
            <a:pPr algn="ctr" indent="0" marL="0">
              <a:buNone/>
            </a:pPr>
            <a:r>
              <a:rPr lang="en-US" sz="1500" dirty="0">
                <a:solidFill>
                  <a:srgbClr val="9AA7BC"/>
                </a:solidFill>
              </a:rPr>
              <a:t>Group 31: Aamir Ayaan Quraishi  |  Arav Upadhyay  |  Shivendra Dwivedi  |  Pranjal Panwar</a:t>
            </a:r>
            <a:endParaRPr lang="en-US" sz="1500" dirty="0"/>
          </a:p>
        </p:txBody>
      </p:sp>
    </p:spTree>
  </p:cSld>
  <p:clrMapOvr>
    <a:masterClrMapping/>
  </p:clrMapOvr>
</p:sld>
</file>

<file path=ppt/theme/theme1.xml><?xml version="1.0" encoding="utf-8"?>
<a:theme xmlns:a="http://schemas.openxmlformats.org/drawingml/2006/main" name="G31 Digital Arrest">
  <a:themeElements>
    <a:clrScheme name="G31 Digital Arrest">
      <a:dk1>
        <a:srgbClr val="1B1F2A"/>
      </a:dk1>
      <a:lt1>
        <a:srgbClr val="FFFFFF"/>
      </a:lt1>
      <a:dk2>
        <a:srgbClr val="14213D"/>
      </a:dk2>
      <a:lt2>
        <a:srgbClr val="EEF1F6"/>
      </a:lt2>
      <a:accent1>
        <a:srgbClr val="E8A317"/>
      </a:accent1>
      <a:accent2>
        <a:srgbClr val="C8102E"/>
      </a:accent2>
      <a:accent3>
        <a:srgbClr val="2A78D6"/>
      </a:accent3>
      <a:accent4>
        <a:srgbClr val="5A6478"/>
      </a:accent4>
      <a:accent5>
        <a:srgbClr val="1BAF7A"/>
      </a:accent5>
      <a:accent6>
        <a:srgbClr val="EB6834"/>
      </a:accent6>
      <a:hlink>
        <a:srgbClr val="2A78D6"/>
      </a:hlink>
      <a:folHlink>
        <a:srgbClr val="5A6478"/>
      </a:folHlink>
    </a:clrScheme>
    <a:fontScheme name="G31 Digital Ar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31 - Pune Digital Arrest Scam and DA-Shield</dc:title>
  <dc:subject>PptxGenJS Presentation</dc:subject>
  <dc:creator>Group 31</dc:creator>
  <cp:lastModifiedBy>Group 31</cp:lastModifiedBy>
  <cp:revision>1</cp:revision>
  <dcterms:created xsi:type="dcterms:W3CDTF">2026-10-15T07:10:36Z</dcterms:created>
  <dcterms:modified xsi:type="dcterms:W3CDTF">2026-10-15T07:10:36Z</dcterms:modified>
</cp:coreProperties>
</file>